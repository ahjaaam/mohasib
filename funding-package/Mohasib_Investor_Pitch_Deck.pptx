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185cca4d704c6f" /><Relationship Type="http://schemas.openxmlformats.org/officeDocument/2006/relationships/extended-properties" Target="/docProps/app.xml" Id="R9ca56fd291fa4eda" /><Relationship Type="http://schemas.openxmlformats.org/officeDocument/2006/relationships/officeDocument" Target="/ppt/presentation.xml" Id="R31b56e28601747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6212b7a0f41a2"/>
  </p:sldMasterIdLst>
  <p:notesMasterIdLst>
    <p:notesMasterId xmlns:r="http://schemas.openxmlformats.org/officeDocument/2006/relationships" r:id="Rcf6b66a0fbb54f88"/>
  </p:notesMasterIdLst>
  <p:sldIdLst>
    <p:sldId xmlns:r="http://schemas.openxmlformats.org/officeDocument/2006/relationships" id="256" r:id="Rab52654d790944ce"/>
    <p:sldId xmlns:r="http://schemas.openxmlformats.org/officeDocument/2006/relationships" id="257" r:id="Rdfcf765f1c5f46b4"/>
    <p:sldId xmlns:r="http://schemas.openxmlformats.org/officeDocument/2006/relationships" id="258" r:id="R114026172477446c"/>
    <p:sldId xmlns:r="http://schemas.openxmlformats.org/officeDocument/2006/relationships" id="259" r:id="R47b316b80d6f45e3"/>
    <p:sldId xmlns:r="http://schemas.openxmlformats.org/officeDocument/2006/relationships" id="260" r:id="R562ca5bf95d14d68"/>
    <p:sldId xmlns:r="http://schemas.openxmlformats.org/officeDocument/2006/relationships" id="261" r:id="R7ddef94c297241ac"/>
    <p:sldId xmlns:r="http://schemas.openxmlformats.org/officeDocument/2006/relationships" id="262" r:id="R552a031737af4f89"/>
    <p:sldId xmlns:r="http://schemas.openxmlformats.org/officeDocument/2006/relationships" id="263" r:id="R0a09885a145c40e7"/>
    <p:sldId xmlns:r="http://schemas.openxmlformats.org/officeDocument/2006/relationships" id="264" r:id="R8c35634a9a4c471b"/>
    <p:sldId xmlns:r="http://schemas.openxmlformats.org/officeDocument/2006/relationships" id="265" r:id="R691e26ec6d09479e"/>
    <p:sldId xmlns:r="http://schemas.openxmlformats.org/officeDocument/2006/relationships" id="266" r:id="R58ab63bb51964d95"/>
    <p:sldId xmlns:r="http://schemas.openxmlformats.org/officeDocument/2006/relationships" id="267" r:id="R0f59e20202dd4d7b"/>
    <p:sldId xmlns:r="http://schemas.openxmlformats.org/officeDocument/2006/relationships" id="268" r:id="R388efc75be5c4856"/>
    <p:sldId xmlns:r="http://schemas.openxmlformats.org/officeDocument/2006/relationships" id="269" r:id="R870832fbc82d4948"/>
    <p:sldId xmlns:r="http://schemas.openxmlformats.org/officeDocument/2006/relationships" id="270" r:id="Rf3aa5239d53e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d33d40a8474b63" /><Relationship Type="http://schemas.openxmlformats.org/officeDocument/2006/relationships/slideMaster" Target="/ppt/slideMasters/slideMaster1.xml" Id="Rea26212b7a0f41a2" /><Relationship Type="http://schemas.openxmlformats.org/officeDocument/2006/relationships/notesMaster" Target="/ppt/notesMasters/notesMaster1.xml" Id="Rcf6b66a0fbb54f88" /><Relationship Type="http://schemas.openxmlformats.org/officeDocument/2006/relationships/presProps" Target="/ppt/presProps.xml" Id="R7e20db269b69400a" /><Relationship Type="http://schemas.openxmlformats.org/officeDocument/2006/relationships/tableStyles" Target="/ppt/tableStyles.xml" Id="Ra5295a618e294405" /><Relationship Type="http://schemas.openxmlformats.org/officeDocument/2006/relationships/slide" Target="/ppt/slides/slide1.xml" Id="Rab52654d790944ce" /><Relationship Type="http://schemas.openxmlformats.org/officeDocument/2006/relationships/slide" Target="/ppt/slides/slide2.xml" Id="Rdfcf765f1c5f46b4" /><Relationship Type="http://schemas.openxmlformats.org/officeDocument/2006/relationships/slide" Target="/ppt/slides/slide3.xml" Id="R114026172477446c" /><Relationship Type="http://schemas.openxmlformats.org/officeDocument/2006/relationships/slide" Target="/ppt/slides/slide4.xml" Id="R47b316b80d6f45e3" /><Relationship Type="http://schemas.openxmlformats.org/officeDocument/2006/relationships/slide" Target="/ppt/slides/slide5.xml" Id="R562ca5bf95d14d68" /><Relationship Type="http://schemas.openxmlformats.org/officeDocument/2006/relationships/slide" Target="/ppt/slides/slide6.xml" Id="R7ddef94c297241ac" /><Relationship Type="http://schemas.openxmlformats.org/officeDocument/2006/relationships/slide" Target="/ppt/slides/slide7.xml" Id="R552a031737af4f89" /><Relationship Type="http://schemas.openxmlformats.org/officeDocument/2006/relationships/slide" Target="/ppt/slides/slide8.xml" Id="R0a09885a145c40e7" /><Relationship Type="http://schemas.openxmlformats.org/officeDocument/2006/relationships/slide" Target="/ppt/slides/slide9.xml" Id="R8c35634a9a4c471b" /><Relationship Type="http://schemas.openxmlformats.org/officeDocument/2006/relationships/slide" Target="/ppt/slides/slide10.xml" Id="R691e26ec6d09479e" /><Relationship Type="http://schemas.openxmlformats.org/officeDocument/2006/relationships/slide" Target="/ppt/slides/slide11.xml" Id="R58ab63bb51964d95" /><Relationship Type="http://schemas.openxmlformats.org/officeDocument/2006/relationships/slide" Target="/ppt/slides/slide12.xml" Id="R0f59e20202dd4d7b" /><Relationship Type="http://schemas.openxmlformats.org/officeDocument/2006/relationships/slide" Target="/ppt/slides/slide13.xml" Id="R388efc75be5c4856" /><Relationship Type="http://schemas.openxmlformats.org/officeDocument/2006/relationships/slide" Target="/ppt/slides/slide14.xml" Id="R870832fbc82d4948" /><Relationship Type="http://schemas.openxmlformats.org/officeDocument/2006/relationships/slide" Target="/ppt/slides/slide15.xml" Id="Rf3aa5239d53e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f54409568844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11643cb324fcc" /><Relationship Type="http://schemas.openxmlformats.org/officeDocument/2006/relationships/notesMaster" Target="/ppt/notesMasters/notesMaster1.xml" Id="R04d3ca86d47d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84d77f21204c0e" /><Relationship Type="http://schemas.openxmlformats.org/officeDocument/2006/relationships/notesMaster" Target="/ppt/notesMasters/notesMaster1.xml" Id="Rba1bd8ed419749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eaa563bed4a98" /><Relationship Type="http://schemas.openxmlformats.org/officeDocument/2006/relationships/notesMaster" Target="/ppt/notesMasters/notesMaster1.xml" Id="Rb0666eccf7f048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8938633bb4a73" /><Relationship Type="http://schemas.openxmlformats.org/officeDocument/2006/relationships/notesMaster" Target="/ppt/notesMasters/notesMaster1.xml" Id="R4cf8328825f8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bd4c48a30a4d66" /><Relationship Type="http://schemas.openxmlformats.org/officeDocument/2006/relationships/notesMaster" Target="/ppt/notesMasters/notesMaster1.xml" Id="Rcc747d87f316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c20529eca64674" /><Relationship Type="http://schemas.openxmlformats.org/officeDocument/2006/relationships/notesMaster" Target="/ppt/notesMasters/notesMaster1.xml" Id="R146d5214836d4f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803fd2bd7a406d" /><Relationship Type="http://schemas.openxmlformats.org/officeDocument/2006/relationships/notesMaster" Target="/ppt/notesMasters/notesMaster1.xml" Id="Rc3e690b272ed40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fbde570ee34c12" /><Relationship Type="http://schemas.openxmlformats.org/officeDocument/2006/relationships/notesMaster" Target="/ppt/notesMasters/notesMaster1.xml" Id="R630165eb6222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7f4f81e8634fa3" /><Relationship Type="http://schemas.openxmlformats.org/officeDocument/2006/relationships/notesMaster" Target="/ppt/notesMasters/notesMaster1.xml" Id="R55fbe2240fdd42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f9e40008a441d2" /><Relationship Type="http://schemas.openxmlformats.org/officeDocument/2006/relationships/notesMaster" Target="/ppt/notesMasters/notesMaster1.xml" Id="Re1abe84b3a8e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644f17cba94300" /><Relationship Type="http://schemas.openxmlformats.org/officeDocument/2006/relationships/notesMaster" Target="/ppt/notesMasters/notesMaster1.xml" Id="Re75a80d6f6a34d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4c9d29f95a4982" /><Relationship Type="http://schemas.openxmlformats.org/officeDocument/2006/relationships/notesMaster" Target="/ppt/notesMasters/notesMaster1.xml" Id="R7720b14a05ce40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94604a4dd645fe" /><Relationship Type="http://schemas.openxmlformats.org/officeDocument/2006/relationships/notesMaster" Target="/ppt/notesMasters/notesMaster1.xml" Id="R4f5aec280a6641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544bf227e74dcb" /><Relationship Type="http://schemas.openxmlformats.org/officeDocument/2006/relationships/notesMaster" Target="/ppt/notesMasters/notesMaster1.xml" Id="Rd4c5b3cc56b049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54ff1a5ef4455d" /><Relationship Type="http://schemas.openxmlformats.org/officeDocument/2006/relationships/notesMaster" Target="/ppt/notesMasters/notesMaster1.xml" Id="R0a917deba72446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 claim. Mohasib is infrastructure for the business–accountant relationship, not a single-feature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https://feature-widgets.midday.ai/pitch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 coordination failure across existing tools and 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https://feature-widgets.midday.ai/pitch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is convergence: demand growth + digitized rails + capable automation.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https://omtpme.ma/wp-content/uploads/2026/01/OMTPME_RA-Edition-2025.pdf</a:t>
            </a:r>
          </a:p>
          <a:p xmlns:a="http://schemas.openxmlformats.org/drawingml/2006/main">
            <a:r>
              <a:t>https://www.ompic.ma/fr/actualites/creation-de-95235-entreprises-en-2024-0</a:t>
            </a:r>
          </a:p>
          <a:p xmlns:a="http://schemas.openxmlformats.org/drawingml/2006/main">
            <a:r>
              <a:t>https://www.ompic.ma/fr/actualites/office-marocain-de-la-propriete-industrielle-et-commerciale-les-creations-dentreprises</a:t>
            </a:r>
          </a:p>
          <a:p xmlns:a="http://schemas.openxmlformats.org/drawingml/2006/main">
            <a:r>
              <a:t>https://www.ompic.ma/fr/actualites/ompic-generalisation-de-la-plateforme-de-creation-dentreprises-par-voie-electronique-sur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data flow from raw documents to compliant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as proof of breadth, then return to the core job: shorten the distance between activity and reliable books.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B2B2B logic concrete: the same data product has distinct value propositions.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wedge is permanent free invoicing, not a time-limited teaser. Monetization follows operational complexity and collaboration.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 arithmetic: 380,000 × 299 × 12 = 1,363,440,000 MAD. It excludes cabinet expansion and geography.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https://omtpme.ma/wp-content/uploads/2026/01/OMTPME_RA-Edition-2025.pdf</a:t>
            </a:r>
          </a:p>
          <a:p xmlns:a="http://schemas.openxmlformats.org/drawingml/2006/main">
            <a:r>
              <a:t>https://www.ompic.ma/fr/actualites/creation-de-95235-entreprises-en-2024-0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shown are the live current flexible pricing model in the product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first repeatable motion: acquire via useful free tools, activate on a high-value workflow, then expand through the accountant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calling localization alone a moat. The defensibility comes from connected workflows, accumulated context and two-sided adoption.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execution proof, not a traction slide. Replace or precede it with verified customer/revenue data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10 design-partner target is a forward milestone, not existing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partnership ask. Insert the exact round amount and use-of-funds allocation once 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category map, not an audited competitor feature matrix. Use named competitors only after current product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c6371d42e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f16f10ce814927" /><Relationship Type="http://schemas.openxmlformats.org/officeDocument/2006/relationships/slideLayout" Target="/ppt/slideLayouts/slideLayout1.xml" Id="R7c04b44c87c3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4b44c87c3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1ecd324b74290" /><Relationship Type="http://schemas.openxmlformats.org/officeDocument/2006/relationships/image" Target="/ppt/media/image.png" Id="Rff94bbcf4a894848" /><Relationship Type="http://schemas.openxmlformats.org/officeDocument/2006/relationships/image" Target="/ppt/media/image2.png" Id="R5f52324831514f26" /><Relationship Type="http://schemas.openxmlformats.org/officeDocument/2006/relationships/image" Target="/ppt/media/image3.png" Id="Rf9972723169e4b43" /><Relationship Type="http://schemas.openxmlformats.org/officeDocument/2006/relationships/notesSlide" Target="/ppt/notesSlides/notesSlide1.xml" Id="Rc17681957e1e47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9b146d264458e" /><Relationship Type="http://schemas.openxmlformats.org/officeDocument/2006/relationships/notesSlide" Target="/ppt/notesSlides/notesSlide2.xml" Id="R2c80701358d0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20d175d54b83" /><Relationship Type="http://schemas.openxmlformats.org/officeDocument/2006/relationships/notesSlide" Target="/ppt/notesSlides/notesSlide3.xml" Id="R2868cd70208c49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8a37ddcfb4c5f" /><Relationship Type="http://schemas.openxmlformats.org/officeDocument/2006/relationships/notesSlide" Target="/ppt/notesSlides/notesSlide4.xml" Id="Rd974f176fb53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11fa7a0d34e03" /><Relationship Type="http://schemas.openxmlformats.org/officeDocument/2006/relationships/image" Target="/ppt/media/image4.png" Id="R5f5ce5f4d62f4066" /><Relationship Type="http://schemas.openxmlformats.org/officeDocument/2006/relationships/image" Target="/ppt/media/image5.png" Id="R8ea4d8d0c5c64c71" /><Relationship Type="http://schemas.openxmlformats.org/officeDocument/2006/relationships/image" Target="/ppt/media/image6.png" Id="R7481d8b8f7e04f86" /><Relationship Type="http://schemas.openxmlformats.org/officeDocument/2006/relationships/image" Target="/ppt/media/image7.png" Id="R415d0c4a9a654538" /><Relationship Type="http://schemas.openxmlformats.org/officeDocument/2006/relationships/image" Target="/ppt/media/image8.png" Id="R635558b1a9104791" /><Relationship Type="http://schemas.openxmlformats.org/officeDocument/2006/relationships/notesSlide" Target="/ppt/notesSlides/notesSlide5.xml" Id="Rc98a5c8398854d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d974dd10d4bab" /><Relationship Type="http://schemas.openxmlformats.org/officeDocument/2006/relationships/notesSlide" Target="/ppt/notesSlides/notesSlide6.xml" Id="R36bbc82cb7214c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a811036b44c2a" /><Relationship Type="http://schemas.openxmlformats.org/officeDocument/2006/relationships/notesSlide" Target="/ppt/notesSlides/notesSlide7.xml" Id="R65b7691e429844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53ca569064634" /><Relationship Type="http://schemas.openxmlformats.org/officeDocument/2006/relationships/notesSlide" Target="/ppt/notesSlides/notesSlide8.xml" Id="Rdfccd1fc86a64d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5465af21b41ff" /><Relationship Type="http://schemas.openxmlformats.org/officeDocument/2006/relationships/notesSlide" Target="/ppt/notesSlides/notesSlide9.xml" Id="R23941b594f184a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d7145e8fa463b" /><Relationship Type="http://schemas.openxmlformats.org/officeDocument/2006/relationships/notesSlide" Target="/ppt/notesSlides/notesSlide10.xml" Id="Rd285b637b89b40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faf3501b4408" /><Relationship Type="http://schemas.openxmlformats.org/officeDocument/2006/relationships/notesSlide" Target="/ppt/notesSlides/notesSlide11.xml" Id="R6c52a6fb23964a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a1c5d9fb544c0" /><Relationship Type="http://schemas.openxmlformats.org/officeDocument/2006/relationships/image" Target="/ppt/media/image9.png" Id="R2ca49ab5295a45f8" /><Relationship Type="http://schemas.openxmlformats.org/officeDocument/2006/relationships/notesSlide" Target="/ppt/notesSlides/notesSlide12.xml" Id="R8e114f4bd9ad49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b64d89e4c4d81" /><Relationship Type="http://schemas.openxmlformats.org/officeDocument/2006/relationships/notesSlide" Target="/ppt/notesSlides/notesSlide13.xml" Id="Rded4826d69154b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0ed1d66cb4a69" /><Relationship Type="http://schemas.openxmlformats.org/officeDocument/2006/relationships/image" Target="/ppt/media/image10.png" Id="R296af28273db476b" /><Relationship Type="http://schemas.openxmlformats.org/officeDocument/2006/relationships/notesSlide" Target="/ppt/notesSlides/notesSlide14.xml" Id="Ra063c7fed7ca47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5c19151d4496" /><Relationship Type="http://schemas.openxmlformats.org/officeDocument/2006/relationships/notesSlide" Target="/ppt/notesSlides/notesSlide15.xml" Id="Rd3a3093d440047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4bbcf4a894848"/>
          <a:stretch xmlns:a="http://schemas.openxmlformats.org/drawingml/2006/main"/>
        </p:blipFill>
        <p:spPr>
          <a:xfrm xmlns:a="http://schemas.openxmlformats.org/drawingml/2006/main">
            <a:off x="8524875" y="1493044"/>
            <a:ext cx="2428875" cy="3643313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2324831514f26"/>
          <a:stretch xmlns:a="http://schemas.openxmlformats.org/drawingml/2006/main"/>
        </p:blipFill>
        <p:spPr>
          <a:xfrm xmlns:a="http://schemas.openxmlformats.org/drawingml/2006/main">
            <a:off x="38100" y="4660106"/>
            <a:ext cx="1000125" cy="1500188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72723169e4b43"/>
          <a:stretch xmlns:a="http://schemas.openxmlformats.org/drawingml/2006/main"/>
        </p:blipFill>
        <p:spPr>
          <a:xfrm xmlns:a="http://schemas.openxmlformats.org/drawingml/2006/main">
            <a:off x="616667" y="457200"/>
            <a:ext cx="2176616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8D205-9A23-414C-A3FF-25E06C52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72126"/>
                </a:solidFill>
              </a:defRPr>
            </a:pPr>
            <a:r>
              <a:rPr sz="3375" b="1" i="0">
                <a:solidFill>
                  <a:srgbClr val="172126"/>
                </a:solidFill>
              </a:rPr>
              <a:t>THE FINANCIAL OPERATING SYSTEM</a:t>
            </a:r>
          </a:p>
          <a:p xmlns:a="http://schemas.openxmlformats.org/drawingml/2006/main">
            <a:pPr algn="l">
              <a:defRPr sz="3375" b="1" i="0">
                <a:solidFill>
                  <a:srgbClr val="172126"/>
                </a:solidFill>
              </a:defRPr>
            </a:pPr>
            <a:r>
              <a:rPr sz="3375" b="1" i="0">
                <a:solidFill>
                  <a:srgbClr val="172126"/>
                </a:solidFill>
              </a:rPr>
              <a:t>FOR MOROCCAN BUSINESSES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68B1F-BABE-4AD6-8C81-B1EFBC2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633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C69"/>
                </a:solidFill>
              </a:defRPr>
            </a:pPr>
            <a:r>
              <a:rPr sz="1500" b="0" i="0">
                <a:solidFill>
                  <a:srgbClr val="686C69"/>
                </a:solidFill>
              </a:rPr>
              <a:t>One workflow for documents, invoicing, payments, accounting, tax and payroll — built around how Morocco actually works.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2937F-8A00-4B06-9F92-A6480B65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5811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DD6CF-225B-47D3-88BD-43AD94F7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390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</a:defRPr>
            </a:pPr>
            <a:r>
              <a:rPr sz="825" b="1" i="0">
                <a:solidFill>
                  <a:srgbClr val="FFFDF8"/>
                </a:solidFill>
              </a:rPr>
              <a:t>PRE-SEED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D23E-4742-4885-A7B2-E22D59A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6"/>
                </a:solidFill>
              </a:defRPr>
            </a:pPr>
            <a:r>
              <a:rPr sz="1050" b="1" i="0">
                <a:solidFill>
                  <a:srgbClr val="172126"/>
                </a:solidFill>
              </a:rPr>
              <a:t>mohasibai.com</a:t>
            </a:r>
          </a:p>
        </p:txBody>
      </p:sp>
    </p:spTree>
    <p:extLst>
      <p:ext uri="{BB962C8B-B14F-4D97-AF65-F5344CB8AC3E}">
        <p14:creationId xmlns:p14="http://schemas.microsoft.com/office/powerpoint/2010/main" val="17201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A0250-8ADA-4439-BAAA-84D5477D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14A56-24A4-4749-8B01-00FB1B50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B5554-1D9F-4595-8FAB-23280790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A9736-193B-4D24-8B2A-7784296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A BROKEN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6B8BF-3A4C-45D6-894A-074E268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Every month, the financial truth is rebuilt by hand.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1AF71-A6FD-43C0-A565-8616DFD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86C69"/>
                </a:solidFill>
              </a:defRPr>
            </a:pPr>
            <a:r>
              <a:rPr sz="1425" b="0" i="0">
                <a:solidFill>
                  <a:srgbClr val="686C69"/>
                </a:solidFill>
              </a:rPr>
              <a:t>The information exists. The workflow connecting it does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4ACB-DF0D-4131-8CEF-A10EBF75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-card">
            <a:extLst xmlns:a="http://schemas.openxmlformats.org/drawingml/2006/main">
              <a:ext uri="{FF2B5EF4-FFF2-40B4-BE49-F238E27FC236}">
                <a16:creationId xmlns:a16="http://schemas.microsoft.com/office/drawing/2014/main" id="{3C6BB752-9D69-40F9-99FC-61F3A70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A3A38-D16F-4151-B4DB-21E6F3E1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B2A3B-FFDD-4351-82EB-3D2A46FD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6"/>
                </a:solidFill>
              </a:defRPr>
            </a:pPr>
            <a:r>
              <a:rPr sz="2025" b="1" i="0">
                <a:solidFill>
                  <a:srgbClr val="172126"/>
                </a:solidFill>
              </a:rPr>
              <a:t>Inbox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E6D1B-2B73-4E88-96E6-AF4C720F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supplier invoices buried in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9E0AB-09A9-43B3-B560-69E179C2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per-card">
            <a:extLst xmlns:a="http://schemas.openxmlformats.org/drawingml/2006/main">
              <a:ext uri="{FF2B5EF4-FFF2-40B4-BE49-F238E27FC236}">
                <a16:creationId xmlns:a16="http://schemas.microsoft.com/office/drawing/2014/main" id="{F6BC7707-ABC8-42B6-ADC1-DBD443F6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70A13-64F9-4B21-AE81-03ACE7E4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B48F-A7F2-44B0-9230-5BEE7EE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957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6"/>
                </a:solidFill>
              </a:defRPr>
            </a:pPr>
            <a:r>
              <a:rPr sz="2025" b="1" i="0">
                <a:solidFill>
                  <a:srgbClr val="172126"/>
                </a:solidFill>
              </a:rPr>
              <a:t>WhatsApp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2FF6B-DC26-4C87-9A36-21DF708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291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receipts and reminders without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B8C76-D48D-4700-8134-7B5E7B35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per-card">
            <a:extLst xmlns:a="http://schemas.openxmlformats.org/drawingml/2006/main">
              <a:ext uri="{FF2B5EF4-FFF2-40B4-BE49-F238E27FC236}">
                <a16:creationId xmlns:a16="http://schemas.microsoft.com/office/drawing/2014/main" id="{B34D7C0C-F7E8-4CD0-8610-E158AC9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9A86F-4E8A-420B-AA6D-203832B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0C2D0-9A77-4C3C-99B0-D7E9F45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6"/>
                </a:solidFill>
              </a:defRPr>
            </a:pPr>
            <a:r>
              <a:rPr sz="2025" b="1" i="0">
                <a:solidFill>
                  <a:srgbClr val="172126"/>
                </a:solidFill>
              </a:rPr>
              <a:t>Spreadsheets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87297-0D90-40D2-BC65-679925F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cash, payroll and tax reconciled manually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D663C-CA4B-4891-87AC-1F51E52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per-card">
            <a:extLst xmlns:a="http://schemas.openxmlformats.org/drawingml/2006/main">
              <a:ext uri="{FF2B5EF4-FFF2-40B4-BE49-F238E27FC236}">
                <a16:creationId xmlns:a16="http://schemas.microsoft.com/office/drawing/2014/main" id="{BCBF08DA-D10A-4A84-816E-5DBBC240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36220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2AB79-0208-45F2-B5D6-97B0061D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D4F09-97F8-43E2-AA30-58D0274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957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2126"/>
                </a:solidFill>
              </a:defRPr>
            </a:pPr>
            <a:r>
              <a:rPr sz="2025" b="1" i="0">
                <a:solidFill>
                  <a:srgbClr val="172126"/>
                </a:solidFill>
              </a:rPr>
              <a:t>Accountant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6FF34-46C9-4D36-B6BD-279B3744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291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receives an incomplete package too 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0E413-9D63-4937-8D2E-7A79369E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34A3B"/>
                </a:solidFill>
              </a:defRPr>
            </a:pPr>
            <a:r>
              <a:rPr sz="1650" b="1" i="0">
                <a:solidFill>
                  <a:srgbClr val="A34A3B"/>
                </a:solidFill>
              </a:rPr>
              <a:t>Result: slow closes, poor visibility, avoidable errors — and no shared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19282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42934-94C7-48AC-B153-0CFA6BF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04A60-23C1-45F3-9690-6691D4D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9AE83-5D0A-4831-9E5A-CD16A225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45B6F-9CAD-492F-8C54-EA9AEBBE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A MARKET MOVING ONLINE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EE2B9-472D-47C3-9BB9-CF5E2A03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Morocco’s business base is growing into a digital compliance stack.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DA12E-2BD5-4215-AACB-B78918A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86C69"/>
                </a:solidFill>
              </a:defRPr>
            </a:pPr>
            <a:r>
              <a:rPr sz="1425" b="0" i="0">
                <a:solidFill>
                  <a:srgbClr val="686C69"/>
                </a:solidFill>
              </a:rPr>
              <a:t>Company formation, administration and financial workflows are moving online — while the software layer remains fragmented.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A207E-2CD6-4357-881C-FDAAAC0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477A86"/>
                </a:solidFill>
              </a:defRPr>
            </a:pPr>
            <a:r>
              <a:rPr sz="3600" b="1" i="0">
                <a:solidFill>
                  <a:srgbClr val="477A86"/>
                </a:solidFill>
              </a:rPr>
              <a:t>~380k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E8F7-408B-40E5-AA91-2286E87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6"/>
                </a:solidFill>
              </a:defRPr>
            </a:pPr>
            <a:r>
              <a:rPr sz="1200" b="1" i="0">
                <a:solidFill>
                  <a:srgbClr val="172126"/>
                </a:solidFill>
              </a:rPr>
              <a:t>corporate entities filed a tax declaration in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8086F-6AC4-436A-9CBD-B0838C22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C96F52"/>
                </a:solidFill>
              </a:defRPr>
            </a:pPr>
            <a:r>
              <a:rPr sz="3600" b="1" i="0">
                <a:solidFill>
                  <a:srgbClr val="C96F52"/>
                </a:solidFill>
              </a:rPr>
              <a:t>95,235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94EA0-3AAA-41EB-B849-1A8C9647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481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6"/>
                </a:solidFill>
              </a:defRPr>
            </a:pPr>
            <a:r>
              <a:rPr sz="1200" b="1" i="0">
                <a:solidFill>
                  <a:srgbClr val="172126"/>
                </a:solidFill>
              </a:rPr>
              <a:t>companies created in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F513A-441B-410D-BD31-C8A997C6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6F8E7D"/>
                </a:solidFill>
              </a:defRPr>
            </a:pPr>
            <a:r>
              <a:rPr sz="3600" b="1" i="0">
                <a:solidFill>
                  <a:srgbClr val="6F8E7D"/>
                </a:solidFill>
              </a:rPr>
              <a:t>+17.7%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77FDB-8F5D-4649-988F-CFA1C45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6"/>
                </a:solidFill>
              </a:defRPr>
            </a:pPr>
            <a:r>
              <a:rPr sz="1200" b="1" i="0">
                <a:solidFill>
                  <a:srgbClr val="172126"/>
                </a:solidFill>
              </a:rPr>
              <a:t>company creation growth in H1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57E76-5BD7-4CB5-BF98-86AA8E5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DABEA-3298-4CCF-9C92-24B5E73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The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05FEA-C8CC-43F6-9979-66263E24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126"/>
                </a:solidFill>
              </a:defRPr>
            </a:pPr>
            <a:r>
              <a:rPr sz="1650" b="1" i="0">
                <a:solidFill>
                  <a:srgbClr val="172126"/>
                </a:solidFill>
              </a:rPr>
              <a:t>AI can now read the paperwork. Government rails are digitizing. A new generation of businesses expects consumer-grade software.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606D4-DAFE-4750-A32A-418EEED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34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National electronic company creation is already live across Morocco.</a:t>
            </a:r>
          </a:p>
        </p:txBody>
      </p:sp>
    </p:spTree>
    <p:extLst>
      <p:ext uri="{BB962C8B-B14F-4D97-AF65-F5344CB8AC3E}">
        <p14:creationId xmlns:p14="http://schemas.microsoft.com/office/powerpoint/2010/main" val="922957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739D3-9B80-4EDA-BD25-D3A7881D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AEEBB-1D66-4492-B700-78838B4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D3459-C91A-44A6-A5FB-C425325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69B3C-AB7D-45CB-889B-F5ACFC9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ONE SHARED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B64E-8E20-4F98-8A1B-AA241917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Mohasib turns business activity into accountant-ready books.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8704-B305-4EFB-BC67-6E02A8FB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86C69"/>
                </a:solidFill>
              </a:defRPr>
            </a:pPr>
            <a:r>
              <a:rPr sz="1425" b="0" i="0">
                <a:solidFill>
                  <a:srgbClr val="686C69"/>
                </a:solidFill>
              </a:rPr>
              <a:t>Capture once. Automate the repetitive work. Keep the business and accountant on the same financial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FB7EF-C8D1-459A-BB82-EE1B34C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8D0C3"/>
                </a:solidFill>
              </a:defRPr>
            </a:pPr>
            <a:r>
              <a:rPr sz="2250" b="1" i="0">
                <a:solidFill>
                  <a:srgbClr val="D8D0C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F3E32-104B-41F4-B582-CC5B49F5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305050" cy="180975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85FE9-245A-4D3B-9C1D-E2D32128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A86"/>
                </a:solidFill>
              </a:defRPr>
            </a:pPr>
            <a:r>
              <a:rPr sz="900" b="1" i="0">
                <a:solidFill>
                  <a:srgbClr val="477A86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10DAA-8BA0-4CDE-8A00-41D7F99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98040-2732-473B-9D1B-3516ECB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Email · upload · 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F4AA7-B917-4FCD-A752-557E4B9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623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8D0C3"/>
                </a:solidFill>
              </a:defRPr>
            </a:pPr>
            <a:r>
              <a:rPr sz="2250" b="1" i="0">
                <a:solidFill>
                  <a:srgbClr val="D8D0C3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DF15-AD40-4541-ABED-4497A3B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38500"/>
            <a:ext cx="2305050" cy="180975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F78A6-A249-4C1C-919B-00D4942B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099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50684-2CB2-4077-A981-E7B597C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0EE17-E708-4DDB-A425-E7FD37AC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053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OCR · classify · 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393B1-E838-4222-A22B-E89018F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8D0C3"/>
                </a:solidFill>
              </a:defRPr>
            </a:pPr>
            <a:r>
              <a:rPr sz="2250" b="1" i="0">
                <a:solidFill>
                  <a:srgbClr val="D8D0C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C3B9E-AA72-410B-A60A-5B6B3959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2305050" cy="180975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7A30E-9213-443A-B2EA-428351B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8E7D"/>
                </a:solidFill>
              </a:defRPr>
            </a:pPr>
            <a:r>
              <a:rPr sz="900" b="1" i="0">
                <a:solidFill>
                  <a:srgbClr val="6F8E7D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CF5B2-1B63-41D1-8135-CD028DA8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D92D6-9029-4FFA-A833-3A073E7C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Invoice · collect · pay · payroll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4BBBC-1D3B-4C2F-99FC-0C3F5EC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38500"/>
            <a:ext cx="2305050" cy="180975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6EB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B9369-B5C4-4F05-BCB2-D3F5C59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4099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3A23A"/>
                </a:solidFill>
              </a:defRPr>
            </a:pPr>
            <a:r>
              <a:rPr sz="900" b="1" i="0">
                <a:solidFill>
                  <a:srgbClr val="D3A23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25441-70C3-406A-9131-B56AB56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29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COMPLY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74724-5570-4FDA-BABA-C15CE4AF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05300"/>
            <a:ext cx="1885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TVA · entries · CGNC exports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0693F-B3A5-4106-AD1E-2283E94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7823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24048-A5D2-4DC8-B630-7A9855AD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ONE FINANCIAL RECORD · TWO SIDES OF THE SAME WORKFLOW</a:t>
            </a:r>
          </a:p>
        </p:txBody>
      </p:sp>
    </p:spTree>
    <p:extLst>
      <p:ext uri="{BB962C8B-B14F-4D97-AF65-F5344CB8AC3E}">
        <p14:creationId xmlns:p14="http://schemas.microsoft.com/office/powerpoint/2010/main" val="629381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FF135-6BF0-4E57-B3A1-4750EF0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886D5-D65F-45D6-8E47-5B97C28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18736-BC46-4271-ACB0-7723DDB8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B9C40-2E06-4962-8146-3B5CE102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2126"/>
                </a:solidFill>
              </a:defRPr>
            </a:pPr>
            <a:r>
              <a:rPr sz="3150" b="1" i="0">
                <a:solidFill>
                  <a:srgbClr val="172126"/>
                </a:solidFill>
              </a:rPr>
              <a:t>The product already spans the monthly financial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025B1-1C52-472C-A639-F8DA84BC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6C69"/>
                </a:solidFill>
              </a:defRPr>
            </a:pPr>
            <a:r>
              <a:rPr sz="1350" b="0" i="0">
                <a:solidFill>
                  <a:srgbClr val="686C69"/>
                </a:solidFill>
              </a:rPr>
              <a:t>Native to Moroccan workflows: TVA, payroll, bank reconciliation, document archive and accountant exports.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2983A-1BE1-4C11-9218-3695354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6819900" cy="3857625"/>
          </a:xfrm>
          <a:prstGeom xmlns:a="http://schemas.openxmlformats.org/drawingml/2006/main" prst="roundRect">
            <a:avLst>
              <a:gd name="adj" fmla="val 49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per-card">
            <a:extLst xmlns:a="http://schemas.openxmlformats.org/drawingml/2006/main">
              <a:ext uri="{FF2B5EF4-FFF2-40B4-BE49-F238E27FC236}">
                <a16:creationId xmlns:a16="http://schemas.microsoft.com/office/drawing/2014/main" id="{2C6A9026-6048-4BE8-A6CE-163063DF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819900" cy="3857625"/>
          </a:xfrm>
          <a:prstGeom xmlns:a="http://schemas.openxmlformats.org/drawingml/2006/main" prst="roundRect">
            <a:avLst>
              <a:gd name="adj" fmla="val 4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ce5f4d62f4066"/>
          <a:stretch xmlns:a="http://schemas.openxmlformats.org/drawingml/2006/main"/>
        </p:blipFill>
        <p:spPr>
          <a:xfrm xmlns:a="http://schemas.openxmlformats.org/drawingml/2006/main" rot="-72000">
            <a:off x="1090965" y="2476500"/>
            <a:ext cx="5742869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8275A-8679-4CE0-BD84-7241E0C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1935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per-card">
            <a:extLst xmlns:a="http://schemas.openxmlformats.org/drawingml/2006/main">
              <a:ext uri="{FF2B5EF4-FFF2-40B4-BE49-F238E27FC236}">
                <a16:creationId xmlns:a16="http://schemas.microsoft.com/office/drawing/2014/main" id="{2A55D8AF-0188-46A3-BAD1-3D3BB6BF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4d8d0c5c64c71"/>
          <a:srcRect xmlns:a="http://schemas.openxmlformats.org/drawingml/2006/main" l="0" t="1981" r="0" b="1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72000">
            <a:off x="7791450" y="2400300"/>
            <a:ext cx="1638300" cy="952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46923-E738-46D8-9482-79CD762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86125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B1889-F655-4331-ADA3-A05A563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</a:defRPr>
            </a:pPr>
            <a:r>
              <a:rPr sz="825" b="1" i="0">
                <a:solidFill>
                  <a:srgbClr val="FFFDF8"/>
                </a:solidFill>
              </a:rPr>
              <a:t>TVA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ABAE6-5149-40E5-905D-5A37E42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per-card">
            <a:extLst xmlns:a="http://schemas.openxmlformats.org/drawingml/2006/main">
              <a:ext uri="{FF2B5EF4-FFF2-40B4-BE49-F238E27FC236}">
                <a16:creationId xmlns:a16="http://schemas.microsoft.com/office/drawing/2014/main" id="{44C8EB45-678D-4E7C-BD5E-701A9CE7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1d8b8f7e04f86"/>
          <a:srcRect xmlns:a="http://schemas.openxmlformats.org/drawingml/2006/main" l="0" t="2089" r="0" b="2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">
            <a:off x="9696450" y="2400300"/>
            <a:ext cx="1638300" cy="952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0D095-163E-4CB8-91CF-F020D1A4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86125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4D052-3D1A-4384-869E-25DB92A6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</a:defRPr>
            </a:pPr>
            <a:r>
              <a:rPr sz="825" b="1" i="0">
                <a:solidFill>
                  <a:srgbClr val="FFFDF8"/>
                </a:solidFill>
              </a:rPr>
              <a:t>PAYMENTS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1D39D-DDDC-4C5F-9098-953E0526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6715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per-card">
            <a:extLst xmlns:a="http://schemas.openxmlformats.org/drawingml/2006/main">
              <a:ext uri="{FF2B5EF4-FFF2-40B4-BE49-F238E27FC236}">
                <a16:creationId xmlns:a16="http://schemas.microsoft.com/office/drawing/2014/main" id="{7CC5EF63-F903-4C8A-AA2B-3D5BD43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d0c4a9a654538"/>
          <a:srcRect xmlns:a="http://schemas.openxmlformats.org/drawingml/2006/main" l="0" t="1981" r="0" b="1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">
            <a:off x="7791450" y="3848100"/>
            <a:ext cx="1638300" cy="95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6BC38-7311-4F3E-BE0E-50E549A7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33925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61626-077E-470B-BB3A-5BF92B6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81550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</a:defRPr>
            </a:pPr>
            <a:r>
              <a:rPr sz="825" b="1" i="0">
                <a:solidFill>
                  <a:srgbClr val="FFFDF8"/>
                </a:solidFill>
              </a:rPr>
              <a:t>PAYROLL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6DBC2-4420-4370-9435-3C9C428B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per-card">
            <a:extLst xmlns:a="http://schemas.openxmlformats.org/drawingml/2006/main">
              <a:ext uri="{FF2B5EF4-FFF2-40B4-BE49-F238E27FC236}">
                <a16:creationId xmlns:a16="http://schemas.microsoft.com/office/drawing/2014/main" id="{BE1FADB9-5648-4B45-A519-F1528D6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7907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558b1a9104791"/>
          <a:srcRect xmlns:a="http://schemas.openxmlformats.org/drawingml/2006/main" l="0" t="1981" r="0" b="1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66000">
            <a:off x="9696450" y="3848100"/>
            <a:ext cx="1638300" cy="952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0E289-45DE-4A07-AE7D-E682D312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33925"/>
            <a:ext cx="11239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C68F7-B940-4230-9D76-046199B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81550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</a:defRPr>
            </a:pPr>
            <a:r>
              <a:rPr sz="825" b="1" i="0">
                <a:solidFill>
                  <a:srgbClr val="FFFDF8"/>
                </a:solidFill>
              </a:rPr>
              <a:t>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177E2-3573-4EB2-8725-ABC26DE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6F52"/>
                </a:solidFill>
              </a:defRPr>
            </a:pPr>
            <a:r>
              <a:rPr sz="975" b="1" i="0">
                <a:solidFill>
                  <a:srgbClr val="C96F52"/>
                </a:solidFill>
              </a:rPr>
              <a:t>INBOX + OCR</a:t>
            </a:r>
          </a:p>
        </p:txBody>
      </p:sp>
    </p:spTree>
    <p:extLst>
      <p:ext uri="{BB962C8B-B14F-4D97-AF65-F5344CB8AC3E}">
        <p14:creationId xmlns:p14="http://schemas.microsoft.com/office/powerpoint/2010/main" val="1821838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F0A6BE-9D79-4BE9-AE72-F8DE184D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VALUE 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03888-CE1A-42A5-8DF4-C35C75B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9D184-7AEC-4FF9-B0C3-AFDBCB44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61F8D-F606-4F1C-AA1C-EE53ED9B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ONE RECORD, THREE WINNERS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7B05-DE55-4642-9911-D4F4848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Mohasib removes work from every side of the relationship.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0E03A-B100-479E-9688-87387B3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BBD3B-55D5-403A-BC9E-68813E1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A86"/>
                </a:solidFill>
              </a:defRPr>
            </a:pPr>
            <a:r>
              <a:rPr sz="900" b="1" i="0">
                <a:solidFill>
                  <a:srgbClr val="477A8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64CBD-5809-4A58-AE7B-E4BE8910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126"/>
                </a:solidFill>
              </a:defRPr>
            </a:pPr>
            <a:r>
              <a:rPr sz="1425" b="1" i="0">
                <a:solidFill>
                  <a:srgbClr val="172126"/>
                </a:solidFill>
              </a:rPr>
              <a:t>BUSINESS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E4CF3-B791-4343-BB64-29861CA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</a:defRPr>
            </a:pPr>
            <a:r>
              <a:rPr sz="1275" b="0" i="0">
                <a:solidFill>
                  <a:srgbClr val="172126"/>
                </a:solidFill>
              </a:rPr>
              <a:t>Know what is due, paid and owed — without rebuilding a spreadsheet.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DD7F5-11DA-47B5-80F5-75C36A9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12BFE-6169-4EF6-AAFE-2587C2A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Send invoices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BD260-9AAD-45F5-8D8F-C627503C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471DB-2744-4690-8E7C-CA52B130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Track cash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CD3CE-CC43-4A4D-B773-FF8A8BD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394C7-EE99-4BB2-ADEF-2D12668E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Run payroll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C7813-B07E-4560-A9BD-DCBD92AB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896DF-907C-4F52-B91D-55AEC5D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5A69D-9DBA-4AA8-B7E5-51D8DB1D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432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126"/>
                </a:solidFill>
              </a:defRPr>
            </a:pPr>
            <a:r>
              <a:rPr sz="1425" b="1" i="0">
                <a:solidFill>
                  <a:srgbClr val="172126"/>
                </a:solidFill>
              </a:rPr>
              <a:t>ACCOUNTANT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9D95C-09D5-49FA-A07F-83017357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</a:defRPr>
            </a:pPr>
            <a:r>
              <a:rPr sz="1275" b="0" i="0">
                <a:solidFill>
                  <a:srgbClr val="172126"/>
                </a:solidFill>
              </a:rPr>
              <a:t>Receive clean documents, categorized activity and export-ready books.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88E8A-6222-457F-8998-2786FFE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1F3E8-4581-4BCE-A590-30D502F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1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Review exceptions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0409F-0C38-4AC2-B796-F1607EEF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09037-D87A-4C61-B147-89258364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05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Prepare TVA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A83C0-0331-421F-B28D-0432BC2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86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7E08C-ECB7-4781-BF3B-171963B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00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Close faster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BCF98-D4E2-4BA2-9762-FFA71500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36F45-E898-4180-9DEA-BE6BA9AC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8E7D"/>
                </a:solidFill>
              </a:defRPr>
            </a:pPr>
            <a:r>
              <a:rPr sz="900" b="1" i="0">
                <a:solidFill>
                  <a:srgbClr val="6F8E7D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4C880-F8CB-48A4-9532-DC688F9A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432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126"/>
                </a:solidFill>
              </a:defRPr>
            </a:pPr>
            <a:r>
              <a:rPr sz="1425" b="1" i="0">
                <a:solidFill>
                  <a:srgbClr val="172126"/>
                </a:solidFill>
              </a:rPr>
              <a:t>ACCOUNTING FIRM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A2F25-EE7D-4833-B836-80D8750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</a:defRPr>
            </a:pPr>
            <a:r>
              <a:rPr sz="1275" b="0" i="0">
                <a:solidFill>
                  <a:srgbClr val="172126"/>
                </a:solidFill>
              </a:rPr>
              <a:t>Operate more client files with a shared inbox and standardized workflow.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DD724-EDF3-4680-9635-D53E596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80740-1C0C-4E96-86FB-42358121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Multi-dossier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702DF2-1360-4EC7-A4DA-039EA31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30059-C30A-42DC-B236-46A42D7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Mass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FF4057-23F2-4A56-9FFB-35D36C2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86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C2798-D8C6-4DAC-8928-58003A4A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00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Client portal</a:t>
            </a:r>
          </a:p>
        </p:txBody>
      </p:sp>
    </p:spTree>
    <p:extLst>
      <p:ext uri="{BB962C8B-B14F-4D97-AF65-F5344CB8AC3E}">
        <p14:creationId xmlns:p14="http://schemas.microsoft.com/office/powerpoint/2010/main" val="518252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5CD12-2853-49B1-B827-4D60F6D8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DISTRIBUTION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7B765-557F-4419-876C-85902FA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382B5-5BDF-4682-9EB3-9C29D50C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9449A-4ADC-4D60-8328-10444C0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START FREE. BECOME THE SYSTEM OF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03C15-1427-4B10-A96C-E94C32B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Free invoicing creates the business relationship; workflow depth and accountant collaboration monetize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A01D4-321D-467A-AF86-9FCE276E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78105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4EE64-AB8A-468A-B26B-93ED144C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A86"/>
                </a:solidFill>
              </a:defRPr>
            </a:pPr>
            <a:r>
              <a:rPr sz="900" b="1" i="0">
                <a:solidFill>
                  <a:srgbClr val="477A8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D1CDF-D08B-4943-AE6C-38FE9F8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FREE INVOICING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8B136-03E8-491B-873A-C2A1EBF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Acquire entrepreneurs at the moment they create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4C0A-FD36-464F-B118-A75020F8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43350"/>
            <a:ext cx="704850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6651E-8968-49FC-8298-B14CCD5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33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474B2-BE8E-46AC-86B7-400831E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OPERATING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AF8DB-A8DC-4AFA-86E7-F07D56C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86225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Convert when documents, cash, TVA or payroll become painful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03B61-91D3-4B29-8BAC-EA277CA0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91100"/>
            <a:ext cx="6238875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B6F24-594E-4A70-B469-02C7D57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81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8E7D"/>
                </a:solidFill>
              </a:defRPr>
            </a:pPr>
            <a:r>
              <a:rPr sz="900" b="1" i="0">
                <a:solidFill>
                  <a:srgbClr val="6F8E7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192F0-78CF-4EA3-9F6C-D6293BF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ACCOUNTANT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99001-74E8-448C-B0F8-268C8F13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339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One accounting firm can activate and standardize many client spaces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39B11-387C-4D8F-BF1E-B2EBA1D9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293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Every connected client increases product value, expansion revenue and embedded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98175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DDAD5-97A5-4A38-BE5F-7256934C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C7A5-BF35-4317-9DFC-A773125C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7B85-51CE-4F62-8541-89AB403D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DF511-9D35-4D9E-8074-0E6CEE9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A FOCUSED MARKET CAN STILL BE LARGE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1672A-FFFE-4881-995A-50BD2725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The core Morocco opportunity is already a billion-dirham software category.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29C86-DBD9-4AF5-89CC-D6F792A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86C69"/>
                </a:solidFill>
              </a:defRPr>
            </a:pPr>
            <a:r>
              <a:rPr sz="1425" b="0" i="0">
                <a:solidFill>
                  <a:srgbClr val="686C69"/>
                </a:solidFill>
              </a:rPr>
              <a:t>Illustrative bottom-up sizing using Mohasib’s current entry paid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1574A-634C-4FF5-BDD2-7A0545A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6286500" cy="257175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per-card">
            <a:extLst xmlns:a="http://schemas.openxmlformats.org/drawingml/2006/main">
              <a:ext uri="{FF2B5EF4-FFF2-40B4-BE49-F238E27FC236}">
                <a16:creationId xmlns:a16="http://schemas.microsoft.com/office/drawing/2014/main" id="{D9EFF892-EECE-444F-B8A2-5E83F35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6286500" cy="257175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6E600-0C2A-4711-B386-1B524711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477A86"/>
                </a:solidFill>
              </a:defRPr>
            </a:pPr>
            <a:r>
              <a:rPr sz="4350" b="1" i="0">
                <a:solidFill>
                  <a:srgbClr val="477A86"/>
                </a:solidFill>
              </a:rPr>
              <a:t>380,000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39931-F8A7-4F69-9B97-5D301E2F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tax-filing corporate 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CED8A-C958-4185-A169-C2C9B096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6F52"/>
                </a:solidFill>
              </a:defRPr>
            </a:pPr>
            <a:r>
              <a:rPr sz="1875" b="1" i="0">
                <a:solidFill>
                  <a:srgbClr val="C96F52"/>
                </a:solidFill>
              </a:rPr>
              <a:t>× 299 MAD / month ×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93F3D-89C3-42DD-A366-F6507F4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67F1C-D685-4E7F-A1CA-F67BE63F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01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</a:defRPr>
            </a:pPr>
            <a:r>
              <a:rPr sz="1800" b="1" i="0">
                <a:solidFill>
                  <a:srgbClr val="172126"/>
                </a:solidFill>
              </a:rPr>
              <a:t>≈ 1.36B MAD core annual TAM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68D30-06B5-48D8-9EA8-4D7CA84C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F8E7D"/>
                </a:solidFill>
              </a:defRPr>
            </a:pPr>
            <a:r>
              <a:rPr sz="1875" b="1" i="0">
                <a:solidFill>
                  <a:srgbClr val="6F8E7D"/>
                </a:solidFill>
              </a:rPr>
              <a:t>+ accounting-firm 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3E2C6-B800-406B-8CAB-5A0FDB7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6F52"/>
                </a:solidFill>
              </a:defRPr>
            </a:pPr>
            <a:r>
              <a:rPr sz="1875" b="1" i="0">
                <a:solidFill>
                  <a:srgbClr val="C96F52"/>
                </a:solidFill>
              </a:rPr>
              <a:t>+ 95k newly created companies / year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B4636-76F4-4581-88F3-71FB970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886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77A86"/>
                </a:solidFill>
              </a:defRPr>
            </a:pPr>
            <a:r>
              <a:rPr sz="1875" b="1" i="0">
                <a:solidFill>
                  <a:srgbClr val="477A86"/>
                </a:solidFill>
              </a:rPr>
              <a:t>+ future Maghreb and francophone markets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04058-7F8F-4EE5-A3BF-D4710691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959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We win a narrow beachhead first: Moroccan TPE/SMEs and the accountants who serve them.</a:t>
            </a:r>
          </a:p>
        </p:txBody>
      </p:sp>
    </p:spTree>
    <p:extLst>
      <p:ext uri="{BB962C8B-B14F-4D97-AF65-F5344CB8AC3E}">
        <p14:creationId xmlns:p14="http://schemas.microsoft.com/office/powerpoint/2010/main" val="1441049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8EF6E-0228-47E4-BE55-08A0C302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7427C-15E5-490F-875F-E79F38A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C2625-7CE0-479E-A10C-3C1E35FD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AF0AE-7CF6-4ABF-975F-F29C505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REVENUE EXPANDS WITH OPERATIONAL COMPLEXITY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AF14-3780-4D85-BC63-012E8DE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Simple entry pricing; usage and collaboration increase account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34B9E-A44E-48EE-A122-056EBE6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10744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2E78A-7AD7-4DCA-A7CA-EE9F5B4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C66A6-5696-4C33-AD76-D26C774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05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0 MAD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0AFAA-B669-4A69-A75B-65ECCF5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Unlimited invoicing, quotes, credit notes and client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CD858-1C69-4308-8745-8241D56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10744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B2711-F1EB-4D06-A0C3-D334D9DE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ENTREPRISE FLEX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D39F2-E5E3-43C3-B1A2-21E5E6B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957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299 MAD /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AC943-D153-4E2F-9965-E2EFCBC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100 OCR documents · 1 user · payroll for 5 employees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C5818-175F-4981-8A0F-41C6687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10744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AC761-C0DE-4E52-A29E-9103083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CABINET FLEX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41E2A-59FE-4ACA-8B6B-A216E0F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86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499 MAD / 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1CCAF-27BE-4BF6-B886-AE3F01B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2 collaborators · multi-file cockpit · client-space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FAFD5-2DE6-4570-A3A5-0E93FCE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EXPANSION LEVERS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5BD62-2F22-46E4-93AC-ED4D9A90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67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126"/>
                </a:solidFill>
              </a:defRPr>
            </a:pPr>
            <a:r>
              <a:rPr sz="1425" b="1" i="0">
                <a:solidFill>
                  <a:srgbClr val="172126"/>
                </a:solidFill>
              </a:rPr>
              <a:t>documents · employees · users · managed files · connected client spaces</a:t>
            </a:r>
          </a:p>
        </p:txBody>
      </p:sp>
    </p:spTree>
    <p:extLst>
      <p:ext uri="{BB962C8B-B14F-4D97-AF65-F5344CB8AC3E}">
        <p14:creationId xmlns:p14="http://schemas.microsoft.com/office/powerpoint/2010/main" val="1887326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E4590-BEA6-4901-BD40-2270AD1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72D1F-BE45-4B22-8D5F-3DAA0DF4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0B672-C62E-44BA-8EAC-92940BE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6549F-4850-4785-BD04-DCAAD2A9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A COMPOUNDING ACQUISITION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E74B1-828D-408D-8187-307835B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Land businesses directly, then turn accountants into trusted multipliers.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ADFDF-9470-417C-99FC-77B937D3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295650" cy="21431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2BE14-73B1-4D2B-B752-3936FC0E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A86"/>
                </a:solidFill>
              </a:defRPr>
            </a:pPr>
            <a:r>
              <a:rPr sz="900" b="1" i="0">
                <a:solidFill>
                  <a:srgbClr val="477A8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24C88-676F-452D-B833-970E179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FREE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8CFB2-617E-4CEF-96BE-02530B1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SEO + templates + calculators + word of mouth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95B33-852F-4B88-852A-0A0917B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2126"/>
                </a:solidFill>
              </a:defRPr>
            </a:pPr>
            <a:r>
              <a:rPr sz="2100" b="1" i="0">
                <a:solidFill>
                  <a:srgbClr val="17212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EA50E-67CC-4A6A-8015-DBB1C3A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295650" cy="21431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56B1E-8CE2-4ECF-8C26-717A486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99637-88F6-4B0F-B759-0BC72DB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ASSISTED ACTIVATION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C8F6A-E893-4122-9E01-3BF2FF1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Import documents, connect inbox, reach first useful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F86CB-13DE-44D3-8AEC-044A438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2126"/>
                </a:solidFill>
              </a:defRPr>
            </a:pPr>
            <a:r>
              <a:rPr sz="2100" b="1" i="0">
                <a:solidFill>
                  <a:srgbClr val="17212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DA8A2-6ED9-4ADC-8373-1CE79E2A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295650" cy="21431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88D16-2332-4C29-8B89-74517F05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8E7D"/>
                </a:solidFill>
              </a:defRPr>
            </a:pPr>
            <a:r>
              <a:rPr sz="900" b="1" i="0">
                <a:solidFill>
                  <a:srgbClr val="6F8E7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1D54C-DC62-439D-ACEC-2C68D62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ACCOUNTANT PARTNERS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F0E54-50B9-43C3-A1A8-03CDC8B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C69"/>
                </a:solidFill>
              </a:defRPr>
            </a:pPr>
            <a:r>
              <a:rPr sz="1200" b="0" i="0">
                <a:solidFill>
                  <a:srgbClr val="686C69"/>
                </a:solidFill>
              </a:rPr>
              <a:t>Co-manage the books; introduce Mohasib to the rest of the portfolio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F7563-34A6-4A54-BC07-F16BB329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6F52"/>
                </a:solidFill>
              </a:defRPr>
            </a:pPr>
            <a:r>
              <a:rPr sz="1050" b="1" i="0">
                <a:solidFill>
                  <a:srgbClr val="C96F52"/>
                </a:solidFill>
              </a:rPr>
              <a:t>North-star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5CAF8-A1CF-43D3-9619-7C87A3E5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625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126"/>
                </a:solidFill>
              </a:defRPr>
            </a:pPr>
            <a:r>
              <a:rPr sz="1500" b="1" i="0">
                <a:solidFill>
                  <a:srgbClr val="172126"/>
                </a:solidFill>
              </a:rPr>
              <a:t>Free invoice → connected workflow → accountant collaboration → portfolio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5551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ED71A-5756-441C-ACA4-F7E6CC0B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E4E82-D4C5-4151-85F7-B7106C2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E5F1F-F691-4891-B100-772E59E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0A0A4-C8CF-4196-A32A-25A13A9B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LOCALIZATION IS THE ENTRY. WORKFLOW DEPTH IS THE MOAT.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38A3F-2EBB-4124-BC64-7E44904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Mohasib compounds advantage where global point solutions are shallow and legacy suites are difficult to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C46DF-9B82-4C95-8D2F-99C6E49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10287000" cy="71437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FD4B4-BA3C-4F91-AF11-1B62B4B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LOCAL OPERATING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70386-7000-4533-BD4D-71B4D6E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TVA · CGNC · payroll · identifiers · document conventions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A3D73-84F0-424B-9654-0001E70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8953500" cy="71437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9E62B-BC00-4EA6-AB66-72BDE7E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29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WORKFLOW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0415B-97E0-4297-AB27-9B39BFA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Documents linked to transactions, invoices, payments and entries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80B11-945F-4ABC-8639-EC32825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7620000" cy="71437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EA9D5-1026-401A-B9B6-D4A04564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6"/>
                </a:solidFill>
              </a:defRPr>
            </a:pPr>
            <a:r>
              <a:rPr sz="1275" b="1" i="0">
                <a:solidFill>
                  <a:srgbClr val="172126"/>
                </a:solidFill>
              </a:rPr>
              <a:t>TWO-SIDED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AA3AB-E329-407F-A051-E30019F8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Business workspace + accountant workspace on the same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3957C-A3F3-4B10-9602-8EF3B38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126"/>
                </a:solidFill>
              </a:defRPr>
            </a:pPr>
            <a:r>
              <a:rPr sz="1350" b="1" i="0">
                <a:solidFill>
                  <a:srgbClr val="172126"/>
                </a:solidFill>
              </a:rPr>
              <a:t>The result: higher switching cost, better automation context, and a distribution advantage that strengthens with every connected file.</a:t>
            </a:r>
          </a:p>
        </p:txBody>
      </p:sp>
    </p:spTree>
    <p:extLst>
      <p:ext uri="{BB962C8B-B14F-4D97-AF65-F5344CB8AC3E}">
        <p14:creationId xmlns:p14="http://schemas.microsoft.com/office/powerpoint/2010/main" val="1609454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83518-7FC3-46D1-A9A8-DD6B83E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EXECUTION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E3166-6DA5-456F-ACCC-0EEA719F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1A6FF-DCE2-4FE6-A65A-FCCEE5D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DEEC9-0750-4966-9DD2-F1B47383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2126"/>
                </a:solidFill>
              </a:defRPr>
            </a:pPr>
            <a:r>
              <a:rPr sz="3150" b="1" i="0">
                <a:solidFill>
                  <a:srgbClr val="172126"/>
                </a:solidFill>
              </a:rPr>
              <a:t>The product is built. The next milestone is 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CF19-AA76-48AC-877F-2F63A11D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6C69"/>
                </a:solidFill>
              </a:defRPr>
            </a:pPr>
            <a:r>
              <a:rPr sz="1350" b="0" i="0">
                <a:solidFill>
                  <a:srgbClr val="686C69"/>
                </a:solidFill>
              </a:rPr>
              <a:t>A working, production-shaped platform already covers the core financial operating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8390B-36F2-461A-A0F2-94B77567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477000" cy="3619500"/>
          </a:xfrm>
          <a:prstGeom xmlns:a="http://schemas.openxmlformats.org/drawingml/2006/main" prst="roundRect">
            <a:avLst>
              <a:gd name="adj" fmla="val 52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per-card">
            <a:extLst xmlns:a="http://schemas.openxmlformats.org/drawingml/2006/main">
              <a:ext uri="{FF2B5EF4-FFF2-40B4-BE49-F238E27FC236}">
                <a16:creationId xmlns:a16="http://schemas.microsoft.com/office/drawing/2014/main" id="{13804487-0D47-4F33-92CB-DE7D9E35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6477000" cy="3619500"/>
          </a:xfrm>
          <a:prstGeom xmlns:a="http://schemas.openxmlformats.org/drawingml/2006/main" prst="roundRect">
            <a:avLst>
              <a:gd name="adj" fmla="val 52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49ab5295a45f8"/>
          <a:stretch xmlns:a="http://schemas.openxmlformats.org/drawingml/2006/main"/>
        </p:blipFill>
        <p:spPr>
          <a:xfrm xmlns:a="http://schemas.openxmlformats.org/drawingml/2006/main" rot="-72000">
            <a:off x="781050" y="2581275"/>
            <a:ext cx="609600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48D3C-39FF-456B-A589-3A06CBD8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8C7BB-85FF-4AF1-88CE-6AB6492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INBOX +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6B311-C082-42FE-9B26-221ABFBF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CA0CD-0B45-4A27-A075-18449D3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INVOICING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E5BC0-2EA5-46D0-B74B-EFB36E1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76057-683E-4E4C-A0F6-BB384715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PAYMENTS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8C9B6-1808-466C-B864-ADF7FB6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146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B537C-BCD2-4294-AEA8-5E4073F1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BANK MATCHING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0EEB4-7C96-4F99-988C-D170B09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ECDE7-4583-459A-A0B5-405E756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909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TVA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E2E50-BF22-49C2-A521-EAC79E7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957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2B6FC-F2C7-44E8-AA88-94A8794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909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PAYROLL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469A0-1DCF-42A0-BF1F-16B59315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767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F7098-A3F6-4A90-9034-ED4992F4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ACCOUNTING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642C5-11F1-4EAF-8355-1CD5E69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CAC1F-850E-4123-9311-B14CC65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CGNC EXPORTS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9825C9-3E75-4340-B472-8A15F797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B9287-62CF-413F-8C01-2FE2789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52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ARCHIVE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DA888-F92A-407A-A61E-C405B35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F43A5-25BF-4C3A-890F-7D5A3C4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52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AI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A8F79-0AFB-4734-89F3-9439914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387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755A9-6710-4271-A165-0672A2C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3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MULTI-DOSSIER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5D900-D35E-450A-AB7F-B4E0E72A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387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43E173-AADA-477A-B18B-BCAC6662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3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2126"/>
                </a:solidFill>
              </a:defRPr>
            </a:pPr>
            <a:r>
              <a:rPr sz="975" b="1" i="0">
                <a:solidFill>
                  <a:srgbClr val="172126"/>
                </a:solidFill>
              </a:rPr>
              <a:t>TEAM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33DC74-0985-4F4C-AFAE-A0907DE8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0007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Built founder-first, with a single product language across businesses and accounting firms.</a:t>
            </a:r>
          </a:p>
        </p:txBody>
      </p:sp>
    </p:spTree>
    <p:extLst>
      <p:ext uri="{BB962C8B-B14F-4D97-AF65-F5344CB8AC3E}">
        <p14:creationId xmlns:p14="http://schemas.microsoft.com/office/powerpoint/2010/main" val="1035304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597B90-811E-4DFC-A529-296927F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18-MONTH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4B5FA-94D6-430D-BE2E-4EBD0D49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2D1B0-EC53-4EF5-A97D-5DB153AD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558BC-AD17-4A31-9863-4EB66AE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PROVE THE CHANNEL, THEN SCALE THE 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C44B8-5A7E-44FE-BE6D-7E25203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Capital accelerates distribution, onboarding and compliance depth — not a greenfield build.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FC204-79BC-494E-B332-8712E1A5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D9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0D5DB-4ADF-49AA-8E93-8F51A97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7A86"/>
                </a:solidFill>
              </a:defRPr>
            </a:pPr>
            <a:r>
              <a:rPr sz="900" b="1" i="0">
                <a:solidFill>
                  <a:srgbClr val="477A86"/>
                </a:solidFill>
              </a:rPr>
              <a:t>0—6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ABE55-0195-4308-BEE5-57C2EC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02C75-6C68-4C7B-B350-A608C326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6"/>
                </a:solidFill>
              </a:defRPr>
            </a:pPr>
            <a:r>
              <a:rPr sz="1200" b="0" i="0">
                <a:solidFill>
                  <a:srgbClr val="172126"/>
                </a:solidFill>
              </a:rPr>
              <a:t>Convert the free wedge into repeatable paid 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230E5-85FA-4CEE-97A5-BDB9EEF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AFF14-8C94-4B89-B71E-61C7C01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Instrument activation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678DA-E149-4C05-AC10-FCB3CC5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38781-EE31-423A-9A04-241F8F4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Founder-led onboarding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2FE39-499A-42AC-A8D2-26E462D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16E64-28B0-4210-BB55-5C126F4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29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10 accountant design partners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14125-2A06-44E2-9A4A-FE538A4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F4D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F8451-8484-4876-A993-4BF14CCD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6—12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CF1F2-FF19-4E8F-AFEB-79E1A80E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777B4-D507-4DC8-86F1-7D42D92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9572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6"/>
                </a:solidFill>
              </a:defRPr>
            </a:pPr>
            <a:r>
              <a:rPr sz="1200" b="0" i="0">
                <a:solidFill>
                  <a:srgbClr val="172126"/>
                </a:solidFill>
              </a:rPr>
              <a:t>Standardize onboarding and partner-led portfolio rollout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01D49-7C30-451C-B0A8-E67A7C9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B8B3F-FDEF-4480-9F06-A0828B9D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Migration playbooks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4C011-6A22-4B69-80F5-C193421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1ED42-546A-402A-9768-90E239C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Partner enablement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896D1-ECDA-458B-A1C0-ABEF1B92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41EFA-723F-4625-8E70-63E73934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29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Retention + expansion loops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D429B-12AC-4DD7-812F-2C2921B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333750" cy="2914650"/>
          </a:xfrm>
          <a:prstGeom xmlns:a="http://schemas.openxmlformats.org/drawingml/2006/main" prst="roundRect">
            <a:avLst>
              <a:gd name="adj" fmla="val 654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3B9B1-0E72-4654-9F9F-17A6E281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8E7D"/>
                </a:solidFill>
              </a:defRPr>
            </a:pPr>
            <a:r>
              <a:rPr sz="900" b="1" i="0">
                <a:solidFill>
                  <a:srgbClr val="6F8E7D"/>
                </a:solidFill>
              </a:rPr>
              <a:t>12—18 MONTHS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F5512-1DF0-47A9-814B-F7FCF5B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6"/>
                </a:solidFill>
              </a:defRPr>
            </a:pPr>
            <a:r>
              <a:rPr sz="1875" b="1" i="0">
                <a:solidFill>
                  <a:srgbClr val="172126"/>
                </a:solidFill>
              </a:rPr>
              <a:t>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EC365-298B-41D6-B599-C067687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9572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6"/>
                </a:solidFill>
              </a:defRPr>
            </a:pPr>
            <a:r>
              <a:rPr sz="1200" b="0" i="0">
                <a:solidFill>
                  <a:srgbClr val="172126"/>
                </a:solidFill>
              </a:rPr>
              <a:t>Expand distribution and prepare the next geography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CCA2E-063F-4CAD-8D8A-7FE321A3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3C7B5-0A28-49B7-96C6-925CB41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Sales + customer success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8BD50-EC31-4C9D-A2A1-A70B90A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387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D2B58-96A8-477C-83C9-10EDEC06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Automation depth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DFB16F-6228-49DC-BCDE-AAFBC2F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E15F1-1FB1-48E1-BC80-A0EC3E69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29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6C69"/>
                </a:solidFill>
              </a:defRPr>
            </a:pPr>
            <a:r>
              <a:rPr sz="1050" b="1" i="0">
                <a:solidFill>
                  <a:srgbClr val="686C69"/>
                </a:solidFill>
              </a:rPr>
              <a:t>Regional readiness</a:t>
            </a:r>
          </a:p>
        </p:txBody>
      </p:sp>
    </p:spTree>
    <p:extLst>
      <p:ext uri="{BB962C8B-B14F-4D97-AF65-F5344CB8AC3E}">
        <p14:creationId xmlns:p14="http://schemas.microsoft.com/office/powerpoint/2010/main" val="1345438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16824-0C80-496B-A755-9CC937A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TEAM +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CB6E-6690-4B23-831A-B0D3B9B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F693-5D00-49AC-9F98-302B831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97165-2CCC-4BCA-821E-E6A2056A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2126"/>
                </a:solidFill>
              </a:defRPr>
            </a:pPr>
            <a:r>
              <a:rPr sz="3150" b="1" i="0">
                <a:solidFill>
                  <a:srgbClr val="172126"/>
                </a:solidFill>
              </a:rPr>
              <a:t>Founder-led velocity, focused on a local problem worth owning.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73FB0-02BB-49F8-9BCB-FFD9F6E5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4343400" cy="314325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per-card">
            <a:extLst xmlns:a="http://schemas.openxmlformats.org/drawingml/2006/main">
              <a:ext uri="{FF2B5EF4-FFF2-40B4-BE49-F238E27FC236}">
                <a16:creationId xmlns:a16="http://schemas.microsoft.com/office/drawing/2014/main" id="{B4685A07-C195-410C-94D7-F9181819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343400" cy="314325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af28273db476b"/>
          <a:stretch xmlns:a="http://schemas.openxmlformats.org/drawingml/2006/main"/>
        </p:blipFill>
        <p:spPr>
          <a:xfrm xmlns:a="http://schemas.openxmlformats.org/drawingml/2006/main" rot="-72000">
            <a:off x="914400" y="26289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607A8-2EE9-4B08-AF1B-A82235E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126"/>
                </a:solidFill>
              </a:defRPr>
            </a:pPr>
            <a:r>
              <a:rPr sz="1575" b="1" i="0">
                <a:solidFill>
                  <a:srgbClr val="172126"/>
                </a:solidFill>
              </a:rPr>
              <a:t>ABDELHAMID AHJAME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EE1FA-3C99-4093-BAAD-59BC0A5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6F52"/>
                </a:solidFill>
              </a:defRPr>
            </a:pPr>
            <a:r>
              <a:rPr sz="1200" b="1" i="0">
                <a:solidFill>
                  <a:srgbClr val="C96F52"/>
                </a:solidFill>
              </a:rPr>
              <a:t>Founder · product builder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D4C5F-4388-487F-98BB-7B422919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C69"/>
                </a:solidFill>
              </a:defRPr>
            </a:pPr>
            <a:r>
              <a:rPr sz="1125" b="0" i="0">
                <a:solidFill>
                  <a:srgbClr val="686C69"/>
                </a:solidFill>
              </a:rPr>
              <a:t>Built Mohasib end-to-end across product, accounting workflows and go-to-market surfaces.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DE2AE-8FDD-46A1-BD2E-01C62FEA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6F52"/>
                </a:solidFill>
              </a:defRPr>
            </a:pPr>
            <a:r>
              <a:rPr sz="1050" b="1" i="0">
                <a:solidFill>
                  <a:srgbClr val="C96F52"/>
                </a:solidFill>
              </a:rPr>
              <a:t>WE ARE RAISING A PRE-SEED 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30D60-B1C7-43EE-B1C7-E2D47FF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2126"/>
                </a:solidFill>
              </a:defRPr>
            </a:pPr>
            <a:r>
              <a:rPr sz="2325" b="1" i="0">
                <a:solidFill>
                  <a:srgbClr val="172126"/>
                </a:solidFill>
              </a:rPr>
              <a:t>Partner with us to make reliable financial operations the default for every Moroccan business.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6D9CB-9225-43AF-998B-372C7F3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75AA7-E0DE-480C-980C-3B349B6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29125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6"/>
                </a:solidFill>
              </a:defRPr>
            </a:pPr>
            <a:r>
              <a:rPr sz="1050" b="1" i="0">
                <a:solidFill>
                  <a:srgbClr val="172126"/>
                </a:solidFill>
              </a:rPr>
              <a:t>CAPITAL TO SCALE 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9889A-D78E-4996-8E23-15458C8D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815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E8F74-123A-4A09-A820-B92CECF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6"/>
                </a:solidFill>
              </a:defRPr>
            </a:pPr>
            <a:r>
              <a:rPr sz="1050" b="1" i="0">
                <a:solidFill>
                  <a:srgbClr val="172126"/>
                </a:solidFill>
              </a:rPr>
              <a:t>ACCOUNTING + SME ECOSYSTEM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6BDF0-B2DE-4824-836B-B8D341D2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29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E791C-921B-48A7-ABAE-B1177B65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6"/>
                </a:solidFill>
              </a:defRPr>
            </a:pPr>
            <a:r>
              <a:rPr sz="1050" b="1" i="0">
                <a:solidFill>
                  <a:srgbClr val="172126"/>
                </a:solidFill>
              </a:rPr>
              <a:t>SUPPORT FOR REGIONAL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D4495-62E9-4E74-A0D9-5784AB5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7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6"/>
                </a:solidFill>
              </a:defRPr>
            </a:pPr>
            <a:r>
              <a:rPr sz="1125" b="1" i="0">
                <a:solidFill>
                  <a:srgbClr val="172126"/>
                </a:solidFill>
              </a:rPr>
              <a:t>contact@mohasibai.com  ·  mohasibai.com</a:t>
            </a:r>
          </a:p>
        </p:txBody>
      </p:sp>
    </p:spTree>
    <p:extLst>
      <p:ext uri="{BB962C8B-B14F-4D97-AF65-F5344CB8AC3E}">
        <p14:creationId xmlns:p14="http://schemas.microsoft.com/office/powerpoint/2010/main" val="5872308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D2071-E068-47E8-96B5-9B9C4A4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APPENDIX · COMPETITIVE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4615-0376-450B-9068-F7F765D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74232-39E3-4AC7-9CBF-A51B9C9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9BA6E-696C-4FBA-BD48-C1EC9BC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6F52"/>
                </a:solidFill>
              </a:defRPr>
            </a:pPr>
            <a:r>
              <a:rPr sz="900" b="1" i="0">
                <a:solidFill>
                  <a:srgbClr val="C96F52"/>
                </a:solidFill>
              </a:rPr>
              <a:t>DESIGNED FOR THE GAP IN THE 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E0F88-1FC2-405D-9748-A8070707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72126"/>
                </a:solidFill>
              </a:defRPr>
            </a:pPr>
            <a:r>
              <a:rPr sz="3225" b="1" i="0">
                <a:solidFill>
                  <a:srgbClr val="172126"/>
                </a:solidFill>
              </a:rPr>
              <a:t>Mohasib combines local compliance depth with a modern operator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376B9-CF40-4175-82AB-180D830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HIGH LOCAL WORKFLOW DEPTH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C7B0D-976B-45B9-9704-9E1C1283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293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6C69"/>
                </a:solidFill>
              </a:defRPr>
            </a:pPr>
            <a:r>
              <a:rPr sz="900" b="1" i="0">
                <a:solidFill>
                  <a:srgbClr val="686C69"/>
                </a:solidFill>
              </a:rPr>
              <a:t>OPERATOR EXPERIENCE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09784-D532-4FCD-87FC-1C4F93D9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E586B-71BC-42C2-B67F-22255A6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BF2B4-698A-475E-9AF5-A001B07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Global invoicing</a:t>
            </a:r>
          </a:p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&amp; point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78DD0-DC69-4BC0-82C6-6A85998B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Legacy local</a:t>
            </a:r>
          </a:p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accounting suites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F323-9F0D-49D0-9270-7E0D4F25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Generic AI</a:t>
            </a:r>
          </a:p>
          <a:p xmlns:a="http://schemas.openxmlformats.org/drawingml/2006/main">
            <a:pPr algn="ctr">
              <a:defRPr sz="1500" b="1" i="0">
                <a:solidFill>
                  <a:srgbClr val="686C69"/>
                </a:solidFill>
              </a:defRPr>
            </a:pPr>
            <a:r>
              <a:rPr sz="1500" b="1" i="0">
                <a:solidFill>
                  <a:srgbClr val="686C69"/>
                </a:solidFill>
              </a:rPr>
              <a:t>assistants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2B3BA-C55E-4181-8137-96A7A8DC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2381250" cy="904875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C9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229CE-47FD-4012-AEF3-A3437E6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8"/>
                </a:solidFill>
              </a:defRPr>
            </a:pPr>
            <a:r>
              <a:rPr sz="1800" b="1" i="0">
                <a:solidFill>
                  <a:srgbClr val="FFFDF8"/>
                </a:solidFill>
              </a:rPr>
              <a:t>MOHASIB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682D4-88D3-4F83-95B4-F6F39F1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814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</a:defRPr>
            </a:pPr>
            <a:r>
              <a:rPr sz="975" b="1" i="0">
                <a:solidFill>
                  <a:srgbClr val="FFFDF8"/>
                </a:solidFill>
              </a:rPr>
              <a:t>local + usable + connected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878F8-9308-4FCD-AA20-20A7D5E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D98F6-11BB-4ABA-8ED0-CF34537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19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86C69"/>
                </a:solidFill>
              </a:defRPr>
            </a:pPr>
            <a:r>
              <a:rPr sz="825" b="1" i="0">
                <a:solidFill>
                  <a:srgbClr val="686C69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301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2026-08-07T10:17:23.2290000Z</dcterms:created>
  <dcterms:modified xsi:type="dcterms:W3CDTF">2026-08-07T10:17:23.2290000Z</dcterms:modified>
</coreProperties>
</file>