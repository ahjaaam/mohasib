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0a52148060e4ec7" /><Relationship Type="http://schemas.openxmlformats.org/officeDocument/2006/relationships/extended-properties" Target="/docProps/app.xml" Id="Re446dcf7f9354aa3" /><Relationship Type="http://schemas.openxmlformats.org/officeDocument/2006/relationships/officeDocument" Target="/ppt/presentation.xml" Id="Rc75a26e020ee4b86" /></Relationships>
</file>

<file path=ppt/presentation.xml><?xml version="1.0" encoding="utf-8"?>
<p:presentation xmlns:p="http://schemas.openxmlformats.org/presentationml/2006/main">
  <p:sldMasterIdLst>
    <p:sldMasterId xmlns:r="http://schemas.openxmlformats.org/officeDocument/2006/relationships" id="2147483648" r:id="R93ea872dda114a98"/>
  </p:sldMasterIdLst>
  <p:notesMasterIdLst>
    <p:notesMasterId xmlns:r="http://schemas.openxmlformats.org/officeDocument/2006/relationships" r:id="R68bcc348c47b4dbc"/>
  </p:notesMasterIdLst>
  <p:sldIdLst>
    <p:sldId xmlns:r="http://schemas.openxmlformats.org/officeDocument/2006/relationships" id="256" r:id="Rdd62eae56ee3480b"/>
    <p:sldId xmlns:r="http://schemas.openxmlformats.org/officeDocument/2006/relationships" id="257" r:id="R538192e208d647a8"/>
    <p:sldId xmlns:r="http://schemas.openxmlformats.org/officeDocument/2006/relationships" id="258" r:id="R018d4734887c4391"/>
    <p:sldId xmlns:r="http://schemas.openxmlformats.org/officeDocument/2006/relationships" id="259" r:id="R59191635360c402b"/>
    <p:sldId xmlns:r="http://schemas.openxmlformats.org/officeDocument/2006/relationships" id="260" r:id="R5501f5370796461e"/>
    <p:sldId xmlns:r="http://schemas.openxmlformats.org/officeDocument/2006/relationships" id="261" r:id="Rb09e9aae30164d2e"/>
    <p:sldId xmlns:r="http://schemas.openxmlformats.org/officeDocument/2006/relationships" id="262" r:id="R1b96d84e3d6441a5"/>
    <p:sldId xmlns:r="http://schemas.openxmlformats.org/officeDocument/2006/relationships" id="263" r:id="R29387733508f4757"/>
    <p:sldId xmlns:r="http://schemas.openxmlformats.org/officeDocument/2006/relationships" id="264" r:id="R27a4e054112b424c"/>
    <p:sldId xmlns:r="http://schemas.openxmlformats.org/officeDocument/2006/relationships" id="265" r:id="R2c538a24c39848eb"/>
    <p:sldId xmlns:r="http://schemas.openxmlformats.org/officeDocument/2006/relationships" id="266" r:id="Rff00a5f482e749b5"/>
    <p:sldId xmlns:r="http://schemas.openxmlformats.org/officeDocument/2006/relationships" id="267" r:id="Rd5f82eed538246ed"/>
    <p:sldId xmlns:r="http://schemas.openxmlformats.org/officeDocument/2006/relationships" id="268" r:id="Rdaacbce7d10b4f24"/>
    <p:sldId xmlns:r="http://schemas.openxmlformats.org/officeDocument/2006/relationships" id="269" r:id="R8e20caa75de24daf"/>
    <p:sldId xmlns:r="http://schemas.openxmlformats.org/officeDocument/2006/relationships" id="270" r:id="R848e3875852f4cb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a689d20aac54bb0" /><Relationship Type="http://schemas.openxmlformats.org/officeDocument/2006/relationships/slideMaster" Target="/ppt/slideMasters/slideMaster1.xml" Id="R93ea872dda114a98" /><Relationship Type="http://schemas.openxmlformats.org/officeDocument/2006/relationships/notesMaster" Target="/ppt/notesMasters/notesMaster1.xml" Id="R68bcc348c47b4dbc" /><Relationship Type="http://schemas.openxmlformats.org/officeDocument/2006/relationships/presProps" Target="/ppt/presProps.xml" Id="R2e57470922464371" /><Relationship Type="http://schemas.openxmlformats.org/officeDocument/2006/relationships/tableStyles" Target="/ppt/tableStyles.xml" Id="R795d5eb4545341b0" /><Relationship Type="http://schemas.openxmlformats.org/officeDocument/2006/relationships/slide" Target="/ppt/slides/slide1.xml" Id="Rdd62eae56ee3480b" /><Relationship Type="http://schemas.openxmlformats.org/officeDocument/2006/relationships/slide" Target="/ppt/slides/slide2.xml" Id="R538192e208d647a8" /><Relationship Type="http://schemas.openxmlformats.org/officeDocument/2006/relationships/slide" Target="/ppt/slides/slide3.xml" Id="R018d4734887c4391" /><Relationship Type="http://schemas.openxmlformats.org/officeDocument/2006/relationships/slide" Target="/ppt/slides/slide4.xml" Id="R59191635360c402b" /><Relationship Type="http://schemas.openxmlformats.org/officeDocument/2006/relationships/slide" Target="/ppt/slides/slide5.xml" Id="R5501f5370796461e" /><Relationship Type="http://schemas.openxmlformats.org/officeDocument/2006/relationships/slide" Target="/ppt/slides/slide6.xml" Id="Rb09e9aae30164d2e" /><Relationship Type="http://schemas.openxmlformats.org/officeDocument/2006/relationships/slide" Target="/ppt/slides/slide7.xml" Id="R1b96d84e3d6441a5" /><Relationship Type="http://schemas.openxmlformats.org/officeDocument/2006/relationships/slide" Target="/ppt/slides/slide8.xml" Id="R29387733508f4757" /><Relationship Type="http://schemas.openxmlformats.org/officeDocument/2006/relationships/slide" Target="/ppt/slides/slide9.xml" Id="R27a4e054112b424c" /><Relationship Type="http://schemas.openxmlformats.org/officeDocument/2006/relationships/slide" Target="/ppt/slides/slide10.xml" Id="R2c538a24c39848eb" /><Relationship Type="http://schemas.openxmlformats.org/officeDocument/2006/relationships/slide" Target="/ppt/slides/slide11.xml" Id="Rff00a5f482e749b5" /><Relationship Type="http://schemas.openxmlformats.org/officeDocument/2006/relationships/slide" Target="/ppt/slides/slide12.xml" Id="Rd5f82eed538246ed" /><Relationship Type="http://schemas.openxmlformats.org/officeDocument/2006/relationships/slide" Target="/ppt/slides/slide13.xml" Id="Rdaacbce7d10b4f24" /><Relationship Type="http://schemas.openxmlformats.org/officeDocument/2006/relationships/slide" Target="/ppt/slides/slide14.xml" Id="R8e20caa75de24daf" /><Relationship Type="http://schemas.openxmlformats.org/officeDocument/2006/relationships/slide" Target="/ppt/slides/slide15.xml" Id="R848e3875852f4cb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0efc2af844542f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dcc06f2f6948a5" /><Relationship Type="http://schemas.openxmlformats.org/officeDocument/2006/relationships/notesMaster" Target="/ppt/notesMasters/notesMaster1.xml" Id="R35e161a57e6b45fe" /></Relationships>
</file>

<file path=ppt/notesSlides/_rels/notesSlide2.xml.rels>&#65279;<?xml version="1.0" encoding="utf-8"?><Relationships xmlns="http://schemas.openxmlformats.org/package/2006/relationships"><Relationship Type="http://schemas.openxmlformats.org/officeDocument/2006/relationships/slide" Target="/ppt/slides/slide2.xml" Id="R566542a9c0384227" /><Relationship Type="http://schemas.openxmlformats.org/officeDocument/2006/relationships/notesMaster" Target="/ppt/notesMasters/notesMaster1.xml" Id="R18dc50d9428f4c1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d4694d58393464f" /><Relationship Type="http://schemas.openxmlformats.org/officeDocument/2006/relationships/notesMaster" Target="/ppt/notesMasters/notesMaster1.xml" Id="Rbf9392b150524fa9" /></Relationships>
</file>

<file path=ppt/notesSlides/_rels/notesSlide4.xml.rels>&#65279;<?xml version="1.0" encoding="utf-8"?><Relationships xmlns="http://schemas.openxmlformats.org/package/2006/relationships"><Relationship Type="http://schemas.openxmlformats.org/officeDocument/2006/relationships/slide" Target="/ppt/slides/slide4.xml" Id="R0af4947f6d4945f2" /><Relationship Type="http://schemas.openxmlformats.org/officeDocument/2006/relationships/notesMaster" Target="/ppt/notesMasters/notesMaster1.xml" Id="Rb208156a5ad44f8e" /></Relationships>
</file>

<file path=ppt/notesSlides/_rels/notesSlide5.xml.rels>&#65279;<?xml version="1.0" encoding="utf-8"?><Relationships xmlns="http://schemas.openxmlformats.org/package/2006/relationships"><Relationship Type="http://schemas.openxmlformats.org/officeDocument/2006/relationships/slide" Target="/ppt/slides/slide5.xml" Id="R3daa96bd0c0e4873" /><Relationship Type="http://schemas.openxmlformats.org/officeDocument/2006/relationships/notesMaster" Target="/ppt/notesMasters/notesMaster1.xml" Id="R8b7da0b66e6445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c8ceed11472d4d74" /><Relationship Type="http://schemas.openxmlformats.org/officeDocument/2006/relationships/notesMaster" Target="/ppt/notesMasters/notesMaster1.xml" Id="Rb97956293e664cce" /></Relationships>
</file>

<file path=ppt/notesSlides/_rels/notesSlide7.xml.rels>&#65279;<?xml version="1.0" encoding="utf-8"?><Relationships xmlns="http://schemas.openxmlformats.org/package/2006/relationships"><Relationship Type="http://schemas.openxmlformats.org/officeDocument/2006/relationships/slide" Target="/ppt/slides/slide7.xml" Id="R4eaf43558d204d99" /><Relationship Type="http://schemas.openxmlformats.org/officeDocument/2006/relationships/notesMaster" Target="/ppt/notesMasters/notesMaster1.xml" Id="R9c64b4c09ddb4d85" /></Relationships>
</file>

<file path=ppt/notesSlides/_rels/notesSlide8.xml.rels>&#65279;<?xml version="1.0" encoding="utf-8"?><Relationships xmlns="http://schemas.openxmlformats.org/package/2006/relationships"><Relationship Type="http://schemas.openxmlformats.org/officeDocument/2006/relationships/slide" Target="/ppt/slides/slide8.xml" Id="Ra4621224571a40d5" /><Relationship Type="http://schemas.openxmlformats.org/officeDocument/2006/relationships/notesMaster" Target="/ppt/notesMasters/notesMaster1.xml" Id="R2562b5c9202441ce" /></Relationships>
</file>

<file path=ppt/notesSlides/_rels/notesSlide9.xml.rels>&#65279;<?xml version="1.0" encoding="utf-8"?><Relationships xmlns="http://schemas.openxmlformats.org/package/2006/relationships"><Relationship Type="http://schemas.openxmlformats.org/officeDocument/2006/relationships/slide" Target="/ppt/slides/slide9.xml" Id="Rbc0c9fb23c2143e0" /><Relationship Type="http://schemas.openxmlformats.org/officeDocument/2006/relationships/notesMaster" Target="/ppt/notesMasters/notesMaster1.xml" Id="R0b1c1cbb7a7240e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af02bca23da491d" /><Relationship Type="http://schemas.openxmlformats.org/officeDocument/2006/relationships/notesMaster" Target="/ppt/notesMasters/notesMaster1.xml" Id="R55e0f10255884cc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75061fc4c54487e" /><Relationship Type="http://schemas.openxmlformats.org/officeDocument/2006/relationships/notesMaster" Target="/ppt/notesMasters/notesMaster1.xml" Id="R80402c16174c4b1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e21f70f169845fd" /><Relationship Type="http://schemas.openxmlformats.org/officeDocument/2006/relationships/notesMaster" Target="/ppt/notesMasters/notesMaster1.xml" Id="R8dd713d90bee4ef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3fa0ef2c40f43ef" /><Relationship Type="http://schemas.openxmlformats.org/officeDocument/2006/relationships/notesMaster" Target="/ppt/notesMasters/notesMaster1.xml" Id="Rfaa49d1509844fa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330577f58004a5f" /><Relationship Type="http://schemas.openxmlformats.org/officeDocument/2006/relationships/notesMaster" Target="/ppt/notesMasters/notesMaster1.xml" Id="Re083157ab69d48b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6d4633e1f484805" /><Relationship Type="http://schemas.openxmlformats.org/officeDocument/2006/relationships/notesMaster" Target="/ppt/notesMasters/notesMaster1.xml" Id="R9ac49634deb347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Ouvrir sur la catégorie visée : Mohasib connecte les opérations financières de l’entreprise et le travail de son comptable. La facturation et l’OCR sont des points d’entrée dans une plateforme plus large.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Idée centrale : le frein n’est pas seulement la comptabilité. C’est le travail manuel nécessaire pour rassembler, retaper, contrôler et faire circuler l’information financière. Ces causes sont un brainstorm de frictions fréquentes à valider auprès des PME et cabinets Mohasib ; ne pas les présenter comme des mesures clients sans données.</a:t>
            </a:r>
          </a:p>
          <a:p xmlns:a="http://schemas.openxmlformats.org/drawingml/2006/main">
            <a:r>
              <a:t/>
            </a:r>
          </a:p>
          <a:p xmlns:a="http://schemas.openxmlformats.org/drawingml/2006/main">
            <a:r>
              <a:t>Brainstorm des causes :</a:t>
            </a:r>
          </a:p>
          <a:p xmlns:a="http://schemas.openxmlformats.org/drawingml/2006/main">
            <a:r>
              <a:t>• Collecte dispersée : factures et reçus reçus par e-mail, WhatsApp, papier, dossiers partagés ou téléphone ; pièces manquantes, en doublon ou difficiles à retrouver ; informations sans format ou nommage commun.</a:t>
            </a:r>
          </a:p>
          <a:p xmlns:a="http://schemas.openxmlformats.org/drawingml/2006/main">
            <a:r>
              <a:t>• Ressaisie : copier les montants, dates, fournisseurs et références d’un document vers un tableur puis vers un outil comptable ; erreurs de frappe ; doublons ; noms fournisseurs/clients incohérents ; corrections répétées.</a:t>
            </a:r>
          </a:p>
          <a:p xmlns:a="http://schemas.openxmlformats.org/drawingml/2006/main">
            <a:r>
              <a:t>• Lecture et classement : scans peu lisibles ; saisie et validation manuelles ; catégorisation des dépenses, comptes, TVA ou période ; cas particuliers qui nécessitent une vérification humaine.</a:t>
            </a:r>
          </a:p>
          <a:p xmlns:a="http://schemas.openxmlformats.org/drawingml/2006/main">
            <a:r>
              <a:t>• Vérification et rapprochement : relier facture, paiement et ligne bancaire ; rechercher les écarts, paiements partiels et frais ; suivre les factures payées ou impayées ; confirmer qu’une pièce est complète et justifiée.</a:t>
            </a:r>
          </a:p>
          <a:p xmlns:a="http://schemas.openxmlformats.org/drawingml/2006/main">
            <a:r>
              <a:t>• Outils séparés : facturation, banque, paie, tableurs, comptabilité et archivage ne partagent pas toujours les mêmes données ; un changement doit être recopié à plusieurs endroits ; chacun garde sa version.</a:t>
            </a:r>
          </a:p>
          <a:p xmlns:a="http://schemas.openxmlformats.org/drawingml/2006/main">
            <a:r>
              <a:t>• Coordination : dirigeant, équipe et cabinet échangent les pièces manquantes et les corrections par plusieurs canaux ; les dossiers incomplets reviennent ; les questions restent en attente ; la clôture se concentre en fin de mois.</a:t>
            </a:r>
          </a:p>
          <a:p xmlns:a="http://schemas.openxmlformats.org/drawingml/2006/main">
            <a:r>
              <a:t>• Visibilité tardive : chiffres disponibles après collecte et contrôle ; trésorerie, dépenses, encaissements, TVA et échéances difficiles à voir au fil de l’eau ; décisions prises avec des données anciennes ou estimées.</a:t>
            </a:r>
          </a:p>
          <a:p xmlns:a="http://schemas.openxmlformats.org/drawingml/2006/main">
            <a:r>
              <a:t>• Effets opérationnels : factures clients émises ou relancées tard ; retards d’encaissement ou de paiement fournisseurs ; moins de temps pour vendre et servir les clients ; dépendance à une personne qui connaît les fichiers ; chaque nouvelle transaction ajoute du travail administratif.</a:t>
            </a:r>
          </a:p>
          <a:p xmlns:a="http://schemas.openxmlformats.org/drawingml/2006/main">
            <a:r>
              <a:t>• Risques et coûts : erreurs évitables, pièces justificatives manquantes, échéances fiscales/sociales plus difficiles à suivre ; temps dirigeant/cabinet absorbé par des tâches répétitives ; visibilité limitée pour anticiper un besoin de trésorerie.</a:t>
            </a:r>
          </a:p>
          <a:p xmlns:a="http://schemas.openxmlformats.org/drawingml/2006/main">
            <a:r>
              <a:t/>
            </a:r>
          </a:p>
          <a:p xmlns:a="http://schemas.openxmlformats.org/drawingml/2006/main">
            <a:r>
              <a:t>Lien avec Mohasib : une même base partagée pour recevoir les pièces, extraire et vérifier les informations, suivre les flux et réutiliser les données dans les briques financières. Le client peut commencer par le besoin urgent (documents/OCR, facturation, dépenses, banque ou paie) et ajouter des usages sans reconstruire ses données. Le cabinet peut participer au même dossier au lieu de récupérer un lot de pièces tardivement. Le pitch doit ensuite étayer chaque bénéfice avec des mesures vérifiables : temps de traitement, délai de clôture, taux de pièces manquantes/à corriger, délai d’encaissement et usage des briques.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Pourquoi maintenant : la stratégie Maroc Digital 2030, le réseau DigiTPME et la numérisation des démarches d’entreprise renforcent le contexte d’adoption. Sources consultées le 4 octobre 2026 : Maroc.ma, lancement du réseau DigiTPME, https://www.maroc.ma/fr/actualites/lancement-du-reseau-digitpme-pour-accelerer-la-transformation-digitale-des-tpme ; Ministère de l’Industrie et du Commerce, entreprises créées en ligne, https://www.mcinet.gov.ma/fr/actualites/ompic-plus-de-50-300-entreprises-creees-par-voie-electronique. Les 50 300+ entreprises sont cumulées depuis le lancement de la plateforme. Les 1 200+ TPME sont une cible annoncée pour la première phase d’accompagnement 2026. Les 95 %+ décrivent la part des TPME dans le tissu économique rapportée par Maroc.ma. La facturation électronique est présentée comme une évolution à suivre, sans affirmer de calendrier réglementaire.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Expliquer le flux : Mohasib reçoit les pièces, structure les données, soutient la gestion quotidienne, puis prépare des sorties comptables et fiscales.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captures montrent l’étendue du produit déjà construit. Revenir ensuite au problème central : relier les opérations aux documents et aux données comptables.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Cette slide présente trois propositions de valeur : visibilité pour le dirigeant, données prêtes à vérifier pour le comptable et processus partagés pour le cabinet.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facturation gratuite est le point d’entrée produit. Les modules et la collaboration peuvent augmenter l’usage et le revenu par entreprise au fil du temps.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 Observatoire Marocain de la TPME, Rapport annuel 2025, données 2024, https://omtpme.ma/wp-content/uploads/2026/01/Annual-Report-Edition-2025_compressed.pdf. Le calcul 388 446 × 299 MAD × 12 = 1 393 744 248 MAD/an est un plafond théorique supposant que toutes les entreprises paient le tarif de base. Il ne constitue ni le marché accessible à court terme, ni une prévision, ni un objectif de vente.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tarifs affichés sont tirés de la configuration actuelle dans src/lib/pricing.ts, consultée le 4 octobre 2026. Les prix et quotas peuvent évoluer et doivent être confirmés avant diffusion externe.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Décrire une première boucle d’acquisition : le produit gratuit attire, l’accompagnement aide à atteindre la première valeur, puis les cabinets peuvent recommander ou déployer Mohasib auprès d’autres dossiers.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 pas présenter la localisation seule comme une barrière concurrentielle. L’avantage visé vient des flux connectés, du contexte accumulé et de l’adoption par les entreprises et leurs cabinets.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Cette slide prouve l’étendue fonctionnelle du produit, pas la traction commerciale. Ajouter des chiffres vérifiés de clients payants, MRR, rétention et usage lorsqu’ils sont disponibles.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plan de 12 mois et les dépenses sont des propositions à valider selon le budget mensuel réel et le runway souhaité. Les 10 cabinets pilotes sont un objectif, pas un résultat acquis.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Demande proposée : 500 000 MAD pour une valorisation pré-money indicative de 4 000 000 MAD. Cela implique 4 500 000 MAD post-money et environ 11,1 % de dilution. La valorisation est un ancrage de négociation, pas une évaluation indépendante. Répartition affichée : 200 000 MAD produit, 125 000 acquisition, 75 000 accompagnement client, 50 000 infrastructure et 50 000 réserve.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Cette carte positionne Mohasib par rapport à des catégories de solutions. Ce n’est pas une comparaison vérifiée de fonctionnalités concurrentes. Ajouter des noms seulement après vérification de leurs offres actuelles.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f5c90ac07084fa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d6262145034cc4" /><Relationship Type="http://schemas.openxmlformats.org/officeDocument/2006/relationships/slideLayout" Target="/ppt/slideLayouts/slideLayout1.xml" Id="Rc41da2eaf71646e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41da2eaf71646e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2eb67649fd94db7" /><Relationship Type="http://schemas.openxmlformats.org/officeDocument/2006/relationships/image" Target="/ppt/media/image.png" Id="R47c4110760b74c08" /><Relationship Type="http://schemas.openxmlformats.org/officeDocument/2006/relationships/image" Target="/ppt/media/image2.png" Id="Rf8fefa77e9314b7f" /><Relationship Type="http://schemas.openxmlformats.org/officeDocument/2006/relationships/image" Target="/ppt/media/image3.png" Id="Ra2cd630183fb4238" /><Relationship Type="http://schemas.openxmlformats.org/officeDocument/2006/relationships/notesSlide" Target="/ppt/notesSlides/notesSlide1.xml" Id="Re70de0fe42d4480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375aed429d24eb7" /><Relationship Type="http://schemas.openxmlformats.org/officeDocument/2006/relationships/notesSlide" Target="/ppt/notesSlides/notesSlide2.xml" Id="R40cb85c0fb664cb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e5a41fb915b4fca" /><Relationship Type="http://schemas.openxmlformats.org/officeDocument/2006/relationships/notesSlide" Target="/ppt/notesSlides/notesSlide3.xml" Id="R0da5a82ef26843f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3ef39c446304acb" /><Relationship Type="http://schemas.openxmlformats.org/officeDocument/2006/relationships/notesSlide" Target="/ppt/notesSlides/notesSlide4.xml" Id="R2f9bf016d1aa4d3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14c1e690e6f41ad" /><Relationship Type="http://schemas.openxmlformats.org/officeDocument/2006/relationships/image" Target="/ppt/media/image4.png" Id="Ra960fac412fc4ee5" /><Relationship Type="http://schemas.openxmlformats.org/officeDocument/2006/relationships/image" Target="/ppt/media/image5.png" Id="Re8b0d2146209421b" /><Relationship Type="http://schemas.openxmlformats.org/officeDocument/2006/relationships/image" Target="/ppt/media/image6.png" Id="Rcb4a0046ce284995" /><Relationship Type="http://schemas.openxmlformats.org/officeDocument/2006/relationships/image" Target="/ppt/media/image7.png" Id="R8949fe98d4a948ae" /><Relationship Type="http://schemas.openxmlformats.org/officeDocument/2006/relationships/image" Target="/ppt/media/image8.png" Id="R5ce39176def54274" /><Relationship Type="http://schemas.openxmlformats.org/officeDocument/2006/relationships/notesSlide" Target="/ppt/notesSlides/notesSlide5.xml" Id="R5365326213b7447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8723ec0f27643e6" /><Relationship Type="http://schemas.openxmlformats.org/officeDocument/2006/relationships/notesSlide" Target="/ppt/notesSlides/notesSlide6.xml" Id="Rf827c7ce45a546b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0e9ed814e7b4cda" /><Relationship Type="http://schemas.openxmlformats.org/officeDocument/2006/relationships/notesSlide" Target="/ppt/notesSlides/notesSlide7.xml" Id="R8f617575b6b84d7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eb5362148b7403b" /><Relationship Type="http://schemas.openxmlformats.org/officeDocument/2006/relationships/notesSlide" Target="/ppt/notesSlides/notesSlide8.xml" Id="R2f9e21fb089b4e1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6650121cb604cde" /><Relationship Type="http://schemas.openxmlformats.org/officeDocument/2006/relationships/notesSlide" Target="/ppt/notesSlides/notesSlide9.xml" Id="Rbb10a5537819460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beedfc524ab40e2" /><Relationship Type="http://schemas.openxmlformats.org/officeDocument/2006/relationships/notesSlide" Target="/ppt/notesSlides/notesSlide10.xml" Id="Rafd210de4926429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0f23d1401ca4e76" /><Relationship Type="http://schemas.openxmlformats.org/officeDocument/2006/relationships/notesSlide" Target="/ppt/notesSlides/notesSlide11.xml" Id="Rbe29d59a630d419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b46adf4dd47418d" /><Relationship Type="http://schemas.openxmlformats.org/officeDocument/2006/relationships/image" Target="/ppt/media/image9.png" Id="Rd6ef1df8e2224d72" /><Relationship Type="http://schemas.openxmlformats.org/officeDocument/2006/relationships/notesSlide" Target="/ppt/notesSlides/notesSlide12.xml" Id="Rfcc4640c5f294d3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e1ece13fbc1457c" /><Relationship Type="http://schemas.openxmlformats.org/officeDocument/2006/relationships/notesSlide" Target="/ppt/notesSlides/notesSlide13.xml" Id="R8437c9be175e421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00178e2050d4e44" /><Relationship Type="http://schemas.openxmlformats.org/officeDocument/2006/relationships/image" Target="/ppt/media/image10.png" Id="R60c1bd8881ab4057" /><Relationship Type="http://schemas.openxmlformats.org/officeDocument/2006/relationships/notesSlide" Target="/ppt/notesSlides/notesSlide14.xml" Id="R191d13af51914b2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94cd4beb7a249ec" /><Relationship Type="http://schemas.openxmlformats.org/officeDocument/2006/relationships/notesSlide" Target="/ppt/notesSlides/notesSlide15.xml" Id="Rfdebdea5c9a74ed7" /></Relationships>
</file>

<file path=ppt/slides/slide1.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8EFE4637-4270-404F-9A32-EC8039C5A416}"/>
              </a:ext>
            </a:extLst>
          </p:cNvPr>
          <p:cNvPicPr>
            <a:picLocks xmlns:a="http://schemas.openxmlformats.org/drawingml/2006/main" noChangeAspect="1"/>
          </p:cNvPicPr>
          <p:nvPr/>
        </p:nvPicPr>
        <p:blipFill>
          <a:blip xmlns:r="http://schemas.openxmlformats.org/officeDocument/2006/relationships" xmlns:a="http://schemas.openxmlformats.org/drawingml/2006/main" r:embed="R47c4110760b74c08"/>
          <a:stretch xmlns:a="http://schemas.openxmlformats.org/drawingml/2006/main"/>
        </p:blipFill>
        <p:spPr>
          <a:xfrm xmlns:a="http://schemas.openxmlformats.org/drawingml/2006/main">
            <a:off x="8524875" y="1493044"/>
            <a:ext cx="2428875" cy="3643313"/>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D8DB028F-022C-4748-812C-947C12EF55D2}"/>
              </a:ext>
            </a:extLst>
          </p:cNvPr>
          <p:cNvPicPr>
            <a:picLocks xmlns:a="http://schemas.openxmlformats.org/drawingml/2006/main" noChangeAspect="1"/>
          </p:cNvPicPr>
          <p:nvPr/>
        </p:nvPicPr>
        <p:blipFill>
          <a:blip xmlns:r="http://schemas.openxmlformats.org/officeDocument/2006/relationships" xmlns:a="http://schemas.openxmlformats.org/drawingml/2006/main" r:embed="Rf8fefa77e9314b7f"/>
          <a:stretch xmlns:a="http://schemas.openxmlformats.org/drawingml/2006/main"/>
        </p:blipFill>
        <p:spPr>
          <a:xfrm xmlns:a="http://schemas.openxmlformats.org/drawingml/2006/main">
            <a:off x="38100" y="4660106"/>
            <a:ext cx="1000125" cy="1500188"/>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202C5640-11E7-489D-99BA-8BED8996A2D6}"/>
              </a:ext>
            </a:extLst>
          </p:cNvPr>
          <p:cNvPicPr>
            <a:picLocks xmlns:a="http://schemas.openxmlformats.org/drawingml/2006/main" noChangeAspect="1"/>
          </p:cNvPicPr>
          <p:nvPr/>
        </p:nvPicPr>
        <p:blipFill>
          <a:blip xmlns:r="http://schemas.openxmlformats.org/officeDocument/2006/relationships" xmlns:a="http://schemas.openxmlformats.org/drawingml/2006/main" r:embed="Ra2cd630183fb4238"/>
          <a:stretch xmlns:a="http://schemas.openxmlformats.org/drawingml/2006/main"/>
        </p:blipFill>
        <p:spPr>
          <a:xfrm xmlns:a="http://schemas.openxmlformats.org/drawingml/2006/main">
            <a:off x="616667" y="457200"/>
            <a:ext cx="2176616" cy="4381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4A8D205-9A23-414C-A3FF-25E06C52A576}"/>
              </a:ext>
            </a:extLst>
          </p:cNvPr>
          <p:cNvSpPr>
            <a:spLocks xmlns:a="http://schemas.openxmlformats.org/drawingml/2006/main" noGrp="1"/>
          </p:cNvSpPr>
          <p:nvPr/>
        </p:nvSpPr>
        <p:spPr>
          <a:xfrm xmlns:a="http://schemas.openxmlformats.org/drawingml/2006/main">
            <a:off x="609600" y="1581150"/>
            <a:ext cx="72390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375" b="1" i="0">
                <a:solidFill>
                  <a:srgbClr val="172126"/>
                </a:solidFill>
              </a:defRPr>
            </a:pPr>
            <a:r>
              <a:rPr sz="3375" b="1" i="0">
                <a:solidFill>
                  <a:srgbClr val="172126"/>
                </a:solidFill>
              </a:rPr>
              <a:t>LA PLATEFORME FINANCIÈRE</a:t>
            </a:r>
          </a:p>
          <a:p xmlns:a="http://schemas.openxmlformats.org/drawingml/2006/main">
            <a:pPr algn="l">
              <a:buNone/>
              <a:defRPr sz="3375" b="1" i="0">
                <a:solidFill>
                  <a:srgbClr val="172126"/>
                </a:solidFill>
              </a:defRPr>
            </a:pPr>
            <a:r>
              <a:rPr sz="3375" b="1" i="0">
                <a:solidFill>
                  <a:srgbClr val="172126"/>
                </a:solidFill>
              </a:rPr>
              <a:t>DES ENTREPRISES MAROCAINES</a:t>
            </a:r>
          </a:p>
        </p:txBody>
      </p:sp>
      <p:sp>
        <p:nvSpPr>
          <p:cNvPr id="5" name="">
            <a:extLst xmlns:a="http://schemas.openxmlformats.org/drawingml/2006/main">
              <a:ext uri="{FF2B5EF4-FFF2-40B4-BE49-F238E27FC236}">
                <a16:creationId xmlns:a16="http://schemas.microsoft.com/office/drawing/2014/main" id="{41E68B1F-BABE-4AD6-8C81-B1EFBC273880}"/>
              </a:ext>
            </a:extLst>
          </p:cNvPr>
          <p:cNvSpPr>
            <a:spLocks xmlns:a="http://schemas.openxmlformats.org/drawingml/2006/main" noGrp="1"/>
          </p:cNvSpPr>
          <p:nvPr/>
        </p:nvSpPr>
        <p:spPr>
          <a:xfrm xmlns:a="http://schemas.openxmlformats.org/drawingml/2006/main">
            <a:off x="647700" y="3924300"/>
            <a:ext cx="63341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i="0">
                <a:solidFill>
                  <a:srgbClr val="686C69"/>
                </a:solidFill>
              </a:defRPr>
            </a:pPr>
            <a:r>
              <a:rPr sz="1500" b="0" i="0">
                <a:solidFill>
                  <a:srgbClr val="686C69"/>
                </a:solidFill>
              </a:rPr>
              <a:t>Les briques financières dont une entreprise a besoin, réunies dans un même espace.</a:t>
            </a:r>
          </a:p>
        </p:txBody>
      </p:sp>
      <p:sp>
        <p:nvSpPr>
          <p:cNvPr id="6" name="">
            <a:extLst xmlns:a="http://schemas.openxmlformats.org/drawingml/2006/main">
              <a:ext uri="{FF2B5EF4-FFF2-40B4-BE49-F238E27FC236}">
                <a16:creationId xmlns:a16="http://schemas.microsoft.com/office/drawing/2014/main" id="{5C82937F-8A00-4B06-9F92-A6480B6518CF}"/>
              </a:ext>
            </a:extLst>
          </p:cNvPr>
          <p:cNvSpPr>
            <a:spLocks xmlns:a="http://schemas.openxmlformats.org/drawingml/2006/main" noGrp="1"/>
          </p:cNvSpPr>
          <p:nvPr/>
        </p:nvSpPr>
        <p:spPr>
          <a:xfrm xmlns:a="http://schemas.openxmlformats.org/drawingml/2006/main">
            <a:off x="647700" y="5048250"/>
            <a:ext cx="1581150" cy="257175"/>
          </a:xfrm>
          <a:prstGeom xmlns:a="http://schemas.openxmlformats.org/drawingml/2006/main" prst="roundRect">
            <a:avLst>
              <a:gd name="adj" fmla="val 50000"/>
            </a:avLst>
          </a:prstGeom>
          <a:solidFill xmlns:a="http://schemas.openxmlformats.org/drawingml/2006/main">
            <a:srgbClr val="C96F52"/>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7C9DD6CF-225B-47D3-88BD-43AD94F76275}"/>
              </a:ext>
            </a:extLst>
          </p:cNvPr>
          <p:cNvSpPr>
            <a:spLocks xmlns:a="http://schemas.openxmlformats.org/drawingml/2006/main" noGrp="1"/>
          </p:cNvSpPr>
          <p:nvPr/>
        </p:nvSpPr>
        <p:spPr>
          <a:xfrm xmlns:a="http://schemas.openxmlformats.org/drawingml/2006/main">
            <a:off x="742950" y="5095875"/>
            <a:ext cx="13906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825" b="1" i="0">
                <a:solidFill>
                  <a:srgbClr val="FFFDF8"/>
                </a:solidFill>
              </a:defRPr>
            </a:pPr>
            <a:r>
              <a:rPr sz="825" b="1" i="0">
                <a:solidFill>
                  <a:srgbClr val="FFFDF8"/>
                </a:solidFill>
              </a:rPr>
              <a:t>LEVÉE PRÉ-SEED · 2026</a:t>
            </a:r>
          </a:p>
        </p:txBody>
      </p:sp>
      <p:sp>
        <p:nvSpPr>
          <p:cNvPr id="8" name="">
            <a:extLst xmlns:a="http://schemas.openxmlformats.org/drawingml/2006/main">
              <a:ext uri="{FF2B5EF4-FFF2-40B4-BE49-F238E27FC236}">
                <a16:creationId xmlns:a16="http://schemas.microsoft.com/office/drawing/2014/main" id="{C64ED23E-4742-4885-A7B2-E22D59A438B1}"/>
              </a:ext>
            </a:extLst>
          </p:cNvPr>
          <p:cNvSpPr>
            <a:spLocks xmlns:a="http://schemas.openxmlformats.org/drawingml/2006/main" noGrp="1"/>
          </p:cNvSpPr>
          <p:nvPr/>
        </p:nvSpPr>
        <p:spPr>
          <a:xfrm xmlns:a="http://schemas.openxmlformats.org/drawingml/2006/main">
            <a:off x="647700" y="61912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172126"/>
                </a:solidFill>
              </a:defRPr>
            </a:pPr>
            <a:r>
              <a:rPr sz="1050" b="1" i="0">
                <a:solidFill>
                  <a:srgbClr val="172126"/>
                </a:solidFill>
              </a:rPr>
              <a:t>mohasibai.com</a:t>
            </a:r>
          </a:p>
        </p:txBody>
      </p:sp>
    </p:spTree>
    <p:extLst>
      <p:ext uri="{BB962C8B-B14F-4D97-AF65-F5344CB8AC3E}">
        <p14:creationId xmlns:p14="http://schemas.microsoft.com/office/powerpoint/2010/main" val="17201834"/>
      </p:ext>
    </p:extLst>
  </p:cSld>
</p:sld>
</file>

<file path=ppt/slides/slide2.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3AA0250-8ADA-4439-BAAA-84D5477D73FD}"/>
              </a:ext>
            </a:extLst>
          </p:cNvPr>
          <p:cNvSpPr>
            <a:spLocks xmlns:a="http://schemas.openxmlformats.org/drawingml/2006/main" noGrp="1"/>
          </p:cNvSpPr>
          <p:nvPr/>
        </p:nvSpPr>
        <p:spPr>
          <a:xfrm xmlns:a="http://schemas.openxmlformats.org/drawingml/2006/main">
            <a:off x="533400" y="285750"/>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686C69"/>
                </a:solidFill>
              </a:defRPr>
            </a:pPr>
            <a:r>
              <a:rPr sz="825" b="1" i="0">
                <a:solidFill>
                  <a:srgbClr val="686C69"/>
                </a:solidFill>
              </a:rPr>
              <a:t>LE PROBLÈME</a:t>
            </a:r>
          </a:p>
        </p:txBody>
      </p:sp>
      <p:sp>
        <p:nvSpPr>
          <p:cNvPr id="2" name="">
            <a:extLst xmlns:a="http://schemas.openxmlformats.org/drawingml/2006/main">
              <a:ext uri="{FF2B5EF4-FFF2-40B4-BE49-F238E27FC236}">
                <a16:creationId xmlns:a16="http://schemas.microsoft.com/office/drawing/2014/main" id="{C6C14A56-24A4-4749-8B01-00FB1B504957}"/>
              </a:ext>
            </a:extLst>
          </p:cNvPr>
          <p:cNvSpPr>
            <a:spLocks xmlns:a="http://schemas.openxmlformats.org/drawingml/2006/main" noGrp="1"/>
          </p:cNvSpPr>
          <p:nvPr/>
        </p:nvSpPr>
        <p:spPr>
          <a:xfrm xmlns:a="http://schemas.openxmlformats.org/drawingml/2006/main">
            <a:off x="11201400" y="2667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i="0">
                <a:solidFill>
                  <a:srgbClr val="686C69"/>
                </a:solidFill>
              </a:defRPr>
            </a:pPr>
            <a:r>
              <a:rPr sz="900" b="1" i="0">
                <a:solidFill>
                  <a:srgbClr val="686C69"/>
                </a:solidFill>
              </a:rPr>
              <a:t>02</a:t>
            </a:r>
          </a:p>
        </p:txBody>
      </p:sp>
      <p:sp>
        <p:nvSpPr>
          <p:cNvPr id="3" name="">
            <a:extLst xmlns:a="http://schemas.openxmlformats.org/drawingml/2006/main">
              <a:ext uri="{FF2B5EF4-FFF2-40B4-BE49-F238E27FC236}">
                <a16:creationId xmlns:a16="http://schemas.microsoft.com/office/drawing/2014/main" id="{421B5554-1D9F-4595-8FAB-23280790383E}"/>
              </a:ext>
            </a:extLst>
          </p:cNvPr>
          <p:cNvSpPr>
            <a:spLocks xmlns:a="http://schemas.openxmlformats.org/drawingml/2006/main" noGrp="1"/>
          </p:cNvSpPr>
          <p:nvPr/>
        </p:nvSpPr>
        <p:spPr>
          <a:xfrm xmlns:a="http://schemas.openxmlformats.org/drawingml/2006/main">
            <a:off x="533400" y="552450"/>
            <a:ext cx="11125200" cy="9525"/>
          </a:xfrm>
          <a:prstGeom xmlns:a="http://schemas.openxmlformats.org/drawingml/2006/main" prst="rect">
            <a:avLst/>
          </a:prstGeom>
          <a:solidFill xmlns:a="http://schemas.openxmlformats.org/drawingml/2006/main">
            <a:srgbClr val="D8D0C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EDA9736-193B-4D24-8B2A-778429673F47}"/>
              </a:ext>
            </a:extLst>
          </p:cNvPr>
          <p:cNvSpPr>
            <a:spLocks xmlns:a="http://schemas.openxmlformats.org/drawingml/2006/main" noGrp="1"/>
          </p:cNvSpPr>
          <p:nvPr/>
        </p:nvSpPr>
        <p:spPr>
          <a:xfrm xmlns:a="http://schemas.openxmlformats.org/drawingml/2006/main">
            <a:off x="609600" y="8001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C96F52"/>
                </a:solidFill>
              </a:defRPr>
            </a:pPr>
            <a:r>
              <a:rPr sz="900" b="1" i="0">
                <a:solidFill>
                  <a:srgbClr val="C96F52"/>
                </a:solidFill>
              </a:rPr>
              <a:t>LE TRAVAIL FINANCIER MANUEL</a:t>
            </a:r>
          </a:p>
        </p:txBody>
      </p:sp>
      <p:sp>
        <p:nvSpPr>
          <p:cNvPr id="5" name="">
            <a:extLst xmlns:a="http://schemas.openxmlformats.org/drawingml/2006/main">
              <a:ext uri="{FF2B5EF4-FFF2-40B4-BE49-F238E27FC236}">
                <a16:creationId xmlns:a16="http://schemas.microsoft.com/office/drawing/2014/main" id="{8266B8BF-3A4C-45D6-894A-074E2688E8E8}"/>
              </a:ext>
            </a:extLst>
          </p:cNvPr>
          <p:cNvSpPr>
            <a:spLocks xmlns:a="http://schemas.openxmlformats.org/drawingml/2006/main" noGrp="1"/>
          </p:cNvSpPr>
          <p:nvPr/>
        </p:nvSpPr>
        <p:spPr>
          <a:xfrm xmlns:a="http://schemas.openxmlformats.org/drawingml/2006/main">
            <a:off x="609600" y="114300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225" b="1" i="0">
                <a:solidFill>
                  <a:srgbClr val="172126"/>
                </a:solidFill>
              </a:defRPr>
            </a:pPr>
            <a:r>
              <a:rPr sz="3225" b="1" i="0">
                <a:solidFill>
                  <a:srgbClr val="172126"/>
                </a:solidFill>
              </a:rPr>
              <a:t>Le travail financier manuel ralentit l’entreprise.</a:t>
            </a:r>
          </a:p>
        </p:txBody>
      </p:sp>
      <p:sp>
        <p:nvSpPr>
          <p:cNvPr id="6" name="">
            <a:extLst xmlns:a="http://schemas.openxmlformats.org/drawingml/2006/main">
              <a:ext uri="{FF2B5EF4-FFF2-40B4-BE49-F238E27FC236}">
                <a16:creationId xmlns:a16="http://schemas.microsoft.com/office/drawing/2014/main" id="{F2E1AF71-A6FD-43C0-A565-8616DFDEE039}"/>
              </a:ext>
            </a:extLst>
          </p:cNvPr>
          <p:cNvSpPr>
            <a:spLocks xmlns:a="http://schemas.openxmlformats.org/drawingml/2006/main" noGrp="1"/>
          </p:cNvSpPr>
          <p:nvPr/>
        </p:nvSpPr>
        <p:spPr>
          <a:xfrm xmlns:a="http://schemas.openxmlformats.org/drawingml/2006/main">
            <a:off x="628650" y="2114550"/>
            <a:ext cx="8858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i="0">
                <a:solidFill>
                  <a:srgbClr val="686C69"/>
                </a:solidFill>
              </a:defRPr>
            </a:pPr>
            <a:r>
              <a:rPr sz="1425" b="0" i="0">
                <a:solidFill>
                  <a:srgbClr val="686C69"/>
                </a:solidFill>
              </a:rPr>
              <a:t>Les pièces sont dispersées, les vérifications se font à la main et les décisions attendent.</a:t>
            </a:r>
          </a:p>
        </p:txBody>
      </p:sp>
      <p:sp>
        <p:nvSpPr>
          <p:cNvPr id="7" name="">
            <a:extLst xmlns:a="http://schemas.openxmlformats.org/drawingml/2006/main">
              <a:ext uri="{FF2B5EF4-FFF2-40B4-BE49-F238E27FC236}">
                <a16:creationId xmlns:a16="http://schemas.microsoft.com/office/drawing/2014/main" id="{B0F94ACB-DF0D-4131-8CEF-A10EBF755592}"/>
              </a:ext>
            </a:extLst>
          </p:cNvPr>
          <p:cNvSpPr>
            <a:spLocks xmlns:a="http://schemas.openxmlformats.org/drawingml/2006/main" noGrp="1"/>
          </p:cNvSpPr>
          <p:nvPr/>
        </p:nvSpPr>
        <p:spPr>
          <a:xfrm xmlns:a="http://schemas.openxmlformats.org/drawingml/2006/main">
            <a:off x="704850" y="3257550"/>
            <a:ext cx="2362200" cy="2209800"/>
          </a:xfrm>
          <a:prstGeom xmlns:a="http://schemas.openxmlformats.org/drawingml/2006/main" prst="roundRect">
            <a:avLst>
              <a:gd name="adj" fmla="val 862"/>
            </a:avLst>
          </a:prstGeom>
          <a:solidFill xmlns:a="http://schemas.openxmlformats.org/drawingml/2006/main">
            <a:srgbClr val="000000">
              <a:alpha val="7059"/>
            </a:srgbClr>
          </a:solidFill>
          <a:ln xmlns:a="http://schemas.openxmlformats.org/drawingml/2006/main" w="0">
            <a:noFill/>
            <a:prstDash val="solid"/>
          </a:ln>
        </p:spPr>
      </p:sp>
      <p:sp>
        <p:nvSpPr>
          <p:cNvPr id="8" name="paper-card">
            <a:extLst xmlns:a="http://schemas.openxmlformats.org/drawingml/2006/main">
              <a:ext uri="{FF2B5EF4-FFF2-40B4-BE49-F238E27FC236}">
                <a16:creationId xmlns:a16="http://schemas.microsoft.com/office/drawing/2014/main" id="{3C6BB752-9D69-40F9-99FC-61F3A7071B6E}"/>
              </a:ext>
            </a:extLst>
          </p:cNvPr>
          <p:cNvSpPr>
            <a:spLocks xmlns:a="http://schemas.openxmlformats.org/drawingml/2006/main" noGrp="1"/>
          </p:cNvSpPr>
          <p:nvPr/>
        </p:nvSpPr>
        <p:spPr>
          <a:xfrm xmlns:a="http://schemas.openxmlformats.org/drawingml/2006/main">
            <a:off x="628650" y="3162300"/>
            <a:ext cx="2362200" cy="2209800"/>
          </a:xfrm>
          <a:prstGeom xmlns:a="http://schemas.openxmlformats.org/drawingml/2006/main" prst="roundRect">
            <a:avLst>
              <a:gd name="adj" fmla="val 862"/>
            </a:avLst>
          </a:prstGeom>
          <a:solidFill xmlns:a="http://schemas.openxmlformats.org/drawingml/2006/main">
            <a:srgbClr val="FFFDF8"/>
          </a:solidFill>
          <a:ln xmlns:a="http://schemas.openxmlformats.org/drawingml/2006/main" w="9525">
            <a:solidFill>
              <a:srgbClr val="D8D0C3"/>
            </a:solidFill>
            <a:prstDash val="solid"/>
          </a:ln>
        </p:spPr>
      </p:sp>
      <p:sp>
        <p:nvSpPr>
          <p:cNvPr id="9" name="">
            <a:extLst xmlns:a="http://schemas.openxmlformats.org/drawingml/2006/main">
              <a:ext uri="{FF2B5EF4-FFF2-40B4-BE49-F238E27FC236}">
                <a16:creationId xmlns:a16="http://schemas.microsoft.com/office/drawing/2014/main" id="{E59A3A38-D16F-4151-B4DB-21E6F3E19ACF}"/>
              </a:ext>
            </a:extLst>
          </p:cNvPr>
          <p:cNvSpPr>
            <a:spLocks xmlns:a="http://schemas.openxmlformats.org/drawingml/2006/main" noGrp="1"/>
          </p:cNvSpPr>
          <p:nvPr/>
        </p:nvSpPr>
        <p:spPr>
          <a:xfrm xmlns:a="http://schemas.openxmlformats.org/drawingml/2006/main">
            <a:off x="819150" y="33337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C96F52"/>
                </a:solidFill>
              </a:defRPr>
            </a:pPr>
            <a:r>
              <a:rPr sz="900" b="1" i="0">
                <a:solidFill>
                  <a:srgbClr val="C96F52"/>
                </a:solidFill>
              </a:rPr>
              <a:t>01</a:t>
            </a:r>
          </a:p>
        </p:txBody>
      </p:sp>
      <p:sp>
        <p:nvSpPr>
          <p:cNvPr id="10" name="">
            <a:extLst xmlns:a="http://schemas.openxmlformats.org/drawingml/2006/main">
              <a:ext uri="{FF2B5EF4-FFF2-40B4-BE49-F238E27FC236}">
                <a16:creationId xmlns:a16="http://schemas.microsoft.com/office/drawing/2014/main" id="{991B2A3B-FFDD-4351-82EB-3D2A46FD123D}"/>
              </a:ext>
            </a:extLst>
          </p:cNvPr>
          <p:cNvSpPr>
            <a:spLocks xmlns:a="http://schemas.openxmlformats.org/drawingml/2006/main" noGrp="1"/>
          </p:cNvSpPr>
          <p:nvPr/>
        </p:nvSpPr>
        <p:spPr>
          <a:xfrm xmlns:a="http://schemas.openxmlformats.org/drawingml/2006/main">
            <a:off x="819150" y="3743325"/>
            <a:ext cx="190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i="0">
                <a:solidFill>
                  <a:srgbClr val="172126"/>
                </a:solidFill>
              </a:defRPr>
            </a:pPr>
            <a:r>
              <a:rPr sz="2025" b="1" i="0">
                <a:solidFill>
                  <a:srgbClr val="172126"/>
                </a:solidFill>
              </a:rPr>
              <a:t>Collecter</a:t>
            </a:r>
          </a:p>
        </p:txBody>
      </p:sp>
      <p:sp>
        <p:nvSpPr>
          <p:cNvPr id="11" name="">
            <a:extLst xmlns:a="http://schemas.openxmlformats.org/drawingml/2006/main">
              <a:ext uri="{FF2B5EF4-FFF2-40B4-BE49-F238E27FC236}">
                <a16:creationId xmlns:a16="http://schemas.microsoft.com/office/drawing/2014/main" id="{D03E6D1B-2B73-4E88-96E6-AF4C720F7EE4}"/>
              </a:ext>
            </a:extLst>
          </p:cNvPr>
          <p:cNvSpPr>
            <a:spLocks xmlns:a="http://schemas.openxmlformats.org/drawingml/2006/main" noGrp="1"/>
          </p:cNvSpPr>
          <p:nvPr/>
        </p:nvSpPr>
        <p:spPr>
          <a:xfrm xmlns:a="http://schemas.openxmlformats.org/drawingml/2006/main">
            <a:off x="819150" y="4276725"/>
            <a:ext cx="1885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i="0">
                <a:solidFill>
                  <a:srgbClr val="686C69"/>
                </a:solidFill>
              </a:defRPr>
            </a:pPr>
            <a:r>
              <a:rPr sz="1200" b="0" i="0">
                <a:solidFill>
                  <a:srgbClr val="686C69"/>
                </a:solidFill>
              </a:rPr>
              <a:t>Factures et reçus arrivent par e-mail, WhatsApp et papier.</a:t>
            </a:r>
          </a:p>
        </p:txBody>
      </p:sp>
      <p:sp>
        <p:nvSpPr>
          <p:cNvPr id="12" name="">
            <a:extLst xmlns:a="http://schemas.openxmlformats.org/drawingml/2006/main">
              <a:ext uri="{FF2B5EF4-FFF2-40B4-BE49-F238E27FC236}">
                <a16:creationId xmlns:a16="http://schemas.microsoft.com/office/drawing/2014/main" id="{0C39E0AB-09A9-43B3-B560-69E179C24D2D}"/>
              </a:ext>
            </a:extLst>
          </p:cNvPr>
          <p:cNvSpPr>
            <a:spLocks xmlns:a="http://schemas.openxmlformats.org/drawingml/2006/main" noGrp="1"/>
          </p:cNvSpPr>
          <p:nvPr/>
        </p:nvSpPr>
        <p:spPr>
          <a:xfrm xmlns:a="http://schemas.openxmlformats.org/drawingml/2006/main">
            <a:off x="3467100" y="3409950"/>
            <a:ext cx="2362200" cy="2209800"/>
          </a:xfrm>
          <a:prstGeom xmlns:a="http://schemas.openxmlformats.org/drawingml/2006/main" prst="roundRect">
            <a:avLst>
              <a:gd name="adj" fmla="val 862"/>
            </a:avLst>
          </a:prstGeom>
          <a:solidFill xmlns:a="http://schemas.openxmlformats.org/drawingml/2006/main">
            <a:srgbClr val="000000">
              <a:alpha val="7059"/>
            </a:srgbClr>
          </a:solidFill>
          <a:ln xmlns:a="http://schemas.openxmlformats.org/drawingml/2006/main" w="0">
            <a:noFill/>
            <a:prstDash val="solid"/>
          </a:ln>
        </p:spPr>
      </p:sp>
      <p:sp>
        <p:nvSpPr>
          <p:cNvPr id="13" name="paper-card">
            <a:extLst xmlns:a="http://schemas.openxmlformats.org/drawingml/2006/main">
              <a:ext uri="{FF2B5EF4-FFF2-40B4-BE49-F238E27FC236}">
                <a16:creationId xmlns:a16="http://schemas.microsoft.com/office/drawing/2014/main" id="{F6BC7707-ABC8-42B6-ADC1-DBD443F66632}"/>
              </a:ext>
            </a:extLst>
          </p:cNvPr>
          <p:cNvSpPr>
            <a:spLocks xmlns:a="http://schemas.openxmlformats.org/drawingml/2006/main" noGrp="1"/>
          </p:cNvSpPr>
          <p:nvPr/>
        </p:nvSpPr>
        <p:spPr>
          <a:xfrm xmlns:a="http://schemas.openxmlformats.org/drawingml/2006/main">
            <a:off x="3390900" y="3314700"/>
            <a:ext cx="2362200" cy="2209800"/>
          </a:xfrm>
          <a:prstGeom xmlns:a="http://schemas.openxmlformats.org/drawingml/2006/main" prst="roundRect">
            <a:avLst>
              <a:gd name="adj" fmla="val 862"/>
            </a:avLst>
          </a:prstGeom>
          <a:solidFill xmlns:a="http://schemas.openxmlformats.org/drawingml/2006/main">
            <a:srgbClr val="FFFDF8"/>
          </a:solidFill>
          <a:ln xmlns:a="http://schemas.openxmlformats.org/drawingml/2006/main" w="9525">
            <a:solidFill>
              <a:srgbClr val="D8D0C3"/>
            </a:solidFill>
            <a:prstDash val="solid"/>
          </a:ln>
        </p:spPr>
      </p:sp>
      <p:sp>
        <p:nvSpPr>
          <p:cNvPr id="14" name="">
            <a:extLst xmlns:a="http://schemas.openxmlformats.org/drawingml/2006/main">
              <a:ext uri="{FF2B5EF4-FFF2-40B4-BE49-F238E27FC236}">
                <a16:creationId xmlns:a16="http://schemas.microsoft.com/office/drawing/2014/main" id="{2F570A13-64F9-4B21-AE81-03ACE7E4A01B}"/>
              </a:ext>
            </a:extLst>
          </p:cNvPr>
          <p:cNvSpPr>
            <a:spLocks xmlns:a="http://schemas.openxmlformats.org/drawingml/2006/main" noGrp="1"/>
          </p:cNvSpPr>
          <p:nvPr/>
        </p:nvSpPr>
        <p:spPr>
          <a:xfrm xmlns:a="http://schemas.openxmlformats.org/drawingml/2006/main">
            <a:off x="3581400" y="34861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C96F52"/>
                </a:solidFill>
              </a:defRPr>
            </a:pPr>
            <a:r>
              <a:rPr sz="900" b="1" i="0">
                <a:solidFill>
                  <a:srgbClr val="C96F52"/>
                </a:solidFill>
              </a:rPr>
              <a:t>02</a:t>
            </a:r>
          </a:p>
        </p:txBody>
      </p:sp>
      <p:sp>
        <p:nvSpPr>
          <p:cNvPr id="15" name="">
            <a:extLst xmlns:a="http://schemas.openxmlformats.org/drawingml/2006/main">
              <a:ext uri="{FF2B5EF4-FFF2-40B4-BE49-F238E27FC236}">
                <a16:creationId xmlns:a16="http://schemas.microsoft.com/office/drawing/2014/main" id="{85B5B48F-A7F2-44B0-9230-5BEE7EE24762}"/>
              </a:ext>
            </a:extLst>
          </p:cNvPr>
          <p:cNvSpPr>
            <a:spLocks xmlns:a="http://schemas.openxmlformats.org/drawingml/2006/main" noGrp="1"/>
          </p:cNvSpPr>
          <p:nvPr/>
        </p:nvSpPr>
        <p:spPr>
          <a:xfrm xmlns:a="http://schemas.openxmlformats.org/drawingml/2006/main">
            <a:off x="3581400" y="3895725"/>
            <a:ext cx="190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i="0">
                <a:solidFill>
                  <a:srgbClr val="172126"/>
                </a:solidFill>
              </a:defRPr>
            </a:pPr>
            <a:r>
              <a:rPr sz="2025" b="1" i="0">
                <a:solidFill>
                  <a:srgbClr val="172126"/>
                </a:solidFill>
              </a:rPr>
              <a:t>Ressaisir</a:t>
            </a:r>
          </a:p>
        </p:txBody>
      </p:sp>
      <p:sp>
        <p:nvSpPr>
          <p:cNvPr id="16" name="">
            <a:extLst xmlns:a="http://schemas.openxmlformats.org/drawingml/2006/main">
              <a:ext uri="{FF2B5EF4-FFF2-40B4-BE49-F238E27FC236}">
                <a16:creationId xmlns:a16="http://schemas.microsoft.com/office/drawing/2014/main" id="{BE62FF6B-DC26-4C87-9A36-21DF70862176}"/>
              </a:ext>
            </a:extLst>
          </p:cNvPr>
          <p:cNvSpPr>
            <a:spLocks xmlns:a="http://schemas.openxmlformats.org/drawingml/2006/main" noGrp="1"/>
          </p:cNvSpPr>
          <p:nvPr/>
        </p:nvSpPr>
        <p:spPr>
          <a:xfrm xmlns:a="http://schemas.openxmlformats.org/drawingml/2006/main">
            <a:off x="3581400" y="4429125"/>
            <a:ext cx="1885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i="0">
                <a:solidFill>
                  <a:srgbClr val="686C69"/>
                </a:solidFill>
              </a:defRPr>
            </a:pPr>
            <a:r>
              <a:rPr sz="1200" b="0" i="0">
                <a:solidFill>
                  <a:srgbClr val="686C69"/>
                </a:solidFill>
              </a:rPr>
              <a:t>La même information est retapée dans plusieurs fichiers et outils.</a:t>
            </a:r>
          </a:p>
        </p:txBody>
      </p:sp>
      <p:sp>
        <p:nvSpPr>
          <p:cNvPr id="17" name="">
            <a:extLst xmlns:a="http://schemas.openxmlformats.org/drawingml/2006/main">
              <a:ext uri="{FF2B5EF4-FFF2-40B4-BE49-F238E27FC236}">
                <a16:creationId xmlns:a16="http://schemas.microsoft.com/office/drawing/2014/main" id="{53EB8C76-D48D-4700-8134-7B5E7B35FE98}"/>
              </a:ext>
            </a:extLst>
          </p:cNvPr>
          <p:cNvSpPr>
            <a:spLocks xmlns:a="http://schemas.openxmlformats.org/drawingml/2006/main" noGrp="1"/>
          </p:cNvSpPr>
          <p:nvPr/>
        </p:nvSpPr>
        <p:spPr>
          <a:xfrm xmlns:a="http://schemas.openxmlformats.org/drawingml/2006/main">
            <a:off x="6229350" y="3257550"/>
            <a:ext cx="2362200" cy="2209800"/>
          </a:xfrm>
          <a:prstGeom xmlns:a="http://schemas.openxmlformats.org/drawingml/2006/main" prst="roundRect">
            <a:avLst>
              <a:gd name="adj" fmla="val 862"/>
            </a:avLst>
          </a:prstGeom>
          <a:solidFill xmlns:a="http://schemas.openxmlformats.org/drawingml/2006/main">
            <a:srgbClr val="000000">
              <a:alpha val="7059"/>
            </a:srgbClr>
          </a:solidFill>
          <a:ln xmlns:a="http://schemas.openxmlformats.org/drawingml/2006/main" w="0">
            <a:noFill/>
            <a:prstDash val="solid"/>
          </a:ln>
        </p:spPr>
      </p:sp>
      <p:sp>
        <p:nvSpPr>
          <p:cNvPr id="18" name="paper-card">
            <a:extLst xmlns:a="http://schemas.openxmlformats.org/drawingml/2006/main">
              <a:ext uri="{FF2B5EF4-FFF2-40B4-BE49-F238E27FC236}">
                <a16:creationId xmlns:a16="http://schemas.microsoft.com/office/drawing/2014/main" id="{B34D7C0C-F7E8-4CD0-8610-E158AC922F71}"/>
              </a:ext>
            </a:extLst>
          </p:cNvPr>
          <p:cNvSpPr>
            <a:spLocks xmlns:a="http://schemas.openxmlformats.org/drawingml/2006/main" noGrp="1"/>
          </p:cNvSpPr>
          <p:nvPr/>
        </p:nvSpPr>
        <p:spPr>
          <a:xfrm xmlns:a="http://schemas.openxmlformats.org/drawingml/2006/main">
            <a:off x="6153150" y="3162300"/>
            <a:ext cx="2362200" cy="2209800"/>
          </a:xfrm>
          <a:prstGeom xmlns:a="http://schemas.openxmlformats.org/drawingml/2006/main" prst="roundRect">
            <a:avLst>
              <a:gd name="adj" fmla="val 862"/>
            </a:avLst>
          </a:prstGeom>
          <a:solidFill xmlns:a="http://schemas.openxmlformats.org/drawingml/2006/main">
            <a:srgbClr val="FFFDF8"/>
          </a:solidFill>
          <a:ln xmlns:a="http://schemas.openxmlformats.org/drawingml/2006/main" w="9525">
            <a:solidFill>
              <a:srgbClr val="D8D0C3"/>
            </a:solidFill>
            <a:prstDash val="solid"/>
          </a:ln>
        </p:spPr>
      </p:sp>
      <p:sp>
        <p:nvSpPr>
          <p:cNvPr id="19" name="">
            <a:extLst xmlns:a="http://schemas.openxmlformats.org/drawingml/2006/main">
              <a:ext uri="{FF2B5EF4-FFF2-40B4-BE49-F238E27FC236}">
                <a16:creationId xmlns:a16="http://schemas.microsoft.com/office/drawing/2014/main" id="{8A69A86F-4E8A-420B-AA6D-203832BEC69A}"/>
              </a:ext>
            </a:extLst>
          </p:cNvPr>
          <p:cNvSpPr>
            <a:spLocks xmlns:a="http://schemas.openxmlformats.org/drawingml/2006/main" noGrp="1"/>
          </p:cNvSpPr>
          <p:nvPr/>
        </p:nvSpPr>
        <p:spPr>
          <a:xfrm xmlns:a="http://schemas.openxmlformats.org/drawingml/2006/main">
            <a:off x="6343650" y="33337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C96F52"/>
                </a:solidFill>
              </a:defRPr>
            </a:pPr>
            <a:r>
              <a:rPr sz="900" b="1" i="0">
                <a:solidFill>
                  <a:srgbClr val="C96F52"/>
                </a:solidFill>
              </a:rPr>
              <a:t>03</a:t>
            </a:r>
          </a:p>
        </p:txBody>
      </p:sp>
      <p:sp>
        <p:nvSpPr>
          <p:cNvPr id="20" name="">
            <a:extLst xmlns:a="http://schemas.openxmlformats.org/drawingml/2006/main">
              <a:ext uri="{FF2B5EF4-FFF2-40B4-BE49-F238E27FC236}">
                <a16:creationId xmlns:a16="http://schemas.microsoft.com/office/drawing/2014/main" id="{A550C2D0-9A77-4C3C-99B0-D7E9F45E7809}"/>
              </a:ext>
            </a:extLst>
          </p:cNvPr>
          <p:cNvSpPr>
            <a:spLocks xmlns:a="http://schemas.openxmlformats.org/drawingml/2006/main" noGrp="1"/>
          </p:cNvSpPr>
          <p:nvPr/>
        </p:nvSpPr>
        <p:spPr>
          <a:xfrm xmlns:a="http://schemas.openxmlformats.org/drawingml/2006/main">
            <a:off x="6343650" y="3743325"/>
            <a:ext cx="190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i="0">
                <a:solidFill>
                  <a:srgbClr val="172126"/>
                </a:solidFill>
              </a:defRPr>
            </a:pPr>
            <a:r>
              <a:rPr sz="2025" b="1" i="0">
                <a:solidFill>
                  <a:srgbClr val="172126"/>
                </a:solidFill>
              </a:rPr>
              <a:t>Vérifier</a:t>
            </a:r>
          </a:p>
        </p:txBody>
      </p:sp>
      <p:sp>
        <p:nvSpPr>
          <p:cNvPr id="21" name="">
            <a:extLst xmlns:a="http://schemas.openxmlformats.org/drawingml/2006/main">
              <a:ext uri="{FF2B5EF4-FFF2-40B4-BE49-F238E27FC236}">
                <a16:creationId xmlns:a16="http://schemas.microsoft.com/office/drawing/2014/main" id="{5D987297-0D90-40D2-BC65-679925FB884B}"/>
              </a:ext>
            </a:extLst>
          </p:cNvPr>
          <p:cNvSpPr>
            <a:spLocks xmlns:a="http://schemas.openxmlformats.org/drawingml/2006/main" noGrp="1"/>
          </p:cNvSpPr>
          <p:nvPr/>
        </p:nvSpPr>
        <p:spPr>
          <a:xfrm xmlns:a="http://schemas.openxmlformats.org/drawingml/2006/main">
            <a:off x="6343650" y="4276725"/>
            <a:ext cx="1885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i="0">
                <a:solidFill>
                  <a:srgbClr val="686C69"/>
                </a:solidFill>
              </a:defRPr>
            </a:pPr>
            <a:r>
              <a:rPr sz="1200" b="0" i="0">
                <a:solidFill>
                  <a:srgbClr val="686C69"/>
                </a:solidFill>
              </a:rPr>
              <a:t>Paiements et relevés ne correspondent pas toujours aux pièces.</a:t>
            </a:r>
          </a:p>
        </p:txBody>
      </p:sp>
      <p:sp>
        <p:nvSpPr>
          <p:cNvPr id="22" name="">
            <a:extLst xmlns:a="http://schemas.openxmlformats.org/drawingml/2006/main">
              <a:ext uri="{FF2B5EF4-FFF2-40B4-BE49-F238E27FC236}">
                <a16:creationId xmlns:a16="http://schemas.microsoft.com/office/drawing/2014/main" id="{0D0D663C-CA4B-4891-87AC-1F51E52557A6}"/>
              </a:ext>
            </a:extLst>
          </p:cNvPr>
          <p:cNvSpPr>
            <a:spLocks xmlns:a="http://schemas.openxmlformats.org/drawingml/2006/main" noGrp="1"/>
          </p:cNvSpPr>
          <p:nvPr/>
        </p:nvSpPr>
        <p:spPr>
          <a:xfrm xmlns:a="http://schemas.openxmlformats.org/drawingml/2006/main">
            <a:off x="8991600" y="3409950"/>
            <a:ext cx="2362200" cy="2209800"/>
          </a:xfrm>
          <a:prstGeom xmlns:a="http://schemas.openxmlformats.org/drawingml/2006/main" prst="roundRect">
            <a:avLst>
              <a:gd name="adj" fmla="val 862"/>
            </a:avLst>
          </a:prstGeom>
          <a:solidFill xmlns:a="http://schemas.openxmlformats.org/drawingml/2006/main">
            <a:srgbClr val="000000">
              <a:alpha val="7059"/>
            </a:srgbClr>
          </a:solidFill>
          <a:ln xmlns:a="http://schemas.openxmlformats.org/drawingml/2006/main" w="0">
            <a:noFill/>
            <a:prstDash val="solid"/>
          </a:ln>
        </p:spPr>
      </p:sp>
      <p:sp>
        <p:nvSpPr>
          <p:cNvPr id="23" name="paper-card">
            <a:extLst xmlns:a="http://schemas.openxmlformats.org/drawingml/2006/main">
              <a:ext uri="{FF2B5EF4-FFF2-40B4-BE49-F238E27FC236}">
                <a16:creationId xmlns:a16="http://schemas.microsoft.com/office/drawing/2014/main" id="{BCBF08DA-D10A-4A84-816E-5DBBC2406492}"/>
              </a:ext>
            </a:extLst>
          </p:cNvPr>
          <p:cNvSpPr>
            <a:spLocks xmlns:a="http://schemas.openxmlformats.org/drawingml/2006/main" noGrp="1"/>
          </p:cNvSpPr>
          <p:nvPr/>
        </p:nvSpPr>
        <p:spPr>
          <a:xfrm xmlns:a="http://schemas.openxmlformats.org/drawingml/2006/main">
            <a:off x="8915400" y="3314700"/>
            <a:ext cx="2362200" cy="2209800"/>
          </a:xfrm>
          <a:prstGeom xmlns:a="http://schemas.openxmlformats.org/drawingml/2006/main" prst="roundRect">
            <a:avLst>
              <a:gd name="adj" fmla="val 862"/>
            </a:avLst>
          </a:prstGeom>
          <a:solidFill xmlns:a="http://schemas.openxmlformats.org/drawingml/2006/main">
            <a:srgbClr val="FFFDF8"/>
          </a:solidFill>
          <a:ln xmlns:a="http://schemas.openxmlformats.org/drawingml/2006/main" w="9525">
            <a:solidFill>
              <a:srgbClr val="D8D0C3"/>
            </a:solidFill>
            <a:prstDash val="solid"/>
          </a:ln>
        </p:spPr>
      </p:sp>
      <p:sp>
        <p:nvSpPr>
          <p:cNvPr id="24" name="">
            <a:extLst xmlns:a="http://schemas.openxmlformats.org/drawingml/2006/main">
              <a:ext uri="{FF2B5EF4-FFF2-40B4-BE49-F238E27FC236}">
                <a16:creationId xmlns:a16="http://schemas.microsoft.com/office/drawing/2014/main" id="{66D2AB79-0208-45F2-B5D6-97B0061DA82E}"/>
              </a:ext>
            </a:extLst>
          </p:cNvPr>
          <p:cNvSpPr>
            <a:spLocks xmlns:a="http://schemas.openxmlformats.org/drawingml/2006/main" noGrp="1"/>
          </p:cNvSpPr>
          <p:nvPr/>
        </p:nvSpPr>
        <p:spPr>
          <a:xfrm xmlns:a="http://schemas.openxmlformats.org/drawingml/2006/main">
            <a:off x="9105900" y="3486150"/>
            <a:ext cx="438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C96F52"/>
                </a:solidFill>
              </a:defRPr>
            </a:pPr>
            <a:r>
              <a:rPr sz="900" b="1" i="0">
                <a:solidFill>
                  <a:srgbClr val="C96F52"/>
                </a:solidFill>
              </a:rPr>
              <a:t>04</a:t>
            </a:r>
          </a:p>
        </p:txBody>
      </p:sp>
      <p:sp>
        <p:nvSpPr>
          <p:cNvPr id="25" name="">
            <a:extLst xmlns:a="http://schemas.openxmlformats.org/drawingml/2006/main">
              <a:ext uri="{FF2B5EF4-FFF2-40B4-BE49-F238E27FC236}">
                <a16:creationId xmlns:a16="http://schemas.microsoft.com/office/drawing/2014/main" id="{028D4F09-97F8-43E2-AA30-58D0274E56B9}"/>
              </a:ext>
            </a:extLst>
          </p:cNvPr>
          <p:cNvSpPr>
            <a:spLocks xmlns:a="http://schemas.openxmlformats.org/drawingml/2006/main" noGrp="1"/>
          </p:cNvSpPr>
          <p:nvPr/>
        </p:nvSpPr>
        <p:spPr>
          <a:xfrm xmlns:a="http://schemas.openxmlformats.org/drawingml/2006/main">
            <a:off x="9105900" y="3895725"/>
            <a:ext cx="190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025" b="1" i="0">
                <a:solidFill>
                  <a:srgbClr val="172126"/>
                </a:solidFill>
              </a:defRPr>
            </a:pPr>
            <a:r>
              <a:rPr sz="2025" b="1" i="0">
                <a:solidFill>
                  <a:srgbClr val="172126"/>
                </a:solidFill>
              </a:rPr>
              <a:t>Coordonner</a:t>
            </a:r>
          </a:p>
        </p:txBody>
      </p:sp>
      <p:sp>
        <p:nvSpPr>
          <p:cNvPr id="26" name="">
            <a:extLst xmlns:a="http://schemas.openxmlformats.org/drawingml/2006/main">
              <a:ext uri="{FF2B5EF4-FFF2-40B4-BE49-F238E27FC236}">
                <a16:creationId xmlns:a16="http://schemas.microsoft.com/office/drawing/2014/main" id="{AA06FF34-46C9-4D36-B6BD-279B374448F6}"/>
              </a:ext>
            </a:extLst>
          </p:cNvPr>
          <p:cNvSpPr>
            <a:spLocks xmlns:a="http://schemas.openxmlformats.org/drawingml/2006/main" noGrp="1"/>
          </p:cNvSpPr>
          <p:nvPr/>
        </p:nvSpPr>
        <p:spPr>
          <a:xfrm xmlns:a="http://schemas.openxmlformats.org/drawingml/2006/main">
            <a:off x="9105900" y="4429125"/>
            <a:ext cx="1885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i="0">
                <a:solidFill>
                  <a:srgbClr val="686C69"/>
                </a:solidFill>
              </a:defRPr>
            </a:pPr>
            <a:r>
              <a:rPr sz="1200" b="0" i="0">
                <a:solidFill>
                  <a:srgbClr val="686C69"/>
                </a:solidFill>
              </a:rPr>
              <a:t>Dirigeant et cabinet se relancent pour les pièces et corrections.</a:t>
            </a:r>
          </a:p>
        </p:txBody>
      </p:sp>
      <p:sp>
        <p:nvSpPr>
          <p:cNvPr id="27" name="">
            <a:extLst xmlns:a="http://schemas.openxmlformats.org/drawingml/2006/main">
              <a:ext uri="{FF2B5EF4-FFF2-40B4-BE49-F238E27FC236}">
                <a16:creationId xmlns:a16="http://schemas.microsoft.com/office/drawing/2014/main" id="{63C0E413-9D63-4937-8D2E-7A79369E75D6}"/>
              </a:ext>
            </a:extLst>
          </p:cNvPr>
          <p:cNvSpPr>
            <a:spLocks xmlns:a="http://schemas.openxmlformats.org/drawingml/2006/main" noGrp="1"/>
          </p:cNvSpPr>
          <p:nvPr/>
        </p:nvSpPr>
        <p:spPr>
          <a:xfrm xmlns:a="http://schemas.openxmlformats.org/drawingml/2006/main">
            <a:off x="628650" y="5857875"/>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A34A3B"/>
                </a:solidFill>
              </a:defRPr>
            </a:pPr>
            <a:r>
              <a:rPr sz="1650" b="1" i="0">
                <a:solidFill>
                  <a:srgbClr val="A34A3B"/>
                </a:solidFill>
              </a:rPr>
              <a:t>Résultat : moins de visibilité, des paiements retardés et du temps retiré à l’activité.</a:t>
            </a:r>
          </a:p>
        </p:txBody>
      </p:sp>
    </p:spTree>
    <p:extLst>
      <p:ext uri="{BB962C8B-B14F-4D97-AF65-F5344CB8AC3E}">
        <p14:creationId xmlns:p14="http://schemas.microsoft.com/office/powerpoint/2010/main" val="192820835"/>
      </p:ext>
    </p:extLst>
  </p:cSld>
</p:sld>
</file>

<file path=ppt/slides/slide3.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27742934-94C7-48AC-B153-0CFA6BF8AF72}"/>
              </a:ext>
            </a:extLst>
          </p:cNvPr>
          <p:cNvSpPr>
            <a:spLocks xmlns:a="http://schemas.openxmlformats.org/drawingml/2006/main" noGrp="1"/>
          </p:cNvSpPr>
          <p:nvPr/>
        </p:nvSpPr>
        <p:spPr>
          <a:xfrm xmlns:a="http://schemas.openxmlformats.org/drawingml/2006/main">
            <a:off x="533400" y="285750"/>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686C69"/>
                </a:solidFill>
              </a:defRPr>
            </a:pPr>
            <a:r>
              <a:rPr sz="825" b="1" i="0">
                <a:solidFill>
                  <a:srgbClr val="686C69"/>
                </a:solidFill>
              </a:rPr>
              <a:t>POURQUOI MAINTENANT</a:t>
            </a:r>
          </a:p>
        </p:txBody>
      </p:sp>
      <p:sp>
        <p:nvSpPr>
          <p:cNvPr id="2" name="">
            <a:extLst xmlns:a="http://schemas.openxmlformats.org/drawingml/2006/main">
              <a:ext uri="{FF2B5EF4-FFF2-40B4-BE49-F238E27FC236}">
                <a16:creationId xmlns:a16="http://schemas.microsoft.com/office/drawing/2014/main" id="{20B04A60-23C1-45F3-9690-6691D4DC9A8E}"/>
              </a:ext>
            </a:extLst>
          </p:cNvPr>
          <p:cNvSpPr>
            <a:spLocks xmlns:a="http://schemas.openxmlformats.org/drawingml/2006/main" noGrp="1"/>
          </p:cNvSpPr>
          <p:nvPr/>
        </p:nvSpPr>
        <p:spPr>
          <a:xfrm xmlns:a="http://schemas.openxmlformats.org/drawingml/2006/main">
            <a:off x="11201400" y="2667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i="0">
                <a:solidFill>
                  <a:srgbClr val="686C69"/>
                </a:solidFill>
              </a:defRPr>
            </a:pPr>
            <a:r>
              <a:rPr sz="900" b="1" i="0">
                <a:solidFill>
                  <a:srgbClr val="686C69"/>
                </a:solidFill>
              </a:rPr>
              <a:t>03</a:t>
            </a:r>
          </a:p>
        </p:txBody>
      </p:sp>
      <p:sp>
        <p:nvSpPr>
          <p:cNvPr id="3" name="">
            <a:extLst xmlns:a="http://schemas.openxmlformats.org/drawingml/2006/main">
              <a:ext uri="{FF2B5EF4-FFF2-40B4-BE49-F238E27FC236}">
                <a16:creationId xmlns:a16="http://schemas.microsoft.com/office/drawing/2014/main" id="{6669AE83-5D0A-4831-9E5A-CD16A225AA89}"/>
              </a:ext>
            </a:extLst>
          </p:cNvPr>
          <p:cNvSpPr>
            <a:spLocks xmlns:a="http://schemas.openxmlformats.org/drawingml/2006/main" noGrp="1"/>
          </p:cNvSpPr>
          <p:nvPr/>
        </p:nvSpPr>
        <p:spPr>
          <a:xfrm xmlns:a="http://schemas.openxmlformats.org/drawingml/2006/main">
            <a:off x="533400" y="552450"/>
            <a:ext cx="11125200" cy="9525"/>
          </a:xfrm>
          <a:prstGeom xmlns:a="http://schemas.openxmlformats.org/drawingml/2006/main" prst="rect">
            <a:avLst/>
          </a:prstGeom>
          <a:solidFill xmlns:a="http://schemas.openxmlformats.org/drawingml/2006/main">
            <a:srgbClr val="D8D0C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5C45B6F-9CAD-492F-8C54-EA9AEBBEC117}"/>
              </a:ext>
            </a:extLst>
          </p:cNvPr>
          <p:cNvSpPr>
            <a:spLocks xmlns:a="http://schemas.openxmlformats.org/drawingml/2006/main" noGrp="1"/>
          </p:cNvSpPr>
          <p:nvPr/>
        </p:nvSpPr>
        <p:spPr>
          <a:xfrm xmlns:a="http://schemas.openxmlformats.org/drawingml/2006/main">
            <a:off x="609600" y="8001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C96F52"/>
                </a:solidFill>
              </a:defRPr>
            </a:pPr>
            <a:r>
              <a:rPr sz="900" b="1" i="0">
                <a:solidFill>
                  <a:srgbClr val="C96F52"/>
                </a:solidFill>
              </a:rPr>
              <a:t>LE MAROC PASSE AU NUMÉRIQUE</a:t>
            </a:r>
          </a:p>
        </p:txBody>
      </p:sp>
      <p:sp>
        <p:nvSpPr>
          <p:cNvPr id="5" name="">
            <a:extLst xmlns:a="http://schemas.openxmlformats.org/drawingml/2006/main">
              <a:ext uri="{FF2B5EF4-FFF2-40B4-BE49-F238E27FC236}">
                <a16:creationId xmlns:a16="http://schemas.microsoft.com/office/drawing/2014/main" id="{74AEE2B9-472D-47C3-9BB9-CF5E2A03AE12}"/>
              </a:ext>
            </a:extLst>
          </p:cNvPr>
          <p:cNvSpPr>
            <a:spLocks xmlns:a="http://schemas.openxmlformats.org/drawingml/2006/main" noGrp="1"/>
          </p:cNvSpPr>
          <p:nvPr/>
        </p:nvSpPr>
        <p:spPr>
          <a:xfrm xmlns:a="http://schemas.openxmlformats.org/drawingml/2006/main">
            <a:off x="609600" y="114300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225" b="1" i="0">
                <a:solidFill>
                  <a:srgbClr val="172126"/>
                </a:solidFill>
              </a:defRPr>
            </a:pPr>
            <a:r>
              <a:rPr sz="3225" b="1" i="0">
                <a:solidFill>
                  <a:srgbClr val="172126"/>
                </a:solidFill>
              </a:rPr>
              <a:t>Les entreprises et les démarches se numérisent.</a:t>
            </a:r>
          </a:p>
        </p:txBody>
      </p:sp>
      <p:sp>
        <p:nvSpPr>
          <p:cNvPr id="6" name="">
            <a:extLst xmlns:a="http://schemas.openxmlformats.org/drawingml/2006/main">
              <a:ext uri="{FF2B5EF4-FFF2-40B4-BE49-F238E27FC236}">
                <a16:creationId xmlns:a16="http://schemas.microsoft.com/office/drawing/2014/main" id="{D0EDA12E-2BD5-4215-AACB-B78918A72D6A}"/>
              </a:ext>
            </a:extLst>
          </p:cNvPr>
          <p:cNvSpPr>
            <a:spLocks xmlns:a="http://schemas.openxmlformats.org/drawingml/2006/main" noGrp="1"/>
          </p:cNvSpPr>
          <p:nvPr/>
        </p:nvSpPr>
        <p:spPr>
          <a:xfrm xmlns:a="http://schemas.openxmlformats.org/drawingml/2006/main">
            <a:off x="628650" y="2114550"/>
            <a:ext cx="8858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i="0">
                <a:solidFill>
                  <a:srgbClr val="686C69"/>
                </a:solidFill>
              </a:defRPr>
            </a:pPr>
            <a:r>
              <a:rPr sz="1425" b="0" i="0">
                <a:solidFill>
                  <a:srgbClr val="686C69"/>
                </a:solidFill>
              </a:rPr>
              <a:t>Maroc Digital 2030 et les initiatives dédiées aux TPME accélèrent la transition vers des processus numériques.</a:t>
            </a:r>
          </a:p>
        </p:txBody>
      </p:sp>
      <p:sp>
        <p:nvSpPr>
          <p:cNvPr id="7" name="">
            <a:extLst xmlns:a="http://schemas.openxmlformats.org/drawingml/2006/main">
              <a:ext uri="{FF2B5EF4-FFF2-40B4-BE49-F238E27FC236}">
                <a16:creationId xmlns:a16="http://schemas.microsoft.com/office/drawing/2014/main" id="{280A207E-2CD6-4357-881C-FDAAAC01C38E}"/>
              </a:ext>
            </a:extLst>
          </p:cNvPr>
          <p:cNvSpPr>
            <a:spLocks xmlns:a="http://schemas.openxmlformats.org/drawingml/2006/main" noGrp="1"/>
          </p:cNvSpPr>
          <p:nvPr/>
        </p:nvSpPr>
        <p:spPr>
          <a:xfrm xmlns:a="http://schemas.openxmlformats.org/drawingml/2006/main">
            <a:off x="666750" y="3257550"/>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i="0">
                <a:solidFill>
                  <a:srgbClr val="477A86"/>
                </a:solidFill>
              </a:defRPr>
            </a:pPr>
            <a:r>
              <a:rPr sz="3600" b="1" i="0">
                <a:solidFill>
                  <a:srgbClr val="477A86"/>
                </a:solidFill>
              </a:rPr>
              <a:t>95 % +</a:t>
            </a:r>
          </a:p>
        </p:txBody>
      </p:sp>
      <p:sp>
        <p:nvSpPr>
          <p:cNvPr id="8" name="">
            <a:extLst xmlns:a="http://schemas.openxmlformats.org/drawingml/2006/main">
              <a:ext uri="{FF2B5EF4-FFF2-40B4-BE49-F238E27FC236}">
                <a16:creationId xmlns:a16="http://schemas.microsoft.com/office/drawing/2014/main" id="{9B4DE8F7-408B-40E5-AA91-2286E8764E4E}"/>
              </a:ext>
            </a:extLst>
          </p:cNvPr>
          <p:cNvSpPr>
            <a:spLocks xmlns:a="http://schemas.openxmlformats.org/drawingml/2006/main" noGrp="1"/>
          </p:cNvSpPr>
          <p:nvPr/>
        </p:nvSpPr>
        <p:spPr>
          <a:xfrm xmlns:a="http://schemas.openxmlformats.org/drawingml/2006/main">
            <a:off x="666750" y="3848100"/>
            <a:ext cx="295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i="0">
                <a:solidFill>
                  <a:srgbClr val="172126"/>
                </a:solidFill>
              </a:defRPr>
            </a:pPr>
            <a:r>
              <a:rPr sz="1200" b="1" i="0">
                <a:solidFill>
                  <a:srgbClr val="172126"/>
                </a:solidFill>
              </a:rPr>
              <a:t>du tissu économique est composé de TPME</a:t>
            </a:r>
          </a:p>
        </p:txBody>
      </p:sp>
      <p:sp>
        <p:nvSpPr>
          <p:cNvPr id="9" name="">
            <a:extLst xmlns:a="http://schemas.openxmlformats.org/drawingml/2006/main">
              <a:ext uri="{FF2B5EF4-FFF2-40B4-BE49-F238E27FC236}">
                <a16:creationId xmlns:a16="http://schemas.microsoft.com/office/drawing/2014/main" id="{74D8086F-6AC4-436A-9CBD-B0838C22B0E6}"/>
              </a:ext>
            </a:extLst>
          </p:cNvPr>
          <p:cNvSpPr>
            <a:spLocks xmlns:a="http://schemas.openxmlformats.org/drawingml/2006/main" noGrp="1"/>
          </p:cNvSpPr>
          <p:nvPr/>
        </p:nvSpPr>
        <p:spPr>
          <a:xfrm xmlns:a="http://schemas.openxmlformats.org/drawingml/2006/main">
            <a:off x="4429125" y="3257550"/>
            <a:ext cx="276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i="0">
                <a:solidFill>
                  <a:srgbClr val="C96F52"/>
                </a:solidFill>
              </a:defRPr>
            </a:pPr>
            <a:r>
              <a:rPr sz="3600" b="1" i="0">
                <a:solidFill>
                  <a:srgbClr val="C96F52"/>
                </a:solidFill>
              </a:rPr>
              <a:t>50 300 +</a:t>
            </a:r>
          </a:p>
        </p:txBody>
      </p:sp>
      <p:sp>
        <p:nvSpPr>
          <p:cNvPr id="10" name="">
            <a:extLst xmlns:a="http://schemas.openxmlformats.org/drawingml/2006/main">
              <a:ext uri="{FF2B5EF4-FFF2-40B4-BE49-F238E27FC236}">
                <a16:creationId xmlns:a16="http://schemas.microsoft.com/office/drawing/2014/main" id="{D1294EA0-3AAA-41EB-B849-1A8C96470712}"/>
              </a:ext>
            </a:extLst>
          </p:cNvPr>
          <p:cNvSpPr>
            <a:spLocks xmlns:a="http://schemas.openxmlformats.org/drawingml/2006/main" noGrp="1"/>
          </p:cNvSpPr>
          <p:nvPr/>
        </p:nvSpPr>
        <p:spPr>
          <a:xfrm xmlns:a="http://schemas.openxmlformats.org/drawingml/2006/main">
            <a:off x="4429125" y="3848100"/>
            <a:ext cx="276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i="0">
                <a:solidFill>
                  <a:srgbClr val="172126"/>
                </a:solidFill>
              </a:defRPr>
            </a:pPr>
            <a:r>
              <a:rPr sz="1200" b="1" i="0">
                <a:solidFill>
                  <a:srgbClr val="172126"/>
                </a:solidFill>
              </a:rPr>
              <a:t>entreprises créées via la plateforme en ligne</a:t>
            </a:r>
          </a:p>
        </p:txBody>
      </p:sp>
      <p:sp>
        <p:nvSpPr>
          <p:cNvPr id="11" name="">
            <a:extLst xmlns:a="http://schemas.openxmlformats.org/drawingml/2006/main">
              <a:ext uri="{FF2B5EF4-FFF2-40B4-BE49-F238E27FC236}">
                <a16:creationId xmlns:a16="http://schemas.microsoft.com/office/drawing/2014/main" id="{8CBF513A-441B-410D-BD31-C8A997C6E0C5}"/>
              </a:ext>
            </a:extLst>
          </p:cNvPr>
          <p:cNvSpPr>
            <a:spLocks xmlns:a="http://schemas.openxmlformats.org/drawingml/2006/main" noGrp="1"/>
          </p:cNvSpPr>
          <p:nvPr/>
        </p:nvSpPr>
        <p:spPr>
          <a:xfrm xmlns:a="http://schemas.openxmlformats.org/drawingml/2006/main">
            <a:off x="8096250" y="3257550"/>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600" b="1" i="0">
                <a:solidFill>
                  <a:srgbClr val="6F8E7D"/>
                </a:solidFill>
              </a:defRPr>
            </a:pPr>
            <a:r>
              <a:rPr sz="3600" b="1" i="0">
                <a:solidFill>
                  <a:srgbClr val="6F8E7D"/>
                </a:solidFill>
              </a:rPr>
              <a:t>1 200 +</a:t>
            </a:r>
          </a:p>
        </p:txBody>
      </p:sp>
      <p:sp>
        <p:nvSpPr>
          <p:cNvPr id="12" name="">
            <a:extLst xmlns:a="http://schemas.openxmlformats.org/drawingml/2006/main">
              <a:ext uri="{FF2B5EF4-FFF2-40B4-BE49-F238E27FC236}">
                <a16:creationId xmlns:a16="http://schemas.microsoft.com/office/drawing/2014/main" id="{CD277FDB-8F5D-4649-988F-CFA1C45F2C49}"/>
              </a:ext>
            </a:extLst>
          </p:cNvPr>
          <p:cNvSpPr>
            <a:spLocks xmlns:a="http://schemas.openxmlformats.org/drawingml/2006/main" noGrp="1"/>
          </p:cNvSpPr>
          <p:nvPr/>
        </p:nvSpPr>
        <p:spPr>
          <a:xfrm xmlns:a="http://schemas.openxmlformats.org/drawingml/2006/main">
            <a:off x="8096250" y="3848100"/>
            <a:ext cx="2952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i="0">
                <a:solidFill>
                  <a:srgbClr val="172126"/>
                </a:solidFill>
              </a:defRPr>
            </a:pPr>
            <a:r>
              <a:rPr sz="1200" b="1" i="0">
                <a:solidFill>
                  <a:srgbClr val="172126"/>
                </a:solidFill>
              </a:rPr>
              <a:t>TPME visées par la première phase DigiTPME 2026</a:t>
            </a:r>
          </a:p>
        </p:txBody>
      </p:sp>
      <p:sp>
        <p:nvSpPr>
          <p:cNvPr id="13" name="">
            <a:extLst xmlns:a="http://schemas.openxmlformats.org/drawingml/2006/main">
              <a:ext uri="{FF2B5EF4-FFF2-40B4-BE49-F238E27FC236}">
                <a16:creationId xmlns:a16="http://schemas.microsoft.com/office/drawing/2014/main" id="{1A957E76-5BD7-4CB5-BF98-86AA8E5FCBEA}"/>
              </a:ext>
            </a:extLst>
          </p:cNvPr>
          <p:cNvSpPr>
            <a:spLocks xmlns:a="http://schemas.openxmlformats.org/drawingml/2006/main" noGrp="1"/>
          </p:cNvSpPr>
          <p:nvPr/>
        </p:nvSpPr>
        <p:spPr>
          <a:xfrm xmlns:a="http://schemas.openxmlformats.org/drawingml/2006/main">
            <a:off x="666750" y="4686300"/>
            <a:ext cx="10382250" cy="9525"/>
          </a:xfrm>
          <a:prstGeom xmlns:a="http://schemas.openxmlformats.org/drawingml/2006/main" prst="rect">
            <a:avLst/>
          </a:prstGeom>
          <a:solidFill xmlns:a="http://schemas.openxmlformats.org/drawingml/2006/main">
            <a:srgbClr val="D8D0C3"/>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56DABEA-3298-4CCF-9C92-24B5E7350756}"/>
              </a:ext>
            </a:extLst>
          </p:cNvPr>
          <p:cNvSpPr>
            <a:spLocks xmlns:a="http://schemas.openxmlformats.org/drawingml/2006/main" noGrp="1"/>
          </p:cNvSpPr>
          <p:nvPr/>
        </p:nvSpPr>
        <p:spPr>
          <a:xfrm xmlns:a="http://schemas.openxmlformats.org/drawingml/2006/main">
            <a:off x="666750" y="50292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i="0">
                <a:solidFill>
                  <a:srgbClr val="172126"/>
                </a:solidFill>
              </a:defRPr>
            </a:pPr>
            <a:r>
              <a:rPr sz="1275" b="1" i="0">
                <a:solidFill>
                  <a:srgbClr val="172126"/>
                </a:solidFill>
              </a:rPr>
              <a:t>La fenêtre</a:t>
            </a:r>
          </a:p>
        </p:txBody>
      </p:sp>
      <p:sp>
        <p:nvSpPr>
          <p:cNvPr id="15" name="">
            <a:extLst xmlns:a="http://schemas.openxmlformats.org/drawingml/2006/main">
              <a:ext uri="{FF2B5EF4-FFF2-40B4-BE49-F238E27FC236}">
                <a16:creationId xmlns:a16="http://schemas.microsoft.com/office/drawing/2014/main" id="{07205FEA-C8CC-43F6-9979-66263E24479C}"/>
              </a:ext>
            </a:extLst>
          </p:cNvPr>
          <p:cNvSpPr>
            <a:spLocks xmlns:a="http://schemas.openxmlformats.org/drawingml/2006/main" noGrp="1"/>
          </p:cNvSpPr>
          <p:nvPr/>
        </p:nvSpPr>
        <p:spPr>
          <a:xfrm xmlns:a="http://schemas.openxmlformats.org/drawingml/2006/main">
            <a:off x="2400300" y="4972050"/>
            <a:ext cx="8191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50" b="1" i="0">
                <a:solidFill>
                  <a:srgbClr val="172126"/>
                </a:solidFill>
              </a:defRPr>
            </a:pPr>
            <a:r>
              <a:rPr sz="1650" b="1" i="0">
                <a:solidFill>
                  <a:srgbClr val="172126"/>
                </a:solidFill>
              </a:rPr>
              <a:t>L’IA peut lire les documents. Les services publics se numérisent. Les entreprises ont besoin d’outils financiers adaptés au Maroc.</a:t>
            </a:r>
          </a:p>
        </p:txBody>
      </p:sp>
      <p:sp>
        <p:nvSpPr>
          <p:cNvPr id="16" name="">
            <a:extLst xmlns:a="http://schemas.openxmlformats.org/drawingml/2006/main">
              <a:ext uri="{FF2B5EF4-FFF2-40B4-BE49-F238E27FC236}">
                <a16:creationId xmlns:a16="http://schemas.microsoft.com/office/drawing/2014/main" id="{219606D4-DAFE-4750-A32A-418EEEDF9D86}"/>
              </a:ext>
            </a:extLst>
          </p:cNvPr>
          <p:cNvSpPr>
            <a:spLocks xmlns:a="http://schemas.openxmlformats.org/drawingml/2006/main" noGrp="1"/>
          </p:cNvSpPr>
          <p:nvPr/>
        </p:nvSpPr>
        <p:spPr>
          <a:xfrm xmlns:a="http://schemas.openxmlformats.org/drawingml/2006/main">
            <a:off x="2400300" y="573405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686C69"/>
                </a:solidFill>
              </a:defRPr>
            </a:pPr>
            <a:r>
              <a:rPr sz="1125" b="0" i="0">
                <a:solidFill>
                  <a:srgbClr val="686C69"/>
                </a:solidFill>
              </a:rPr>
              <a:t>La facturation électronique est une évolution à suivre, sans présumer d’un calendrier réglementaire.</a:t>
            </a:r>
          </a:p>
        </p:txBody>
      </p:sp>
    </p:spTree>
    <p:extLst>
      <p:ext uri="{BB962C8B-B14F-4D97-AF65-F5344CB8AC3E}">
        <p14:creationId xmlns:p14="http://schemas.microsoft.com/office/powerpoint/2010/main" val="922957434"/>
      </p:ext>
    </p:extLst>
  </p:cSld>
</p:sld>
</file>

<file path=ppt/slides/slide4.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938739D3-9B80-4EDA-BD25-D3A7881DF956}"/>
              </a:ext>
            </a:extLst>
          </p:cNvPr>
          <p:cNvSpPr>
            <a:spLocks xmlns:a="http://schemas.openxmlformats.org/drawingml/2006/main" noGrp="1"/>
          </p:cNvSpPr>
          <p:nvPr/>
        </p:nvSpPr>
        <p:spPr>
          <a:xfrm xmlns:a="http://schemas.openxmlformats.org/drawingml/2006/main">
            <a:off x="533400" y="285750"/>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686C69"/>
                </a:solidFill>
              </a:defRPr>
            </a:pPr>
            <a:r>
              <a:rPr sz="825" b="1" i="0">
                <a:solidFill>
                  <a:srgbClr val="686C69"/>
                </a:solidFill>
              </a:rPr>
              <a:t>LA SOLUTION</a:t>
            </a:r>
          </a:p>
        </p:txBody>
      </p:sp>
      <p:sp>
        <p:nvSpPr>
          <p:cNvPr id="2" name="">
            <a:extLst xmlns:a="http://schemas.openxmlformats.org/drawingml/2006/main">
              <a:ext uri="{FF2B5EF4-FFF2-40B4-BE49-F238E27FC236}">
                <a16:creationId xmlns:a16="http://schemas.microsoft.com/office/drawing/2014/main" id="{52DAEEBB-1D66-4492-B700-78838B44AADD}"/>
              </a:ext>
            </a:extLst>
          </p:cNvPr>
          <p:cNvSpPr>
            <a:spLocks xmlns:a="http://schemas.openxmlformats.org/drawingml/2006/main" noGrp="1"/>
          </p:cNvSpPr>
          <p:nvPr/>
        </p:nvSpPr>
        <p:spPr>
          <a:xfrm xmlns:a="http://schemas.openxmlformats.org/drawingml/2006/main">
            <a:off x="11201400" y="2667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i="0">
                <a:solidFill>
                  <a:srgbClr val="686C69"/>
                </a:solidFill>
              </a:defRPr>
            </a:pPr>
            <a:r>
              <a:rPr sz="900" b="1" i="0">
                <a:solidFill>
                  <a:srgbClr val="686C69"/>
                </a:solidFill>
              </a:rPr>
              <a:t>04</a:t>
            </a:r>
          </a:p>
        </p:txBody>
      </p:sp>
      <p:sp>
        <p:nvSpPr>
          <p:cNvPr id="3" name="">
            <a:extLst xmlns:a="http://schemas.openxmlformats.org/drawingml/2006/main">
              <a:ext uri="{FF2B5EF4-FFF2-40B4-BE49-F238E27FC236}">
                <a16:creationId xmlns:a16="http://schemas.microsoft.com/office/drawing/2014/main" id="{5F0D3459-C91A-44A6-A5FB-C42532550E88}"/>
              </a:ext>
            </a:extLst>
          </p:cNvPr>
          <p:cNvSpPr>
            <a:spLocks xmlns:a="http://schemas.openxmlformats.org/drawingml/2006/main" noGrp="1"/>
          </p:cNvSpPr>
          <p:nvPr/>
        </p:nvSpPr>
        <p:spPr>
          <a:xfrm xmlns:a="http://schemas.openxmlformats.org/drawingml/2006/main">
            <a:off x="533400" y="552450"/>
            <a:ext cx="11125200" cy="9525"/>
          </a:xfrm>
          <a:prstGeom xmlns:a="http://schemas.openxmlformats.org/drawingml/2006/main" prst="rect">
            <a:avLst/>
          </a:prstGeom>
          <a:solidFill xmlns:a="http://schemas.openxmlformats.org/drawingml/2006/main">
            <a:srgbClr val="D8D0C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5269B3C-AB7D-45CB-889B-F5ACFC9BDD44}"/>
              </a:ext>
            </a:extLst>
          </p:cNvPr>
          <p:cNvSpPr>
            <a:spLocks xmlns:a="http://schemas.openxmlformats.org/drawingml/2006/main" noGrp="1"/>
          </p:cNvSpPr>
          <p:nvPr/>
        </p:nvSpPr>
        <p:spPr>
          <a:xfrm xmlns:a="http://schemas.openxmlformats.org/drawingml/2006/main">
            <a:off x="609600" y="8001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C96F52"/>
                </a:solidFill>
              </a:defRPr>
            </a:pPr>
            <a:r>
              <a:rPr sz="900" b="1" i="0">
                <a:solidFill>
                  <a:srgbClr val="C96F52"/>
                </a:solidFill>
              </a:rPr>
              <a:t>UN FLUX FINANCIER PARTAGÉ</a:t>
            </a:r>
          </a:p>
        </p:txBody>
      </p:sp>
      <p:sp>
        <p:nvSpPr>
          <p:cNvPr id="5" name="">
            <a:extLst xmlns:a="http://schemas.openxmlformats.org/drawingml/2006/main">
              <a:ext uri="{FF2B5EF4-FFF2-40B4-BE49-F238E27FC236}">
                <a16:creationId xmlns:a16="http://schemas.microsoft.com/office/drawing/2014/main" id="{4AF9B64E-8E20-4F98-8A1B-AA2419170BA3}"/>
              </a:ext>
            </a:extLst>
          </p:cNvPr>
          <p:cNvSpPr>
            <a:spLocks xmlns:a="http://schemas.openxmlformats.org/drawingml/2006/main" noGrp="1"/>
          </p:cNvSpPr>
          <p:nvPr/>
        </p:nvSpPr>
        <p:spPr>
          <a:xfrm xmlns:a="http://schemas.openxmlformats.org/drawingml/2006/main">
            <a:off x="609600" y="114300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225" b="1" i="0">
                <a:solidFill>
                  <a:srgbClr val="172126"/>
                </a:solidFill>
              </a:defRPr>
            </a:pPr>
            <a:r>
              <a:rPr sz="3225" b="1" i="0">
                <a:solidFill>
                  <a:srgbClr val="172126"/>
                </a:solidFill>
              </a:rPr>
              <a:t>Mohasib transforme l’activité de l’entreprise en données financières exploitables.</a:t>
            </a:r>
          </a:p>
        </p:txBody>
      </p:sp>
      <p:sp>
        <p:nvSpPr>
          <p:cNvPr id="6" name="">
            <a:extLst xmlns:a="http://schemas.openxmlformats.org/drawingml/2006/main">
              <a:ext uri="{FF2B5EF4-FFF2-40B4-BE49-F238E27FC236}">
                <a16:creationId xmlns:a16="http://schemas.microsoft.com/office/drawing/2014/main" id="{4F7E8704-B305-4EFB-BC67-6E02A8FB92C8}"/>
              </a:ext>
            </a:extLst>
          </p:cNvPr>
          <p:cNvSpPr>
            <a:spLocks xmlns:a="http://schemas.openxmlformats.org/drawingml/2006/main" noGrp="1"/>
          </p:cNvSpPr>
          <p:nvPr/>
        </p:nvSpPr>
        <p:spPr>
          <a:xfrm xmlns:a="http://schemas.openxmlformats.org/drawingml/2006/main">
            <a:off x="628650" y="2114550"/>
            <a:ext cx="8858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i="0">
                <a:solidFill>
                  <a:srgbClr val="686C69"/>
                </a:solidFill>
              </a:defRPr>
            </a:pPr>
            <a:r>
              <a:rPr sz="1425" b="0" i="0">
                <a:solidFill>
                  <a:srgbClr val="686C69"/>
                </a:solidFill>
              </a:rPr>
              <a:t>Collecter une fois. Automatiser les tâches répétitives. Garder l’entreprise et son comptable dans le même espace.</a:t>
            </a:r>
          </a:p>
        </p:txBody>
      </p:sp>
      <p:sp>
        <p:nvSpPr>
          <p:cNvPr id="7" name="">
            <a:extLst xmlns:a="http://schemas.openxmlformats.org/drawingml/2006/main">
              <a:ext uri="{FF2B5EF4-FFF2-40B4-BE49-F238E27FC236}">
                <a16:creationId xmlns:a16="http://schemas.microsoft.com/office/drawing/2014/main" id="{FF1FB7EF-C8D1-459A-BB82-EE1B34C21093}"/>
              </a:ext>
            </a:extLst>
          </p:cNvPr>
          <p:cNvSpPr>
            <a:spLocks xmlns:a="http://schemas.openxmlformats.org/drawingml/2006/main" noGrp="1"/>
          </p:cNvSpPr>
          <p:nvPr/>
        </p:nvSpPr>
        <p:spPr>
          <a:xfrm xmlns:a="http://schemas.openxmlformats.org/drawingml/2006/main">
            <a:off x="2952750" y="376237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250" b="1" i="0">
                <a:solidFill>
                  <a:srgbClr val="D8D0C3"/>
                </a:solidFill>
              </a:defRPr>
            </a:pPr>
            <a:r>
              <a:rPr sz="2250" b="1" i="0">
                <a:solidFill>
                  <a:srgbClr val="D8D0C3"/>
                </a:solidFill>
              </a:rPr>
              <a:t>→</a:t>
            </a:r>
          </a:p>
        </p:txBody>
      </p:sp>
      <p:sp>
        <p:nvSpPr>
          <p:cNvPr id="8" name="">
            <a:extLst xmlns:a="http://schemas.openxmlformats.org/drawingml/2006/main">
              <a:ext uri="{FF2B5EF4-FFF2-40B4-BE49-F238E27FC236}">
                <a16:creationId xmlns:a16="http://schemas.microsoft.com/office/drawing/2014/main" id="{D37F3E32-104B-41F4-B582-CC5B49F5C53E}"/>
              </a:ext>
            </a:extLst>
          </p:cNvPr>
          <p:cNvSpPr>
            <a:spLocks xmlns:a="http://schemas.openxmlformats.org/drawingml/2006/main" noGrp="1"/>
          </p:cNvSpPr>
          <p:nvPr/>
        </p:nvSpPr>
        <p:spPr>
          <a:xfrm xmlns:a="http://schemas.openxmlformats.org/drawingml/2006/main">
            <a:off x="647700" y="3238500"/>
            <a:ext cx="2305050" cy="1809750"/>
          </a:xfrm>
          <a:prstGeom xmlns:a="http://schemas.openxmlformats.org/drawingml/2006/main" prst="roundRect">
            <a:avLst>
              <a:gd name="adj" fmla="val 1579"/>
            </a:avLst>
          </a:prstGeom>
          <a:solidFill xmlns:a="http://schemas.openxmlformats.org/drawingml/2006/main">
            <a:srgbClr val="D9E8EA"/>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8C85FE9-245A-4D3B-9C1D-E2D32128C8E4}"/>
              </a:ext>
            </a:extLst>
          </p:cNvPr>
          <p:cNvSpPr>
            <a:spLocks xmlns:a="http://schemas.openxmlformats.org/drawingml/2006/main" noGrp="1"/>
          </p:cNvSpPr>
          <p:nvPr/>
        </p:nvSpPr>
        <p:spPr>
          <a:xfrm xmlns:a="http://schemas.openxmlformats.org/drawingml/2006/main">
            <a:off x="819150" y="3409950"/>
            <a:ext cx="34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477A86"/>
                </a:solidFill>
              </a:defRPr>
            </a:pPr>
            <a:r>
              <a:rPr sz="900" b="1" i="0">
                <a:solidFill>
                  <a:srgbClr val="477A86"/>
                </a:solidFill>
              </a:rPr>
              <a:t>01</a:t>
            </a:r>
          </a:p>
        </p:txBody>
      </p:sp>
      <p:sp>
        <p:nvSpPr>
          <p:cNvPr id="10" name="">
            <a:extLst xmlns:a="http://schemas.openxmlformats.org/drawingml/2006/main">
              <a:ext uri="{FF2B5EF4-FFF2-40B4-BE49-F238E27FC236}">
                <a16:creationId xmlns:a16="http://schemas.microsoft.com/office/drawing/2014/main" id="{37610DAA-8BA0-4CDE-8A00-41D7F99A51C4}"/>
              </a:ext>
            </a:extLst>
          </p:cNvPr>
          <p:cNvSpPr>
            <a:spLocks xmlns:a="http://schemas.openxmlformats.org/drawingml/2006/main" noGrp="1"/>
          </p:cNvSpPr>
          <p:nvPr/>
        </p:nvSpPr>
        <p:spPr>
          <a:xfrm xmlns:a="http://schemas.openxmlformats.org/drawingml/2006/main">
            <a:off x="819150" y="382905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172126"/>
                </a:solidFill>
              </a:defRPr>
            </a:pPr>
            <a:r>
              <a:rPr sz="1500" b="1" i="0">
                <a:solidFill>
                  <a:srgbClr val="172126"/>
                </a:solidFill>
              </a:rPr>
              <a:t>RECEVOIR</a:t>
            </a:r>
          </a:p>
        </p:txBody>
      </p:sp>
      <p:sp>
        <p:nvSpPr>
          <p:cNvPr id="11" name="">
            <a:extLst xmlns:a="http://schemas.openxmlformats.org/drawingml/2006/main">
              <a:ext uri="{FF2B5EF4-FFF2-40B4-BE49-F238E27FC236}">
                <a16:creationId xmlns:a16="http://schemas.microsoft.com/office/drawing/2014/main" id="{1C998040-2732-473B-9D1B-3516ECB96BA8}"/>
              </a:ext>
            </a:extLst>
          </p:cNvPr>
          <p:cNvSpPr>
            <a:spLocks xmlns:a="http://schemas.openxmlformats.org/drawingml/2006/main" noGrp="1"/>
          </p:cNvSpPr>
          <p:nvPr/>
        </p:nvSpPr>
        <p:spPr>
          <a:xfrm xmlns:a="http://schemas.openxmlformats.org/drawingml/2006/main">
            <a:off x="819150" y="430530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686C69"/>
                </a:solidFill>
              </a:defRPr>
            </a:pPr>
            <a:r>
              <a:rPr sz="1125" b="0" i="0">
                <a:solidFill>
                  <a:srgbClr val="686C69"/>
                </a:solidFill>
              </a:rPr>
              <a:t>E-mail · dépôt · archive</a:t>
            </a:r>
          </a:p>
        </p:txBody>
      </p:sp>
      <p:sp>
        <p:nvSpPr>
          <p:cNvPr id="12" name="">
            <a:extLst xmlns:a="http://schemas.openxmlformats.org/drawingml/2006/main">
              <a:ext uri="{FF2B5EF4-FFF2-40B4-BE49-F238E27FC236}">
                <a16:creationId xmlns:a16="http://schemas.microsoft.com/office/drawing/2014/main" id="{208F4AA7-B917-4FCD-A752-557E4B9E2836}"/>
              </a:ext>
            </a:extLst>
          </p:cNvPr>
          <p:cNvSpPr>
            <a:spLocks xmlns:a="http://schemas.openxmlformats.org/drawingml/2006/main" noGrp="1"/>
          </p:cNvSpPr>
          <p:nvPr/>
        </p:nvSpPr>
        <p:spPr>
          <a:xfrm xmlns:a="http://schemas.openxmlformats.org/drawingml/2006/main">
            <a:off x="5762625" y="376237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250" b="1" i="0">
                <a:solidFill>
                  <a:srgbClr val="D8D0C3"/>
                </a:solidFill>
              </a:defRPr>
            </a:pPr>
            <a:r>
              <a:rPr sz="2250" b="1" i="0">
                <a:solidFill>
                  <a:srgbClr val="D8D0C3"/>
                </a:solidFill>
              </a:rPr>
              <a:t>→</a:t>
            </a:r>
          </a:p>
        </p:txBody>
      </p:sp>
      <p:sp>
        <p:nvSpPr>
          <p:cNvPr id="13" name="">
            <a:extLst xmlns:a="http://schemas.openxmlformats.org/drawingml/2006/main">
              <a:ext uri="{FF2B5EF4-FFF2-40B4-BE49-F238E27FC236}">
                <a16:creationId xmlns:a16="http://schemas.microsoft.com/office/drawing/2014/main" id="{28EADF15-AD40-4541-ABED-4497A3B0B60F}"/>
              </a:ext>
            </a:extLst>
          </p:cNvPr>
          <p:cNvSpPr>
            <a:spLocks xmlns:a="http://schemas.openxmlformats.org/drawingml/2006/main" noGrp="1"/>
          </p:cNvSpPr>
          <p:nvPr/>
        </p:nvSpPr>
        <p:spPr>
          <a:xfrm xmlns:a="http://schemas.openxmlformats.org/drawingml/2006/main">
            <a:off x="3457575" y="3238500"/>
            <a:ext cx="2305050" cy="1809750"/>
          </a:xfrm>
          <a:prstGeom xmlns:a="http://schemas.openxmlformats.org/drawingml/2006/main" prst="roundRect">
            <a:avLst>
              <a:gd name="adj" fmla="val 1579"/>
            </a:avLst>
          </a:prstGeom>
          <a:solidFill xmlns:a="http://schemas.openxmlformats.org/drawingml/2006/main">
            <a:srgbClr val="F4DED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1FF78A6-A249-4C1C-919B-00D4942B7401}"/>
              </a:ext>
            </a:extLst>
          </p:cNvPr>
          <p:cNvSpPr>
            <a:spLocks xmlns:a="http://schemas.openxmlformats.org/drawingml/2006/main" noGrp="1"/>
          </p:cNvSpPr>
          <p:nvPr/>
        </p:nvSpPr>
        <p:spPr>
          <a:xfrm xmlns:a="http://schemas.openxmlformats.org/drawingml/2006/main">
            <a:off x="3629025" y="3409950"/>
            <a:ext cx="34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C96F52"/>
                </a:solidFill>
              </a:defRPr>
            </a:pPr>
            <a:r>
              <a:rPr sz="900" b="1" i="0">
                <a:solidFill>
                  <a:srgbClr val="C96F52"/>
                </a:solidFill>
              </a:rPr>
              <a:t>02</a:t>
            </a:r>
          </a:p>
        </p:txBody>
      </p:sp>
      <p:sp>
        <p:nvSpPr>
          <p:cNvPr id="15" name="">
            <a:extLst xmlns:a="http://schemas.openxmlformats.org/drawingml/2006/main">
              <a:ext uri="{FF2B5EF4-FFF2-40B4-BE49-F238E27FC236}">
                <a16:creationId xmlns:a16="http://schemas.microsoft.com/office/drawing/2014/main" id="{B7950684-2CB2-4077-A981-E7B597C05831}"/>
              </a:ext>
            </a:extLst>
          </p:cNvPr>
          <p:cNvSpPr>
            <a:spLocks xmlns:a="http://schemas.openxmlformats.org/drawingml/2006/main" noGrp="1"/>
          </p:cNvSpPr>
          <p:nvPr/>
        </p:nvSpPr>
        <p:spPr>
          <a:xfrm xmlns:a="http://schemas.openxmlformats.org/drawingml/2006/main">
            <a:off x="3629025" y="382905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172126"/>
                </a:solidFill>
              </a:defRPr>
            </a:pPr>
            <a:r>
              <a:rPr sz="1500" b="1" i="0">
                <a:solidFill>
                  <a:srgbClr val="172126"/>
                </a:solidFill>
              </a:rPr>
              <a:t>STRUCTURER</a:t>
            </a:r>
          </a:p>
        </p:txBody>
      </p:sp>
      <p:sp>
        <p:nvSpPr>
          <p:cNvPr id="16" name="">
            <a:extLst xmlns:a="http://schemas.openxmlformats.org/drawingml/2006/main">
              <a:ext uri="{FF2B5EF4-FFF2-40B4-BE49-F238E27FC236}">
                <a16:creationId xmlns:a16="http://schemas.microsoft.com/office/drawing/2014/main" id="{00F0EE17-E708-4DDB-A425-E7FD37AC9D88}"/>
              </a:ext>
            </a:extLst>
          </p:cNvPr>
          <p:cNvSpPr>
            <a:spLocks xmlns:a="http://schemas.openxmlformats.org/drawingml/2006/main" noGrp="1"/>
          </p:cNvSpPr>
          <p:nvPr/>
        </p:nvSpPr>
        <p:spPr>
          <a:xfrm xmlns:a="http://schemas.openxmlformats.org/drawingml/2006/main">
            <a:off x="3629025" y="430530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686C69"/>
                </a:solidFill>
              </a:defRPr>
            </a:pPr>
            <a:r>
              <a:rPr sz="1125" b="0" i="0">
                <a:solidFill>
                  <a:srgbClr val="686C69"/>
                </a:solidFill>
              </a:rPr>
              <a:t>OCR · classer · rapprocher</a:t>
            </a:r>
          </a:p>
        </p:txBody>
      </p:sp>
      <p:sp>
        <p:nvSpPr>
          <p:cNvPr id="17" name="">
            <a:extLst xmlns:a="http://schemas.openxmlformats.org/drawingml/2006/main">
              <a:ext uri="{FF2B5EF4-FFF2-40B4-BE49-F238E27FC236}">
                <a16:creationId xmlns:a16="http://schemas.microsoft.com/office/drawing/2014/main" id="{8DF393B1-E838-4222-A22B-E89018F3CFF8}"/>
              </a:ext>
            </a:extLst>
          </p:cNvPr>
          <p:cNvSpPr>
            <a:spLocks xmlns:a="http://schemas.openxmlformats.org/drawingml/2006/main" noGrp="1"/>
          </p:cNvSpPr>
          <p:nvPr/>
        </p:nvSpPr>
        <p:spPr>
          <a:xfrm xmlns:a="http://schemas.openxmlformats.org/drawingml/2006/main">
            <a:off x="8572500" y="3762375"/>
            <a:ext cx="5143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250" b="1" i="0">
                <a:solidFill>
                  <a:srgbClr val="D8D0C3"/>
                </a:solidFill>
              </a:defRPr>
            </a:pPr>
            <a:r>
              <a:rPr sz="2250" b="1" i="0">
                <a:solidFill>
                  <a:srgbClr val="D8D0C3"/>
                </a:solidFill>
              </a:rPr>
              <a:t>→</a:t>
            </a:r>
          </a:p>
        </p:txBody>
      </p:sp>
      <p:sp>
        <p:nvSpPr>
          <p:cNvPr id="18" name="">
            <a:extLst xmlns:a="http://schemas.openxmlformats.org/drawingml/2006/main">
              <a:ext uri="{FF2B5EF4-FFF2-40B4-BE49-F238E27FC236}">
                <a16:creationId xmlns:a16="http://schemas.microsoft.com/office/drawing/2014/main" id="{F4BC3B9E-AA72-410B-A60A-5B6B3959BCF3}"/>
              </a:ext>
            </a:extLst>
          </p:cNvPr>
          <p:cNvSpPr>
            <a:spLocks xmlns:a="http://schemas.openxmlformats.org/drawingml/2006/main" noGrp="1"/>
          </p:cNvSpPr>
          <p:nvPr/>
        </p:nvSpPr>
        <p:spPr>
          <a:xfrm xmlns:a="http://schemas.openxmlformats.org/drawingml/2006/main">
            <a:off x="6267450" y="3238500"/>
            <a:ext cx="2305050" cy="1809750"/>
          </a:xfrm>
          <a:prstGeom xmlns:a="http://schemas.openxmlformats.org/drawingml/2006/main" prst="roundRect">
            <a:avLst>
              <a:gd name="adj" fmla="val 1579"/>
            </a:avLst>
          </a:prstGeom>
          <a:solidFill xmlns:a="http://schemas.openxmlformats.org/drawingml/2006/main">
            <a:srgbClr val="DDE8D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847A30E-9213-443A-B2EA-428351B52FB3}"/>
              </a:ext>
            </a:extLst>
          </p:cNvPr>
          <p:cNvSpPr>
            <a:spLocks xmlns:a="http://schemas.openxmlformats.org/drawingml/2006/main" noGrp="1"/>
          </p:cNvSpPr>
          <p:nvPr/>
        </p:nvSpPr>
        <p:spPr>
          <a:xfrm xmlns:a="http://schemas.openxmlformats.org/drawingml/2006/main">
            <a:off x="6438900" y="3409950"/>
            <a:ext cx="34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6F8E7D"/>
                </a:solidFill>
              </a:defRPr>
            </a:pPr>
            <a:r>
              <a:rPr sz="900" b="1" i="0">
                <a:solidFill>
                  <a:srgbClr val="6F8E7D"/>
                </a:solidFill>
              </a:rPr>
              <a:t>03</a:t>
            </a:r>
          </a:p>
        </p:txBody>
      </p:sp>
      <p:sp>
        <p:nvSpPr>
          <p:cNvPr id="20" name="">
            <a:extLst xmlns:a="http://schemas.openxmlformats.org/drawingml/2006/main">
              <a:ext uri="{FF2B5EF4-FFF2-40B4-BE49-F238E27FC236}">
                <a16:creationId xmlns:a16="http://schemas.microsoft.com/office/drawing/2014/main" id="{8C2CF5B2-1B63-41D1-8135-CD028DA8B4D2}"/>
              </a:ext>
            </a:extLst>
          </p:cNvPr>
          <p:cNvSpPr>
            <a:spLocks xmlns:a="http://schemas.openxmlformats.org/drawingml/2006/main" noGrp="1"/>
          </p:cNvSpPr>
          <p:nvPr/>
        </p:nvSpPr>
        <p:spPr>
          <a:xfrm xmlns:a="http://schemas.openxmlformats.org/drawingml/2006/main">
            <a:off x="6438900" y="382905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172126"/>
                </a:solidFill>
              </a:defRPr>
            </a:pPr>
            <a:r>
              <a:rPr sz="1500" b="1" i="0">
                <a:solidFill>
                  <a:srgbClr val="172126"/>
                </a:solidFill>
              </a:rPr>
              <a:t>GÉRER</a:t>
            </a:r>
          </a:p>
        </p:txBody>
      </p:sp>
      <p:sp>
        <p:nvSpPr>
          <p:cNvPr id="21" name="">
            <a:extLst xmlns:a="http://schemas.openxmlformats.org/drawingml/2006/main">
              <a:ext uri="{FF2B5EF4-FFF2-40B4-BE49-F238E27FC236}">
                <a16:creationId xmlns:a16="http://schemas.microsoft.com/office/drawing/2014/main" id="{6E6D92D6-9029-4FFA-A833-3A073E7CEDE5}"/>
              </a:ext>
            </a:extLst>
          </p:cNvPr>
          <p:cNvSpPr>
            <a:spLocks xmlns:a="http://schemas.openxmlformats.org/drawingml/2006/main" noGrp="1"/>
          </p:cNvSpPr>
          <p:nvPr/>
        </p:nvSpPr>
        <p:spPr>
          <a:xfrm xmlns:a="http://schemas.openxmlformats.org/drawingml/2006/main">
            <a:off x="6438900" y="430530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686C69"/>
                </a:solidFill>
              </a:defRPr>
            </a:pPr>
            <a:r>
              <a:rPr sz="1125" b="0" i="0">
                <a:solidFill>
                  <a:srgbClr val="686C69"/>
                </a:solidFill>
              </a:rPr>
              <a:t>Facturer · encaisser · payer</a:t>
            </a:r>
          </a:p>
        </p:txBody>
      </p:sp>
      <p:sp>
        <p:nvSpPr>
          <p:cNvPr id="22" name="">
            <a:extLst xmlns:a="http://schemas.openxmlformats.org/drawingml/2006/main">
              <a:ext uri="{FF2B5EF4-FFF2-40B4-BE49-F238E27FC236}">
                <a16:creationId xmlns:a16="http://schemas.microsoft.com/office/drawing/2014/main" id="{B904BBBC-1D3B-4C2F-99FC-0C3F5ECCC7F8}"/>
              </a:ext>
            </a:extLst>
          </p:cNvPr>
          <p:cNvSpPr>
            <a:spLocks xmlns:a="http://schemas.openxmlformats.org/drawingml/2006/main" noGrp="1"/>
          </p:cNvSpPr>
          <p:nvPr/>
        </p:nvSpPr>
        <p:spPr>
          <a:xfrm xmlns:a="http://schemas.openxmlformats.org/drawingml/2006/main">
            <a:off x="9077325" y="3238500"/>
            <a:ext cx="2305050" cy="1809750"/>
          </a:xfrm>
          <a:prstGeom xmlns:a="http://schemas.openxmlformats.org/drawingml/2006/main" prst="roundRect">
            <a:avLst>
              <a:gd name="adj" fmla="val 1579"/>
            </a:avLst>
          </a:prstGeom>
          <a:solidFill xmlns:a="http://schemas.openxmlformats.org/drawingml/2006/main">
            <a:srgbClr val="F6EBC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71B9369-B5C4-4F05-BCB2-D3F5C5924CE7}"/>
              </a:ext>
            </a:extLst>
          </p:cNvPr>
          <p:cNvSpPr>
            <a:spLocks xmlns:a="http://schemas.openxmlformats.org/drawingml/2006/main" noGrp="1"/>
          </p:cNvSpPr>
          <p:nvPr/>
        </p:nvSpPr>
        <p:spPr>
          <a:xfrm xmlns:a="http://schemas.openxmlformats.org/drawingml/2006/main">
            <a:off x="9248775" y="3409950"/>
            <a:ext cx="3429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D3A23A"/>
                </a:solidFill>
              </a:defRPr>
            </a:pPr>
            <a:r>
              <a:rPr sz="900" b="1" i="0">
                <a:solidFill>
                  <a:srgbClr val="D3A23A"/>
                </a:solidFill>
              </a:rPr>
              <a:t>04</a:t>
            </a:r>
          </a:p>
        </p:txBody>
      </p:sp>
      <p:sp>
        <p:nvSpPr>
          <p:cNvPr id="24" name="">
            <a:extLst xmlns:a="http://schemas.openxmlformats.org/drawingml/2006/main">
              <a:ext uri="{FF2B5EF4-FFF2-40B4-BE49-F238E27FC236}">
                <a16:creationId xmlns:a16="http://schemas.microsoft.com/office/drawing/2014/main" id="{F3D25441-70C3-406A-9131-B56AB568C674}"/>
              </a:ext>
            </a:extLst>
          </p:cNvPr>
          <p:cNvSpPr>
            <a:spLocks xmlns:a="http://schemas.openxmlformats.org/drawingml/2006/main" noGrp="1"/>
          </p:cNvSpPr>
          <p:nvPr/>
        </p:nvSpPr>
        <p:spPr>
          <a:xfrm xmlns:a="http://schemas.openxmlformats.org/drawingml/2006/main">
            <a:off x="9248775" y="382905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172126"/>
                </a:solidFill>
              </a:defRPr>
            </a:pPr>
            <a:r>
              <a:rPr sz="1500" b="1" i="0">
                <a:solidFill>
                  <a:srgbClr val="172126"/>
                </a:solidFill>
              </a:rPr>
              <a:t>PRODUIRE</a:t>
            </a:r>
          </a:p>
        </p:txBody>
      </p:sp>
      <p:sp>
        <p:nvSpPr>
          <p:cNvPr id="25" name="">
            <a:extLst xmlns:a="http://schemas.openxmlformats.org/drawingml/2006/main">
              <a:ext uri="{FF2B5EF4-FFF2-40B4-BE49-F238E27FC236}">
                <a16:creationId xmlns:a16="http://schemas.microsoft.com/office/drawing/2014/main" id="{3CD74724-5570-4FDA-BABA-C15CE4AF62BE}"/>
              </a:ext>
            </a:extLst>
          </p:cNvPr>
          <p:cNvSpPr>
            <a:spLocks xmlns:a="http://schemas.openxmlformats.org/drawingml/2006/main" noGrp="1"/>
          </p:cNvSpPr>
          <p:nvPr/>
        </p:nvSpPr>
        <p:spPr>
          <a:xfrm xmlns:a="http://schemas.openxmlformats.org/drawingml/2006/main">
            <a:off x="9248775" y="4305300"/>
            <a:ext cx="18859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686C69"/>
                </a:solidFill>
              </a:defRPr>
            </a:pPr>
            <a:r>
              <a:rPr sz="1125" b="0" i="0">
                <a:solidFill>
                  <a:srgbClr val="686C69"/>
                </a:solidFill>
              </a:rPr>
              <a:t>TVA · écritures · exports CGNC</a:t>
            </a:r>
          </a:p>
        </p:txBody>
      </p:sp>
      <p:sp>
        <p:nvSpPr>
          <p:cNvPr id="26" name="">
            <a:extLst xmlns:a="http://schemas.openxmlformats.org/drawingml/2006/main">
              <a:ext uri="{FF2B5EF4-FFF2-40B4-BE49-F238E27FC236}">
                <a16:creationId xmlns:a16="http://schemas.microsoft.com/office/drawing/2014/main" id="{3F40693F-B3A5-4106-AD1E-2283E9400524}"/>
              </a:ext>
            </a:extLst>
          </p:cNvPr>
          <p:cNvSpPr>
            <a:spLocks xmlns:a="http://schemas.openxmlformats.org/drawingml/2006/main" noGrp="1"/>
          </p:cNvSpPr>
          <p:nvPr/>
        </p:nvSpPr>
        <p:spPr>
          <a:xfrm xmlns:a="http://schemas.openxmlformats.org/drawingml/2006/main">
            <a:off x="647700" y="5505450"/>
            <a:ext cx="10782300" cy="476250"/>
          </a:xfrm>
          <a:prstGeom xmlns:a="http://schemas.openxmlformats.org/drawingml/2006/main" prst="roundRect">
            <a:avLst>
              <a:gd name="adj" fmla="val 4000"/>
            </a:avLst>
          </a:prstGeom>
          <a:solidFill xmlns:a="http://schemas.openxmlformats.org/drawingml/2006/main">
            <a:srgbClr val="172126"/>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F524048-A5D2-4DC8-B630-7A9855AD656B}"/>
              </a:ext>
            </a:extLst>
          </p:cNvPr>
          <p:cNvSpPr>
            <a:spLocks xmlns:a="http://schemas.openxmlformats.org/drawingml/2006/main" noGrp="1"/>
          </p:cNvSpPr>
          <p:nvPr/>
        </p:nvSpPr>
        <p:spPr>
          <a:xfrm xmlns:a="http://schemas.openxmlformats.org/drawingml/2006/main">
            <a:off x="838200" y="5648325"/>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200" b="1" i="0">
                <a:solidFill>
                  <a:srgbClr val="FFFDF8"/>
                </a:solidFill>
              </a:defRPr>
            </a:pPr>
            <a:r>
              <a:rPr sz="1200" b="1" i="0">
                <a:solidFill>
                  <a:srgbClr val="FFFDF8"/>
                </a:solidFill>
              </a:rPr>
              <a:t>UNE MÊME DONNÉE FINANCIÈRE · DEUX ESPACES QUI COLLABORENT</a:t>
            </a:r>
          </a:p>
        </p:txBody>
      </p:sp>
    </p:spTree>
    <p:extLst>
      <p:ext uri="{BB962C8B-B14F-4D97-AF65-F5344CB8AC3E}">
        <p14:creationId xmlns:p14="http://schemas.microsoft.com/office/powerpoint/2010/main" val="629381939"/>
      </p:ext>
    </p:extLst>
  </p:cSld>
</p:sld>
</file>

<file path=ppt/slides/slide5.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A13FF135-6BF0-4E57-B3A1-4750EF096CA1}"/>
              </a:ext>
            </a:extLst>
          </p:cNvPr>
          <p:cNvSpPr>
            <a:spLocks xmlns:a="http://schemas.openxmlformats.org/drawingml/2006/main" noGrp="1"/>
          </p:cNvSpPr>
          <p:nvPr/>
        </p:nvSpPr>
        <p:spPr>
          <a:xfrm xmlns:a="http://schemas.openxmlformats.org/drawingml/2006/main">
            <a:off x="533400" y="285750"/>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686C69"/>
                </a:solidFill>
              </a:defRPr>
            </a:pPr>
            <a:r>
              <a:rPr sz="825" b="1" i="0">
                <a:solidFill>
                  <a:srgbClr val="686C69"/>
                </a:solidFill>
              </a:rPr>
              <a:t>PRODUIT</a:t>
            </a:r>
          </a:p>
        </p:txBody>
      </p:sp>
      <p:sp>
        <p:nvSpPr>
          <p:cNvPr id="2" name="">
            <a:extLst xmlns:a="http://schemas.openxmlformats.org/drawingml/2006/main">
              <a:ext uri="{FF2B5EF4-FFF2-40B4-BE49-F238E27FC236}">
                <a16:creationId xmlns:a16="http://schemas.microsoft.com/office/drawing/2014/main" id="{E25886D5-D65F-45D6-8E47-5B97C284FE14}"/>
              </a:ext>
            </a:extLst>
          </p:cNvPr>
          <p:cNvSpPr>
            <a:spLocks xmlns:a="http://schemas.openxmlformats.org/drawingml/2006/main" noGrp="1"/>
          </p:cNvSpPr>
          <p:nvPr/>
        </p:nvSpPr>
        <p:spPr>
          <a:xfrm xmlns:a="http://schemas.openxmlformats.org/drawingml/2006/main">
            <a:off x="11201400" y="2667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i="0">
                <a:solidFill>
                  <a:srgbClr val="686C69"/>
                </a:solidFill>
              </a:defRPr>
            </a:pPr>
            <a:r>
              <a:rPr sz="900" b="1" i="0">
                <a:solidFill>
                  <a:srgbClr val="686C69"/>
                </a:solidFill>
              </a:rPr>
              <a:t>05</a:t>
            </a:r>
          </a:p>
        </p:txBody>
      </p:sp>
      <p:sp>
        <p:nvSpPr>
          <p:cNvPr id="3" name="">
            <a:extLst xmlns:a="http://schemas.openxmlformats.org/drawingml/2006/main">
              <a:ext uri="{FF2B5EF4-FFF2-40B4-BE49-F238E27FC236}">
                <a16:creationId xmlns:a16="http://schemas.microsoft.com/office/drawing/2014/main" id="{E6018736-BC46-4271-ACB0-7723DDB8B095}"/>
              </a:ext>
            </a:extLst>
          </p:cNvPr>
          <p:cNvSpPr>
            <a:spLocks xmlns:a="http://schemas.openxmlformats.org/drawingml/2006/main" noGrp="1"/>
          </p:cNvSpPr>
          <p:nvPr/>
        </p:nvSpPr>
        <p:spPr>
          <a:xfrm xmlns:a="http://schemas.openxmlformats.org/drawingml/2006/main">
            <a:off x="533400" y="552450"/>
            <a:ext cx="11125200" cy="9525"/>
          </a:xfrm>
          <a:prstGeom xmlns:a="http://schemas.openxmlformats.org/drawingml/2006/main" prst="rect">
            <a:avLst/>
          </a:prstGeom>
          <a:solidFill xmlns:a="http://schemas.openxmlformats.org/drawingml/2006/main">
            <a:srgbClr val="D8D0C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45B9C40-2E06-4962-8146-3B5CE10291F8}"/>
              </a:ext>
            </a:extLst>
          </p:cNvPr>
          <p:cNvSpPr>
            <a:spLocks xmlns:a="http://schemas.openxmlformats.org/drawingml/2006/main" noGrp="1"/>
          </p:cNvSpPr>
          <p:nvPr/>
        </p:nvSpPr>
        <p:spPr>
          <a:xfrm xmlns:a="http://schemas.openxmlformats.org/drawingml/2006/main">
            <a:off x="609600" y="876300"/>
            <a:ext cx="1066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i="0">
                <a:solidFill>
                  <a:srgbClr val="172126"/>
                </a:solidFill>
              </a:defRPr>
            </a:pPr>
            <a:r>
              <a:rPr sz="3150" b="1" i="0">
                <a:solidFill>
                  <a:srgbClr val="172126"/>
                </a:solidFill>
              </a:rPr>
              <a:t>Le produit couvre le cycle financier au quotidien.</a:t>
            </a:r>
          </a:p>
        </p:txBody>
      </p:sp>
      <p:sp>
        <p:nvSpPr>
          <p:cNvPr id="5" name="">
            <a:extLst xmlns:a="http://schemas.openxmlformats.org/drawingml/2006/main">
              <a:ext uri="{FF2B5EF4-FFF2-40B4-BE49-F238E27FC236}">
                <a16:creationId xmlns:a16="http://schemas.microsoft.com/office/drawing/2014/main" id="{AB8025B1-1C52-472C-A639-F8DA84BC3A7E}"/>
              </a:ext>
            </a:extLst>
          </p:cNvPr>
          <p:cNvSpPr>
            <a:spLocks xmlns:a="http://schemas.openxmlformats.org/drawingml/2006/main" noGrp="1"/>
          </p:cNvSpPr>
          <p:nvPr/>
        </p:nvSpPr>
        <p:spPr>
          <a:xfrm xmlns:a="http://schemas.openxmlformats.org/drawingml/2006/main">
            <a:off x="628650" y="1609725"/>
            <a:ext cx="942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686C69"/>
                </a:solidFill>
              </a:defRPr>
            </a:pPr>
            <a:r>
              <a:rPr sz="1350" b="0" i="0">
                <a:solidFill>
                  <a:srgbClr val="686C69"/>
                </a:solidFill>
              </a:rPr>
              <a:t>TVA, paie, banque, archivage et exports comptables adaptés au Maroc.</a:t>
            </a:r>
          </a:p>
        </p:txBody>
      </p:sp>
      <p:sp>
        <p:nvSpPr>
          <p:cNvPr id="6" name="">
            <a:extLst xmlns:a="http://schemas.openxmlformats.org/drawingml/2006/main">
              <a:ext uri="{FF2B5EF4-FFF2-40B4-BE49-F238E27FC236}">
                <a16:creationId xmlns:a16="http://schemas.microsoft.com/office/drawing/2014/main" id="{E702983A-1BE1-4C11-9218-369535439E2F}"/>
              </a:ext>
            </a:extLst>
          </p:cNvPr>
          <p:cNvSpPr>
            <a:spLocks xmlns:a="http://schemas.openxmlformats.org/drawingml/2006/main" noGrp="1"/>
          </p:cNvSpPr>
          <p:nvPr/>
        </p:nvSpPr>
        <p:spPr>
          <a:xfrm xmlns:a="http://schemas.openxmlformats.org/drawingml/2006/main">
            <a:off x="628650" y="2381250"/>
            <a:ext cx="6819900" cy="3857625"/>
          </a:xfrm>
          <a:prstGeom xmlns:a="http://schemas.openxmlformats.org/drawingml/2006/main" prst="roundRect">
            <a:avLst>
              <a:gd name="adj" fmla="val 494"/>
            </a:avLst>
          </a:prstGeom>
          <a:solidFill xmlns:a="http://schemas.openxmlformats.org/drawingml/2006/main">
            <a:srgbClr val="000000">
              <a:alpha val="7059"/>
            </a:srgbClr>
          </a:solidFill>
          <a:ln xmlns:a="http://schemas.openxmlformats.org/drawingml/2006/main" w="0">
            <a:noFill/>
            <a:prstDash val="solid"/>
          </a:ln>
        </p:spPr>
      </p:sp>
      <p:sp>
        <p:nvSpPr>
          <p:cNvPr id="7" name="paper-card">
            <a:extLst xmlns:a="http://schemas.openxmlformats.org/drawingml/2006/main">
              <a:ext uri="{FF2B5EF4-FFF2-40B4-BE49-F238E27FC236}">
                <a16:creationId xmlns:a16="http://schemas.microsoft.com/office/drawing/2014/main" id="{2C6A9026-6048-4BE8-A6CE-163063DFED0E}"/>
              </a:ext>
            </a:extLst>
          </p:cNvPr>
          <p:cNvSpPr>
            <a:spLocks xmlns:a="http://schemas.openxmlformats.org/drawingml/2006/main" noGrp="1"/>
          </p:cNvSpPr>
          <p:nvPr/>
        </p:nvSpPr>
        <p:spPr>
          <a:xfrm xmlns:a="http://schemas.openxmlformats.org/drawingml/2006/main">
            <a:off x="552450" y="2286000"/>
            <a:ext cx="6819900" cy="3857625"/>
          </a:xfrm>
          <a:prstGeom xmlns:a="http://schemas.openxmlformats.org/drawingml/2006/main" prst="roundRect">
            <a:avLst>
              <a:gd name="adj" fmla="val 494"/>
            </a:avLst>
          </a:prstGeom>
          <a:solidFill xmlns:a="http://schemas.openxmlformats.org/drawingml/2006/main">
            <a:srgbClr val="FFFDF8"/>
          </a:solidFill>
          <a:ln xmlns:a="http://schemas.openxmlformats.org/drawingml/2006/main" w="9525">
            <a:solidFill>
              <a:srgbClr val="D8D0C3"/>
            </a:solidFill>
            <a:prstDash val="solid"/>
          </a:ln>
        </p:spPr>
      </p:sp>
      <p:pic>
        <p:nvPicPr>
          <p:cNvPr id="37" name="">
            <a:extLst xmlns:a="http://schemas.openxmlformats.org/drawingml/2006/main">
              <a:ext uri="{FF2B5EF4-FFF2-40B4-BE49-F238E27FC236}">
                <a16:creationId xmlns:a16="http://schemas.microsoft.com/office/drawing/2014/main" id="{43F27BA0-D76B-430F-9A37-6920C4C071EF}"/>
              </a:ext>
            </a:extLst>
          </p:cNvPr>
          <p:cNvPicPr>
            <a:picLocks xmlns:a="http://schemas.openxmlformats.org/drawingml/2006/main" noChangeAspect="1"/>
          </p:cNvPicPr>
          <p:nvPr/>
        </p:nvPicPr>
        <p:blipFill>
          <a:blip xmlns:r="http://schemas.openxmlformats.org/officeDocument/2006/relationships" xmlns:a="http://schemas.openxmlformats.org/drawingml/2006/main" r:embed="Ra960fac412fc4ee5"/>
          <a:stretch xmlns:a="http://schemas.openxmlformats.org/drawingml/2006/main"/>
        </p:blipFill>
        <p:spPr>
          <a:xfrm xmlns:a="http://schemas.openxmlformats.org/drawingml/2006/main" rot="-72000">
            <a:off x="1090965" y="2476500"/>
            <a:ext cx="5742869" cy="3476625"/>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32F8275A-8679-4CE0-BD84-7241E0C054B0}"/>
              </a:ext>
            </a:extLst>
          </p:cNvPr>
          <p:cNvSpPr>
            <a:spLocks xmlns:a="http://schemas.openxmlformats.org/drawingml/2006/main" noGrp="1"/>
          </p:cNvSpPr>
          <p:nvPr/>
        </p:nvSpPr>
        <p:spPr>
          <a:xfrm xmlns:a="http://schemas.openxmlformats.org/drawingml/2006/main">
            <a:off x="7791450" y="2419350"/>
            <a:ext cx="1790700" cy="1104900"/>
          </a:xfrm>
          <a:prstGeom xmlns:a="http://schemas.openxmlformats.org/drawingml/2006/main" prst="roundRect">
            <a:avLst>
              <a:gd name="adj" fmla="val 1724"/>
            </a:avLst>
          </a:prstGeom>
          <a:solidFill xmlns:a="http://schemas.openxmlformats.org/drawingml/2006/main">
            <a:srgbClr val="000000">
              <a:alpha val="7059"/>
            </a:srgbClr>
          </a:solidFill>
          <a:ln xmlns:a="http://schemas.openxmlformats.org/drawingml/2006/main" w="0">
            <a:noFill/>
            <a:prstDash val="solid"/>
          </a:ln>
        </p:spPr>
      </p:sp>
      <p:sp>
        <p:nvSpPr>
          <p:cNvPr id="10" name="paper-card">
            <a:extLst xmlns:a="http://schemas.openxmlformats.org/drawingml/2006/main">
              <a:ext uri="{FF2B5EF4-FFF2-40B4-BE49-F238E27FC236}">
                <a16:creationId xmlns:a16="http://schemas.microsoft.com/office/drawing/2014/main" id="{2A55D8AF-0188-46A3-BAD1-3D3BB6BFAF1B}"/>
              </a:ext>
            </a:extLst>
          </p:cNvPr>
          <p:cNvSpPr>
            <a:spLocks xmlns:a="http://schemas.openxmlformats.org/drawingml/2006/main" noGrp="1"/>
          </p:cNvSpPr>
          <p:nvPr/>
        </p:nvSpPr>
        <p:spPr>
          <a:xfrm xmlns:a="http://schemas.openxmlformats.org/drawingml/2006/main">
            <a:off x="7715250" y="2324100"/>
            <a:ext cx="1790700" cy="1104900"/>
          </a:xfrm>
          <a:prstGeom xmlns:a="http://schemas.openxmlformats.org/drawingml/2006/main" prst="roundRect">
            <a:avLst>
              <a:gd name="adj" fmla="val 1724"/>
            </a:avLst>
          </a:prstGeom>
          <a:solidFill xmlns:a="http://schemas.openxmlformats.org/drawingml/2006/main">
            <a:srgbClr val="FFFDF8"/>
          </a:solidFill>
          <a:ln xmlns:a="http://schemas.openxmlformats.org/drawingml/2006/main" w="9525">
            <a:solidFill>
              <a:srgbClr val="D8D0C3"/>
            </a:solidFill>
            <a:prstDash val="solid"/>
          </a:ln>
        </p:spPr>
      </p:sp>
      <p:pic>
        <p:nvPicPr>
          <p:cNvPr id="40" name="">
            <a:extLst xmlns:a="http://schemas.openxmlformats.org/drawingml/2006/main">
              <a:ext uri="{FF2B5EF4-FFF2-40B4-BE49-F238E27FC236}">
                <a16:creationId xmlns:a16="http://schemas.microsoft.com/office/drawing/2014/main" id="{E37137A0-B67C-4028-B019-25381651777B}"/>
              </a:ext>
            </a:extLst>
          </p:cNvPr>
          <p:cNvPicPr>
            <a:picLocks xmlns:a="http://schemas.openxmlformats.org/drawingml/2006/main" noChangeAspect="1"/>
          </p:cNvPicPr>
          <p:nvPr/>
        </p:nvPicPr>
        <p:blipFill>
          <a:blip xmlns:r="http://schemas.openxmlformats.org/officeDocument/2006/relationships" xmlns:a="http://schemas.openxmlformats.org/drawingml/2006/main" r:embed="Re8b0d2146209421b"/>
          <a:srcRect xmlns:a="http://schemas.openxmlformats.org/drawingml/2006/main" l="0" t="1981" r="0" b="1981"/>
          <a:stretch xmlns:a="http://schemas.openxmlformats.org/drawingml/2006/main">
            <a:fillRect l="0" t="0" r="0" b="0"/>
          </a:stretch>
        </p:blipFill>
        <p:spPr>
          <a:xfrm xmlns:a="http://schemas.openxmlformats.org/drawingml/2006/main" rot="-72000">
            <a:off x="7791450" y="2400300"/>
            <a:ext cx="1638300" cy="9525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58846923-E738-46D8-9482-79CD76295954}"/>
              </a:ext>
            </a:extLst>
          </p:cNvPr>
          <p:cNvSpPr>
            <a:spLocks xmlns:a="http://schemas.openxmlformats.org/drawingml/2006/main" noGrp="1"/>
          </p:cNvSpPr>
          <p:nvPr/>
        </p:nvSpPr>
        <p:spPr>
          <a:xfrm xmlns:a="http://schemas.openxmlformats.org/drawingml/2006/main">
            <a:off x="7848600" y="3286125"/>
            <a:ext cx="1123950" cy="257175"/>
          </a:xfrm>
          <a:prstGeom xmlns:a="http://schemas.openxmlformats.org/drawingml/2006/main" prst="roundRect">
            <a:avLst>
              <a:gd name="adj" fmla="val 50000"/>
            </a:avLst>
          </a:prstGeom>
          <a:solidFill xmlns:a="http://schemas.openxmlformats.org/drawingml/2006/main">
            <a:srgbClr val="17212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1FB1889-F655-4331-ADA3-A05A56362F31}"/>
              </a:ext>
            </a:extLst>
          </p:cNvPr>
          <p:cNvSpPr>
            <a:spLocks xmlns:a="http://schemas.openxmlformats.org/drawingml/2006/main" noGrp="1"/>
          </p:cNvSpPr>
          <p:nvPr/>
        </p:nvSpPr>
        <p:spPr>
          <a:xfrm xmlns:a="http://schemas.openxmlformats.org/drawingml/2006/main">
            <a:off x="7943850" y="3333750"/>
            <a:ext cx="9334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825" b="1" i="0">
                <a:solidFill>
                  <a:srgbClr val="FFFDF8"/>
                </a:solidFill>
              </a:defRPr>
            </a:pPr>
            <a:r>
              <a:rPr sz="825" b="1" i="0">
                <a:solidFill>
                  <a:srgbClr val="FFFDF8"/>
                </a:solidFill>
              </a:rPr>
              <a:t>TVA</a:t>
            </a:r>
          </a:p>
        </p:txBody>
      </p:sp>
      <p:sp>
        <p:nvSpPr>
          <p:cNvPr id="14" name="">
            <a:extLst xmlns:a="http://schemas.openxmlformats.org/drawingml/2006/main">
              <a:ext uri="{FF2B5EF4-FFF2-40B4-BE49-F238E27FC236}">
                <a16:creationId xmlns:a16="http://schemas.microsoft.com/office/drawing/2014/main" id="{8C1ABAE6-5149-40E5-905D-5A37E424B2AE}"/>
              </a:ext>
            </a:extLst>
          </p:cNvPr>
          <p:cNvSpPr>
            <a:spLocks xmlns:a="http://schemas.openxmlformats.org/drawingml/2006/main" noGrp="1"/>
          </p:cNvSpPr>
          <p:nvPr/>
        </p:nvSpPr>
        <p:spPr>
          <a:xfrm xmlns:a="http://schemas.openxmlformats.org/drawingml/2006/main">
            <a:off x="9696450" y="2419350"/>
            <a:ext cx="1790700" cy="1104900"/>
          </a:xfrm>
          <a:prstGeom xmlns:a="http://schemas.openxmlformats.org/drawingml/2006/main" prst="roundRect">
            <a:avLst>
              <a:gd name="adj" fmla="val 1724"/>
            </a:avLst>
          </a:prstGeom>
          <a:solidFill xmlns:a="http://schemas.openxmlformats.org/drawingml/2006/main">
            <a:srgbClr val="000000">
              <a:alpha val="7059"/>
            </a:srgbClr>
          </a:solidFill>
          <a:ln xmlns:a="http://schemas.openxmlformats.org/drawingml/2006/main" w="0">
            <a:noFill/>
            <a:prstDash val="solid"/>
          </a:ln>
        </p:spPr>
      </p:sp>
      <p:sp>
        <p:nvSpPr>
          <p:cNvPr id="15" name="paper-card">
            <a:extLst xmlns:a="http://schemas.openxmlformats.org/drawingml/2006/main">
              <a:ext uri="{FF2B5EF4-FFF2-40B4-BE49-F238E27FC236}">
                <a16:creationId xmlns:a16="http://schemas.microsoft.com/office/drawing/2014/main" id="{44C8EB45-678D-4E7C-BD5E-701A9CE7B4ED}"/>
              </a:ext>
            </a:extLst>
          </p:cNvPr>
          <p:cNvSpPr>
            <a:spLocks xmlns:a="http://schemas.openxmlformats.org/drawingml/2006/main" noGrp="1"/>
          </p:cNvSpPr>
          <p:nvPr/>
        </p:nvSpPr>
        <p:spPr>
          <a:xfrm xmlns:a="http://schemas.openxmlformats.org/drawingml/2006/main">
            <a:off x="9620250" y="2324100"/>
            <a:ext cx="1790700" cy="1104900"/>
          </a:xfrm>
          <a:prstGeom xmlns:a="http://schemas.openxmlformats.org/drawingml/2006/main" prst="roundRect">
            <a:avLst>
              <a:gd name="adj" fmla="val 1724"/>
            </a:avLst>
          </a:prstGeom>
          <a:solidFill xmlns:a="http://schemas.openxmlformats.org/drawingml/2006/main">
            <a:srgbClr val="FFFDF8"/>
          </a:solidFill>
          <a:ln xmlns:a="http://schemas.openxmlformats.org/drawingml/2006/main" w="9525">
            <a:solidFill>
              <a:srgbClr val="D8D0C3"/>
            </a:solidFill>
            <a:prstDash val="solid"/>
          </a:ln>
        </p:spPr>
      </p:sp>
      <p:pic>
        <p:nvPicPr>
          <p:cNvPr id="45" name="">
            <a:extLst xmlns:a="http://schemas.openxmlformats.org/drawingml/2006/main">
              <a:ext uri="{FF2B5EF4-FFF2-40B4-BE49-F238E27FC236}">
                <a16:creationId xmlns:a16="http://schemas.microsoft.com/office/drawing/2014/main" id="{716ECC0D-CC85-48CC-905D-F85F9BB69939}"/>
              </a:ext>
            </a:extLst>
          </p:cNvPr>
          <p:cNvPicPr>
            <a:picLocks xmlns:a="http://schemas.openxmlformats.org/drawingml/2006/main" noChangeAspect="1"/>
          </p:cNvPicPr>
          <p:nvPr/>
        </p:nvPicPr>
        <p:blipFill>
          <a:blip xmlns:r="http://schemas.openxmlformats.org/officeDocument/2006/relationships" xmlns:a="http://schemas.openxmlformats.org/drawingml/2006/main" r:embed="Rcb4a0046ce284995"/>
          <a:srcRect xmlns:a="http://schemas.openxmlformats.org/drawingml/2006/main" l="0" t="2089" r="0" b="2089"/>
          <a:stretch xmlns:a="http://schemas.openxmlformats.org/drawingml/2006/main">
            <a:fillRect l="0" t="0" r="0" b="0"/>
          </a:stretch>
        </p:blipFill>
        <p:spPr>
          <a:xfrm xmlns:a="http://schemas.openxmlformats.org/drawingml/2006/main" rot="66000">
            <a:off x="9696450" y="2400300"/>
            <a:ext cx="1638300" cy="95250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62D0D095-163E-4CB8-91CF-F020D1A4E704}"/>
              </a:ext>
            </a:extLst>
          </p:cNvPr>
          <p:cNvSpPr>
            <a:spLocks xmlns:a="http://schemas.openxmlformats.org/drawingml/2006/main" noGrp="1"/>
          </p:cNvSpPr>
          <p:nvPr/>
        </p:nvSpPr>
        <p:spPr>
          <a:xfrm xmlns:a="http://schemas.openxmlformats.org/drawingml/2006/main">
            <a:off x="9753600" y="3286125"/>
            <a:ext cx="1123950" cy="257175"/>
          </a:xfrm>
          <a:prstGeom xmlns:a="http://schemas.openxmlformats.org/drawingml/2006/main" prst="roundRect">
            <a:avLst>
              <a:gd name="adj" fmla="val 50000"/>
            </a:avLst>
          </a:prstGeom>
          <a:solidFill xmlns:a="http://schemas.openxmlformats.org/drawingml/2006/main">
            <a:srgbClr val="17212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9A4D052-3D1A-4384-869E-25DB92A67DB1}"/>
              </a:ext>
            </a:extLst>
          </p:cNvPr>
          <p:cNvSpPr>
            <a:spLocks xmlns:a="http://schemas.openxmlformats.org/drawingml/2006/main" noGrp="1"/>
          </p:cNvSpPr>
          <p:nvPr/>
        </p:nvSpPr>
        <p:spPr>
          <a:xfrm xmlns:a="http://schemas.openxmlformats.org/drawingml/2006/main">
            <a:off x="9848850" y="3333750"/>
            <a:ext cx="9334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825" b="1" i="0">
                <a:solidFill>
                  <a:srgbClr val="FFFDF8"/>
                </a:solidFill>
              </a:defRPr>
            </a:pPr>
            <a:r>
              <a:rPr sz="825" b="1" i="0">
                <a:solidFill>
                  <a:srgbClr val="FFFDF8"/>
                </a:solidFill>
              </a:rPr>
              <a:t>PAIEMENTS</a:t>
            </a:r>
          </a:p>
        </p:txBody>
      </p:sp>
      <p:sp>
        <p:nvSpPr>
          <p:cNvPr id="19" name="">
            <a:extLst xmlns:a="http://schemas.openxmlformats.org/drawingml/2006/main">
              <a:ext uri="{FF2B5EF4-FFF2-40B4-BE49-F238E27FC236}">
                <a16:creationId xmlns:a16="http://schemas.microsoft.com/office/drawing/2014/main" id="{7311D39D-DDDC-4C5F-9098-953E052644E6}"/>
              </a:ext>
            </a:extLst>
          </p:cNvPr>
          <p:cNvSpPr>
            <a:spLocks xmlns:a="http://schemas.openxmlformats.org/drawingml/2006/main" noGrp="1"/>
          </p:cNvSpPr>
          <p:nvPr/>
        </p:nvSpPr>
        <p:spPr>
          <a:xfrm xmlns:a="http://schemas.openxmlformats.org/drawingml/2006/main">
            <a:off x="7791450" y="3867150"/>
            <a:ext cx="1790700" cy="1104900"/>
          </a:xfrm>
          <a:prstGeom xmlns:a="http://schemas.openxmlformats.org/drawingml/2006/main" prst="roundRect">
            <a:avLst>
              <a:gd name="adj" fmla="val 1724"/>
            </a:avLst>
          </a:prstGeom>
          <a:solidFill xmlns:a="http://schemas.openxmlformats.org/drawingml/2006/main">
            <a:srgbClr val="000000">
              <a:alpha val="7059"/>
            </a:srgbClr>
          </a:solidFill>
          <a:ln xmlns:a="http://schemas.openxmlformats.org/drawingml/2006/main" w="0">
            <a:noFill/>
            <a:prstDash val="solid"/>
          </a:ln>
        </p:spPr>
      </p:sp>
      <p:sp>
        <p:nvSpPr>
          <p:cNvPr id="20" name="paper-card">
            <a:extLst xmlns:a="http://schemas.openxmlformats.org/drawingml/2006/main">
              <a:ext uri="{FF2B5EF4-FFF2-40B4-BE49-F238E27FC236}">
                <a16:creationId xmlns:a16="http://schemas.microsoft.com/office/drawing/2014/main" id="{7CC5EF63-F903-4C8A-AA2B-3D5BD43D7FAF}"/>
              </a:ext>
            </a:extLst>
          </p:cNvPr>
          <p:cNvSpPr>
            <a:spLocks xmlns:a="http://schemas.openxmlformats.org/drawingml/2006/main" noGrp="1"/>
          </p:cNvSpPr>
          <p:nvPr/>
        </p:nvSpPr>
        <p:spPr>
          <a:xfrm xmlns:a="http://schemas.openxmlformats.org/drawingml/2006/main">
            <a:off x="7715250" y="3771900"/>
            <a:ext cx="1790700" cy="1104900"/>
          </a:xfrm>
          <a:prstGeom xmlns:a="http://schemas.openxmlformats.org/drawingml/2006/main" prst="roundRect">
            <a:avLst>
              <a:gd name="adj" fmla="val 1724"/>
            </a:avLst>
          </a:prstGeom>
          <a:solidFill xmlns:a="http://schemas.openxmlformats.org/drawingml/2006/main">
            <a:srgbClr val="FFFDF8"/>
          </a:solidFill>
          <a:ln xmlns:a="http://schemas.openxmlformats.org/drawingml/2006/main" w="9525">
            <a:solidFill>
              <a:srgbClr val="D8D0C3"/>
            </a:solidFill>
            <a:prstDash val="solid"/>
          </a:ln>
        </p:spPr>
      </p:sp>
      <p:pic>
        <p:nvPicPr>
          <p:cNvPr id="50" name="">
            <a:extLst xmlns:a="http://schemas.openxmlformats.org/drawingml/2006/main">
              <a:ext uri="{FF2B5EF4-FFF2-40B4-BE49-F238E27FC236}">
                <a16:creationId xmlns:a16="http://schemas.microsoft.com/office/drawing/2014/main" id="{204EB090-3D68-4D92-9B6A-77AF9EE75D3C}"/>
              </a:ext>
            </a:extLst>
          </p:cNvPr>
          <p:cNvPicPr>
            <a:picLocks xmlns:a="http://schemas.openxmlformats.org/drawingml/2006/main" noChangeAspect="1"/>
          </p:cNvPicPr>
          <p:nvPr/>
        </p:nvPicPr>
        <p:blipFill>
          <a:blip xmlns:r="http://schemas.openxmlformats.org/officeDocument/2006/relationships" xmlns:a="http://schemas.openxmlformats.org/drawingml/2006/main" r:embed="R8949fe98d4a948ae"/>
          <a:srcRect xmlns:a="http://schemas.openxmlformats.org/drawingml/2006/main" l="0" t="1981" r="0" b="1981"/>
          <a:stretch xmlns:a="http://schemas.openxmlformats.org/drawingml/2006/main">
            <a:fillRect l="0" t="0" r="0" b="0"/>
          </a:stretch>
        </p:blipFill>
        <p:spPr>
          <a:xfrm xmlns:a="http://schemas.openxmlformats.org/drawingml/2006/main" rot="66000">
            <a:off x="7791450" y="3848100"/>
            <a:ext cx="1638300" cy="95250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77B6BC38-7311-4F3E-BE0E-50E549A73BBA}"/>
              </a:ext>
            </a:extLst>
          </p:cNvPr>
          <p:cNvSpPr>
            <a:spLocks xmlns:a="http://schemas.openxmlformats.org/drawingml/2006/main" noGrp="1"/>
          </p:cNvSpPr>
          <p:nvPr/>
        </p:nvSpPr>
        <p:spPr>
          <a:xfrm xmlns:a="http://schemas.openxmlformats.org/drawingml/2006/main">
            <a:off x="7848600" y="4733925"/>
            <a:ext cx="1123950" cy="257175"/>
          </a:xfrm>
          <a:prstGeom xmlns:a="http://schemas.openxmlformats.org/drawingml/2006/main" prst="roundRect">
            <a:avLst>
              <a:gd name="adj" fmla="val 50000"/>
            </a:avLst>
          </a:prstGeom>
          <a:solidFill xmlns:a="http://schemas.openxmlformats.org/drawingml/2006/main">
            <a:srgbClr val="172126"/>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0461626-077E-470B-BB3A-5BF92B6D23CA}"/>
              </a:ext>
            </a:extLst>
          </p:cNvPr>
          <p:cNvSpPr>
            <a:spLocks xmlns:a="http://schemas.openxmlformats.org/drawingml/2006/main" noGrp="1"/>
          </p:cNvSpPr>
          <p:nvPr/>
        </p:nvSpPr>
        <p:spPr>
          <a:xfrm xmlns:a="http://schemas.openxmlformats.org/drawingml/2006/main">
            <a:off x="7943850" y="4781550"/>
            <a:ext cx="9334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825" b="1" i="0">
                <a:solidFill>
                  <a:srgbClr val="FFFDF8"/>
                </a:solidFill>
              </a:defRPr>
            </a:pPr>
            <a:r>
              <a:rPr sz="825" b="1" i="0">
                <a:solidFill>
                  <a:srgbClr val="FFFDF8"/>
                </a:solidFill>
              </a:rPr>
              <a:t>PAIE</a:t>
            </a:r>
          </a:p>
        </p:txBody>
      </p:sp>
      <p:sp>
        <p:nvSpPr>
          <p:cNvPr id="24" name="">
            <a:extLst xmlns:a="http://schemas.openxmlformats.org/drawingml/2006/main">
              <a:ext uri="{FF2B5EF4-FFF2-40B4-BE49-F238E27FC236}">
                <a16:creationId xmlns:a16="http://schemas.microsoft.com/office/drawing/2014/main" id="{EC46DBC2-4420-4370-9435-3C9C428B61D5}"/>
              </a:ext>
            </a:extLst>
          </p:cNvPr>
          <p:cNvSpPr>
            <a:spLocks xmlns:a="http://schemas.openxmlformats.org/drawingml/2006/main" noGrp="1"/>
          </p:cNvSpPr>
          <p:nvPr/>
        </p:nvSpPr>
        <p:spPr>
          <a:xfrm xmlns:a="http://schemas.openxmlformats.org/drawingml/2006/main">
            <a:off x="9696450" y="3867150"/>
            <a:ext cx="1790700" cy="1104900"/>
          </a:xfrm>
          <a:prstGeom xmlns:a="http://schemas.openxmlformats.org/drawingml/2006/main" prst="roundRect">
            <a:avLst>
              <a:gd name="adj" fmla="val 1724"/>
            </a:avLst>
          </a:prstGeom>
          <a:solidFill xmlns:a="http://schemas.openxmlformats.org/drawingml/2006/main">
            <a:srgbClr val="000000">
              <a:alpha val="7059"/>
            </a:srgbClr>
          </a:solidFill>
          <a:ln xmlns:a="http://schemas.openxmlformats.org/drawingml/2006/main" w="0">
            <a:noFill/>
            <a:prstDash val="solid"/>
          </a:ln>
        </p:spPr>
      </p:sp>
      <p:sp>
        <p:nvSpPr>
          <p:cNvPr id="25" name="paper-card">
            <a:extLst xmlns:a="http://schemas.openxmlformats.org/drawingml/2006/main">
              <a:ext uri="{FF2B5EF4-FFF2-40B4-BE49-F238E27FC236}">
                <a16:creationId xmlns:a16="http://schemas.microsoft.com/office/drawing/2014/main" id="{BE1FADB9-5648-4B45-A519-F1528D61A90E}"/>
              </a:ext>
            </a:extLst>
          </p:cNvPr>
          <p:cNvSpPr>
            <a:spLocks xmlns:a="http://schemas.openxmlformats.org/drawingml/2006/main" noGrp="1"/>
          </p:cNvSpPr>
          <p:nvPr/>
        </p:nvSpPr>
        <p:spPr>
          <a:xfrm xmlns:a="http://schemas.openxmlformats.org/drawingml/2006/main">
            <a:off x="9620250" y="3771900"/>
            <a:ext cx="1790700" cy="1104900"/>
          </a:xfrm>
          <a:prstGeom xmlns:a="http://schemas.openxmlformats.org/drawingml/2006/main" prst="roundRect">
            <a:avLst>
              <a:gd name="adj" fmla="val 1724"/>
            </a:avLst>
          </a:prstGeom>
          <a:solidFill xmlns:a="http://schemas.openxmlformats.org/drawingml/2006/main">
            <a:srgbClr val="FFFDF8"/>
          </a:solidFill>
          <a:ln xmlns:a="http://schemas.openxmlformats.org/drawingml/2006/main" w="9525">
            <a:solidFill>
              <a:srgbClr val="D8D0C3"/>
            </a:solidFill>
            <a:prstDash val="solid"/>
          </a:ln>
        </p:spPr>
      </p:sp>
      <p:pic>
        <p:nvPicPr>
          <p:cNvPr id="55" name="">
            <a:extLst xmlns:a="http://schemas.openxmlformats.org/drawingml/2006/main">
              <a:ext uri="{FF2B5EF4-FFF2-40B4-BE49-F238E27FC236}">
                <a16:creationId xmlns:a16="http://schemas.microsoft.com/office/drawing/2014/main" id="{13AA29D2-D80B-4855-82E0-35EE3E8082AD}"/>
              </a:ext>
            </a:extLst>
          </p:cNvPr>
          <p:cNvPicPr>
            <a:picLocks xmlns:a="http://schemas.openxmlformats.org/drawingml/2006/main" noChangeAspect="1"/>
          </p:cNvPicPr>
          <p:nvPr/>
        </p:nvPicPr>
        <p:blipFill>
          <a:blip xmlns:r="http://schemas.openxmlformats.org/officeDocument/2006/relationships" xmlns:a="http://schemas.openxmlformats.org/drawingml/2006/main" r:embed="R5ce39176def54274"/>
          <a:srcRect xmlns:a="http://schemas.openxmlformats.org/drawingml/2006/main" l="0" t="1981" r="0" b="1981"/>
          <a:stretch xmlns:a="http://schemas.openxmlformats.org/drawingml/2006/main">
            <a:fillRect l="0" t="0" r="0" b="0"/>
          </a:stretch>
        </p:blipFill>
        <p:spPr>
          <a:xfrm xmlns:a="http://schemas.openxmlformats.org/drawingml/2006/main" rot="-66000">
            <a:off x="9696450" y="3848100"/>
            <a:ext cx="1638300" cy="95250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CB90E289-45DE-4A07-AE7D-E682D312F221}"/>
              </a:ext>
            </a:extLst>
          </p:cNvPr>
          <p:cNvSpPr>
            <a:spLocks xmlns:a="http://schemas.openxmlformats.org/drawingml/2006/main" noGrp="1"/>
          </p:cNvSpPr>
          <p:nvPr/>
        </p:nvSpPr>
        <p:spPr>
          <a:xfrm xmlns:a="http://schemas.openxmlformats.org/drawingml/2006/main">
            <a:off x="9753600" y="4733925"/>
            <a:ext cx="1123950" cy="257175"/>
          </a:xfrm>
          <a:prstGeom xmlns:a="http://schemas.openxmlformats.org/drawingml/2006/main" prst="roundRect">
            <a:avLst>
              <a:gd name="adj" fmla="val 50000"/>
            </a:avLst>
          </a:prstGeom>
          <a:solidFill xmlns:a="http://schemas.openxmlformats.org/drawingml/2006/main">
            <a:srgbClr val="172126"/>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44C68F7-B940-4230-9D76-046199B5B6B1}"/>
              </a:ext>
            </a:extLst>
          </p:cNvPr>
          <p:cNvSpPr>
            <a:spLocks xmlns:a="http://schemas.openxmlformats.org/drawingml/2006/main" noGrp="1"/>
          </p:cNvSpPr>
          <p:nvPr/>
        </p:nvSpPr>
        <p:spPr>
          <a:xfrm xmlns:a="http://schemas.openxmlformats.org/drawingml/2006/main">
            <a:off x="9848850" y="4781550"/>
            <a:ext cx="9334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825" b="1" i="0">
                <a:solidFill>
                  <a:srgbClr val="FFFDF8"/>
                </a:solidFill>
              </a:defRPr>
            </a:pPr>
            <a:r>
              <a:rPr sz="825" b="1" i="0">
                <a:solidFill>
                  <a:srgbClr val="FFFDF8"/>
                </a:solidFill>
              </a:rPr>
              <a:t>ASSISTANT IA</a:t>
            </a:r>
          </a:p>
        </p:txBody>
      </p:sp>
      <p:sp>
        <p:nvSpPr>
          <p:cNvPr id="29" name="">
            <a:extLst xmlns:a="http://schemas.openxmlformats.org/drawingml/2006/main">
              <a:ext uri="{FF2B5EF4-FFF2-40B4-BE49-F238E27FC236}">
                <a16:creationId xmlns:a16="http://schemas.microsoft.com/office/drawing/2014/main" id="{B9D177E2-3573-4EB2-8725-ABC26DEE3D2F}"/>
              </a:ext>
            </a:extLst>
          </p:cNvPr>
          <p:cNvSpPr>
            <a:spLocks xmlns:a="http://schemas.openxmlformats.org/drawingml/2006/main" noGrp="1"/>
          </p:cNvSpPr>
          <p:nvPr/>
        </p:nvSpPr>
        <p:spPr>
          <a:xfrm xmlns:a="http://schemas.openxmlformats.org/drawingml/2006/main">
            <a:off x="857250" y="561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C96F52"/>
                </a:solidFill>
              </a:defRPr>
            </a:pPr>
            <a:r>
              <a:rPr sz="975" b="1" i="0">
                <a:solidFill>
                  <a:srgbClr val="C96F52"/>
                </a:solidFill>
              </a:rPr>
              <a:t>BOÎTE DE RÉCEPTION + OCR</a:t>
            </a:r>
          </a:p>
        </p:txBody>
      </p:sp>
    </p:spTree>
    <p:extLst>
      <p:ext uri="{BB962C8B-B14F-4D97-AF65-F5344CB8AC3E}">
        <p14:creationId xmlns:p14="http://schemas.microsoft.com/office/powerpoint/2010/main" val="1821838843"/>
      </p:ext>
    </p:extLst>
  </p:cSld>
</p:sld>
</file>

<file path=ppt/slides/slide6.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72F0A6BE-9D79-4BE9-AE72-F8DE184D0324}"/>
              </a:ext>
            </a:extLst>
          </p:cNvPr>
          <p:cNvSpPr>
            <a:spLocks xmlns:a="http://schemas.openxmlformats.org/drawingml/2006/main" noGrp="1"/>
          </p:cNvSpPr>
          <p:nvPr/>
        </p:nvSpPr>
        <p:spPr>
          <a:xfrm xmlns:a="http://schemas.openxmlformats.org/drawingml/2006/main">
            <a:off x="533400" y="285750"/>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686C69"/>
                </a:solidFill>
              </a:defRPr>
            </a:pPr>
            <a:r>
              <a:rPr sz="825" b="1" i="0">
                <a:solidFill>
                  <a:srgbClr val="686C69"/>
                </a:solidFill>
              </a:rPr>
              <a:t>VALEUR CRÉÉE</a:t>
            </a:r>
          </a:p>
        </p:txBody>
      </p:sp>
      <p:sp>
        <p:nvSpPr>
          <p:cNvPr id="2" name="">
            <a:extLst xmlns:a="http://schemas.openxmlformats.org/drawingml/2006/main">
              <a:ext uri="{FF2B5EF4-FFF2-40B4-BE49-F238E27FC236}">
                <a16:creationId xmlns:a16="http://schemas.microsoft.com/office/drawing/2014/main" id="{A7A03888-CE1A-42A5-8DF4-C35C75B373D5}"/>
              </a:ext>
            </a:extLst>
          </p:cNvPr>
          <p:cNvSpPr>
            <a:spLocks xmlns:a="http://schemas.openxmlformats.org/drawingml/2006/main" noGrp="1"/>
          </p:cNvSpPr>
          <p:nvPr/>
        </p:nvSpPr>
        <p:spPr>
          <a:xfrm xmlns:a="http://schemas.openxmlformats.org/drawingml/2006/main">
            <a:off x="11201400" y="2667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i="0">
                <a:solidFill>
                  <a:srgbClr val="686C69"/>
                </a:solidFill>
              </a:defRPr>
            </a:pPr>
            <a:r>
              <a:rPr sz="900" b="1" i="0">
                <a:solidFill>
                  <a:srgbClr val="686C69"/>
                </a:solidFill>
              </a:rPr>
              <a:t>06</a:t>
            </a:r>
          </a:p>
        </p:txBody>
      </p:sp>
      <p:sp>
        <p:nvSpPr>
          <p:cNvPr id="3" name="">
            <a:extLst xmlns:a="http://schemas.openxmlformats.org/drawingml/2006/main">
              <a:ext uri="{FF2B5EF4-FFF2-40B4-BE49-F238E27FC236}">
                <a16:creationId xmlns:a16="http://schemas.microsoft.com/office/drawing/2014/main" id="{8479D184-7AEC-4FF9-B0C3-AFDBCB4449D8}"/>
              </a:ext>
            </a:extLst>
          </p:cNvPr>
          <p:cNvSpPr>
            <a:spLocks xmlns:a="http://schemas.openxmlformats.org/drawingml/2006/main" noGrp="1"/>
          </p:cNvSpPr>
          <p:nvPr/>
        </p:nvSpPr>
        <p:spPr>
          <a:xfrm xmlns:a="http://schemas.openxmlformats.org/drawingml/2006/main">
            <a:off x="533400" y="552450"/>
            <a:ext cx="11125200" cy="9525"/>
          </a:xfrm>
          <a:prstGeom xmlns:a="http://schemas.openxmlformats.org/drawingml/2006/main" prst="rect">
            <a:avLst/>
          </a:prstGeom>
          <a:solidFill xmlns:a="http://schemas.openxmlformats.org/drawingml/2006/main">
            <a:srgbClr val="D8D0C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0661F8D-F606-4F1C-AA1C-EE53ED9BE4C0}"/>
              </a:ext>
            </a:extLst>
          </p:cNvPr>
          <p:cNvSpPr>
            <a:spLocks xmlns:a="http://schemas.openxmlformats.org/drawingml/2006/main" noGrp="1"/>
          </p:cNvSpPr>
          <p:nvPr/>
        </p:nvSpPr>
        <p:spPr>
          <a:xfrm xmlns:a="http://schemas.openxmlformats.org/drawingml/2006/main">
            <a:off x="609600" y="8001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C96F52"/>
                </a:solidFill>
              </a:defRPr>
            </a:pPr>
            <a:r>
              <a:rPr sz="900" b="1" i="0">
                <a:solidFill>
                  <a:srgbClr val="C96F52"/>
                </a:solidFill>
              </a:rPr>
              <a:t>UNE DONNÉE, TROIS BÉNÉFICIAIRES</a:t>
            </a:r>
          </a:p>
        </p:txBody>
      </p:sp>
      <p:sp>
        <p:nvSpPr>
          <p:cNvPr id="5" name="">
            <a:extLst xmlns:a="http://schemas.openxmlformats.org/drawingml/2006/main">
              <a:ext uri="{FF2B5EF4-FFF2-40B4-BE49-F238E27FC236}">
                <a16:creationId xmlns:a16="http://schemas.microsoft.com/office/drawing/2014/main" id="{A02B7B05-DE55-4642-9911-D4F484843C3A}"/>
              </a:ext>
            </a:extLst>
          </p:cNvPr>
          <p:cNvSpPr>
            <a:spLocks xmlns:a="http://schemas.openxmlformats.org/drawingml/2006/main" noGrp="1"/>
          </p:cNvSpPr>
          <p:nvPr/>
        </p:nvSpPr>
        <p:spPr>
          <a:xfrm xmlns:a="http://schemas.openxmlformats.org/drawingml/2006/main">
            <a:off x="609600" y="114300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225" b="1" i="0">
                <a:solidFill>
                  <a:srgbClr val="172126"/>
                </a:solidFill>
              </a:defRPr>
            </a:pPr>
            <a:r>
              <a:rPr sz="3225" b="1" i="0">
                <a:solidFill>
                  <a:srgbClr val="172126"/>
                </a:solidFill>
              </a:rPr>
              <a:t>Mohasib relie les besoins de l’entreprise, du comptable et du cabinet.</a:t>
            </a:r>
          </a:p>
        </p:txBody>
      </p:sp>
      <p:sp>
        <p:nvSpPr>
          <p:cNvPr id="6" name="">
            <a:extLst xmlns:a="http://schemas.openxmlformats.org/drawingml/2006/main">
              <a:ext uri="{FF2B5EF4-FFF2-40B4-BE49-F238E27FC236}">
                <a16:creationId xmlns:a16="http://schemas.microsoft.com/office/drawing/2014/main" id="{8910E03A-B100-479E-9688-87387B34AE15}"/>
              </a:ext>
            </a:extLst>
          </p:cNvPr>
          <p:cNvSpPr>
            <a:spLocks xmlns:a="http://schemas.openxmlformats.org/drawingml/2006/main" noGrp="1"/>
          </p:cNvSpPr>
          <p:nvPr/>
        </p:nvSpPr>
        <p:spPr>
          <a:xfrm xmlns:a="http://schemas.openxmlformats.org/drawingml/2006/main">
            <a:off x="628650" y="2800350"/>
            <a:ext cx="3333750" cy="2914650"/>
          </a:xfrm>
          <a:prstGeom xmlns:a="http://schemas.openxmlformats.org/drawingml/2006/main" prst="roundRect">
            <a:avLst>
              <a:gd name="adj" fmla="val 654"/>
            </a:avLst>
          </a:prstGeom>
          <a:solidFill xmlns:a="http://schemas.openxmlformats.org/drawingml/2006/main">
            <a:srgbClr val="D9E8E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20BBD3B-55D5-403A-BC9E-68813E151288}"/>
              </a:ext>
            </a:extLst>
          </p:cNvPr>
          <p:cNvSpPr>
            <a:spLocks xmlns:a="http://schemas.openxmlformats.org/drawingml/2006/main" noGrp="1"/>
          </p:cNvSpPr>
          <p:nvPr/>
        </p:nvSpPr>
        <p:spPr>
          <a:xfrm xmlns:a="http://schemas.openxmlformats.org/drawingml/2006/main">
            <a:off x="819150" y="29718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477A86"/>
                </a:solidFill>
              </a:defRPr>
            </a:pPr>
            <a:r>
              <a:rPr sz="900" b="1" i="0">
                <a:solidFill>
                  <a:srgbClr val="477A86"/>
                </a:solidFill>
              </a:rPr>
              <a:t>01</a:t>
            </a:r>
          </a:p>
        </p:txBody>
      </p:sp>
      <p:sp>
        <p:nvSpPr>
          <p:cNvPr id="8" name="">
            <a:extLst xmlns:a="http://schemas.openxmlformats.org/drawingml/2006/main">
              <a:ext uri="{FF2B5EF4-FFF2-40B4-BE49-F238E27FC236}">
                <a16:creationId xmlns:a16="http://schemas.microsoft.com/office/drawing/2014/main" id="{C2C64CBD-5809-4A58-AE7B-E4BE891082C6}"/>
              </a:ext>
            </a:extLst>
          </p:cNvPr>
          <p:cNvSpPr>
            <a:spLocks xmlns:a="http://schemas.openxmlformats.org/drawingml/2006/main" noGrp="1"/>
          </p:cNvSpPr>
          <p:nvPr/>
        </p:nvSpPr>
        <p:spPr>
          <a:xfrm xmlns:a="http://schemas.openxmlformats.org/drawingml/2006/main">
            <a:off x="819150" y="3343275"/>
            <a:ext cx="2905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i="0">
                <a:solidFill>
                  <a:srgbClr val="172126"/>
                </a:solidFill>
              </a:defRPr>
            </a:pPr>
            <a:r>
              <a:rPr sz="1425" b="1" i="0">
                <a:solidFill>
                  <a:srgbClr val="172126"/>
                </a:solidFill>
              </a:rPr>
              <a:t>DIRIGEANT</a:t>
            </a:r>
          </a:p>
        </p:txBody>
      </p:sp>
      <p:sp>
        <p:nvSpPr>
          <p:cNvPr id="9" name="">
            <a:extLst xmlns:a="http://schemas.openxmlformats.org/drawingml/2006/main">
              <a:ext uri="{FF2B5EF4-FFF2-40B4-BE49-F238E27FC236}">
                <a16:creationId xmlns:a16="http://schemas.microsoft.com/office/drawing/2014/main" id="{44EE4CF3-B791-4343-BB64-29861CACA421}"/>
              </a:ext>
            </a:extLst>
          </p:cNvPr>
          <p:cNvSpPr>
            <a:spLocks xmlns:a="http://schemas.openxmlformats.org/drawingml/2006/main" noGrp="1"/>
          </p:cNvSpPr>
          <p:nvPr/>
        </p:nvSpPr>
        <p:spPr>
          <a:xfrm xmlns:a="http://schemas.openxmlformats.org/drawingml/2006/main">
            <a:off x="819150" y="3867150"/>
            <a:ext cx="2895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i="0">
                <a:solidFill>
                  <a:srgbClr val="172126"/>
                </a:solidFill>
              </a:defRPr>
            </a:pPr>
            <a:r>
              <a:rPr sz="1275" b="0" i="0">
                <a:solidFill>
                  <a:srgbClr val="172126"/>
                </a:solidFill>
              </a:rPr>
              <a:t>Sait ce qui est à payer, encaissé et encore dû.</a:t>
            </a:r>
          </a:p>
        </p:txBody>
      </p:sp>
      <p:sp>
        <p:nvSpPr>
          <p:cNvPr id="10" name="">
            <a:extLst xmlns:a="http://schemas.openxmlformats.org/drawingml/2006/main">
              <a:ext uri="{FF2B5EF4-FFF2-40B4-BE49-F238E27FC236}">
                <a16:creationId xmlns:a16="http://schemas.microsoft.com/office/drawing/2014/main" id="{EF8DD7F5-11DA-47B5-80F5-75C36A9308E4}"/>
              </a:ext>
            </a:extLst>
          </p:cNvPr>
          <p:cNvSpPr>
            <a:spLocks xmlns:a="http://schemas.openxmlformats.org/drawingml/2006/main" noGrp="1"/>
          </p:cNvSpPr>
          <p:nvPr/>
        </p:nvSpPr>
        <p:spPr>
          <a:xfrm xmlns:a="http://schemas.openxmlformats.org/drawingml/2006/main">
            <a:off x="819150" y="4695825"/>
            <a:ext cx="171450" cy="19050"/>
          </a:xfrm>
          <a:prstGeom xmlns:a="http://schemas.openxmlformats.org/drawingml/2006/main" prst="rect">
            <a:avLst/>
          </a:prstGeom>
          <a:solidFill xmlns:a="http://schemas.openxmlformats.org/drawingml/2006/main">
            <a:srgbClr val="477A8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79512BFE-6169-4EF6-AAFE-2587C2ADFCF6}"/>
              </a:ext>
            </a:extLst>
          </p:cNvPr>
          <p:cNvSpPr>
            <a:spLocks xmlns:a="http://schemas.openxmlformats.org/drawingml/2006/main" noGrp="1"/>
          </p:cNvSpPr>
          <p:nvPr/>
        </p:nvSpPr>
        <p:spPr>
          <a:xfrm xmlns:a="http://schemas.openxmlformats.org/drawingml/2006/main">
            <a:off x="1104900" y="46101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686C69"/>
                </a:solidFill>
              </a:defRPr>
            </a:pPr>
            <a:r>
              <a:rPr sz="1050" b="1" i="0">
                <a:solidFill>
                  <a:srgbClr val="686C69"/>
                </a:solidFill>
              </a:rPr>
              <a:t>Créer des factures</a:t>
            </a:r>
          </a:p>
        </p:txBody>
      </p:sp>
      <p:sp>
        <p:nvSpPr>
          <p:cNvPr id="12" name="">
            <a:extLst xmlns:a="http://schemas.openxmlformats.org/drawingml/2006/main">
              <a:ext uri="{FF2B5EF4-FFF2-40B4-BE49-F238E27FC236}">
                <a16:creationId xmlns:a16="http://schemas.microsoft.com/office/drawing/2014/main" id="{912BD260-9AAD-45F5-8D8F-C627503C9A31}"/>
              </a:ext>
            </a:extLst>
          </p:cNvPr>
          <p:cNvSpPr>
            <a:spLocks xmlns:a="http://schemas.openxmlformats.org/drawingml/2006/main" noGrp="1"/>
          </p:cNvSpPr>
          <p:nvPr/>
        </p:nvSpPr>
        <p:spPr>
          <a:xfrm xmlns:a="http://schemas.openxmlformats.org/drawingml/2006/main">
            <a:off x="819150" y="4991100"/>
            <a:ext cx="171450" cy="19050"/>
          </a:xfrm>
          <a:prstGeom xmlns:a="http://schemas.openxmlformats.org/drawingml/2006/main" prst="rect">
            <a:avLst/>
          </a:prstGeom>
          <a:solidFill xmlns:a="http://schemas.openxmlformats.org/drawingml/2006/main">
            <a:srgbClr val="477A8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DD471DB-2744-4690-8E7C-CA52B130216D}"/>
              </a:ext>
            </a:extLst>
          </p:cNvPr>
          <p:cNvSpPr>
            <a:spLocks xmlns:a="http://schemas.openxmlformats.org/drawingml/2006/main" noGrp="1"/>
          </p:cNvSpPr>
          <p:nvPr/>
        </p:nvSpPr>
        <p:spPr>
          <a:xfrm xmlns:a="http://schemas.openxmlformats.org/drawingml/2006/main">
            <a:off x="1104900" y="4905375"/>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686C69"/>
                </a:solidFill>
              </a:defRPr>
            </a:pPr>
            <a:r>
              <a:rPr sz="1050" b="1" i="0">
                <a:solidFill>
                  <a:srgbClr val="686C69"/>
                </a:solidFill>
              </a:rPr>
              <a:t>Suivre la trésorerie</a:t>
            </a:r>
          </a:p>
        </p:txBody>
      </p:sp>
      <p:sp>
        <p:nvSpPr>
          <p:cNvPr id="14" name="">
            <a:extLst xmlns:a="http://schemas.openxmlformats.org/drawingml/2006/main">
              <a:ext uri="{FF2B5EF4-FFF2-40B4-BE49-F238E27FC236}">
                <a16:creationId xmlns:a16="http://schemas.microsoft.com/office/drawing/2014/main" id="{B16CD3CE-CC43-4A4D-B773-FF8A8BD6C362}"/>
              </a:ext>
            </a:extLst>
          </p:cNvPr>
          <p:cNvSpPr>
            <a:spLocks xmlns:a="http://schemas.openxmlformats.org/drawingml/2006/main" noGrp="1"/>
          </p:cNvSpPr>
          <p:nvPr/>
        </p:nvSpPr>
        <p:spPr>
          <a:xfrm xmlns:a="http://schemas.openxmlformats.org/drawingml/2006/main">
            <a:off x="819150" y="5286375"/>
            <a:ext cx="171450" cy="19050"/>
          </a:xfrm>
          <a:prstGeom xmlns:a="http://schemas.openxmlformats.org/drawingml/2006/main" prst="rect">
            <a:avLst/>
          </a:prstGeom>
          <a:solidFill xmlns:a="http://schemas.openxmlformats.org/drawingml/2006/main">
            <a:srgbClr val="477A8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CF7394C7-EE99-4BB2-ADEF-2D12668E2D2F}"/>
              </a:ext>
            </a:extLst>
          </p:cNvPr>
          <p:cNvSpPr>
            <a:spLocks xmlns:a="http://schemas.openxmlformats.org/drawingml/2006/main" noGrp="1"/>
          </p:cNvSpPr>
          <p:nvPr/>
        </p:nvSpPr>
        <p:spPr>
          <a:xfrm xmlns:a="http://schemas.openxmlformats.org/drawingml/2006/main">
            <a:off x="1104900" y="52006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686C69"/>
                </a:solidFill>
              </a:defRPr>
            </a:pPr>
            <a:r>
              <a:rPr sz="1050" b="1" i="0">
                <a:solidFill>
                  <a:srgbClr val="686C69"/>
                </a:solidFill>
              </a:rPr>
              <a:t>Gérer la paie</a:t>
            </a:r>
          </a:p>
        </p:txBody>
      </p:sp>
      <p:sp>
        <p:nvSpPr>
          <p:cNvPr id="16" name="">
            <a:extLst xmlns:a="http://schemas.openxmlformats.org/drawingml/2006/main">
              <a:ext uri="{FF2B5EF4-FFF2-40B4-BE49-F238E27FC236}">
                <a16:creationId xmlns:a16="http://schemas.microsoft.com/office/drawing/2014/main" id="{192C7813-B07E-4560-A9BD-DCBD92AB9E94}"/>
              </a:ext>
            </a:extLst>
          </p:cNvPr>
          <p:cNvSpPr>
            <a:spLocks xmlns:a="http://schemas.openxmlformats.org/drawingml/2006/main" noGrp="1"/>
          </p:cNvSpPr>
          <p:nvPr/>
        </p:nvSpPr>
        <p:spPr>
          <a:xfrm xmlns:a="http://schemas.openxmlformats.org/drawingml/2006/main">
            <a:off x="4343400" y="2800350"/>
            <a:ext cx="3333750" cy="2914650"/>
          </a:xfrm>
          <a:prstGeom xmlns:a="http://schemas.openxmlformats.org/drawingml/2006/main" prst="roundRect">
            <a:avLst>
              <a:gd name="adj" fmla="val 654"/>
            </a:avLst>
          </a:prstGeom>
          <a:solidFill xmlns:a="http://schemas.openxmlformats.org/drawingml/2006/main">
            <a:srgbClr val="F4DED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0F896DF-907C-4F52-B91D-55AEC5DB4408}"/>
              </a:ext>
            </a:extLst>
          </p:cNvPr>
          <p:cNvSpPr>
            <a:spLocks xmlns:a="http://schemas.openxmlformats.org/drawingml/2006/main" noGrp="1"/>
          </p:cNvSpPr>
          <p:nvPr/>
        </p:nvSpPr>
        <p:spPr>
          <a:xfrm xmlns:a="http://schemas.openxmlformats.org/drawingml/2006/main">
            <a:off x="4533900" y="29718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C96F52"/>
                </a:solidFill>
              </a:defRPr>
            </a:pPr>
            <a:r>
              <a:rPr sz="900" b="1" i="0">
                <a:solidFill>
                  <a:srgbClr val="C96F52"/>
                </a:solidFill>
              </a:rPr>
              <a:t>02</a:t>
            </a:r>
          </a:p>
        </p:txBody>
      </p:sp>
      <p:sp>
        <p:nvSpPr>
          <p:cNvPr id="18" name="">
            <a:extLst xmlns:a="http://schemas.openxmlformats.org/drawingml/2006/main">
              <a:ext uri="{FF2B5EF4-FFF2-40B4-BE49-F238E27FC236}">
                <a16:creationId xmlns:a16="http://schemas.microsoft.com/office/drawing/2014/main" id="{11E5A69D-9DBA-4AA8-B7E5-51D8DB1DC776}"/>
              </a:ext>
            </a:extLst>
          </p:cNvPr>
          <p:cNvSpPr>
            <a:spLocks xmlns:a="http://schemas.openxmlformats.org/drawingml/2006/main" noGrp="1"/>
          </p:cNvSpPr>
          <p:nvPr/>
        </p:nvSpPr>
        <p:spPr>
          <a:xfrm xmlns:a="http://schemas.openxmlformats.org/drawingml/2006/main">
            <a:off x="4533900" y="3343275"/>
            <a:ext cx="2905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i="0">
                <a:solidFill>
                  <a:srgbClr val="172126"/>
                </a:solidFill>
              </a:defRPr>
            </a:pPr>
            <a:r>
              <a:rPr sz="1425" b="1" i="0">
                <a:solidFill>
                  <a:srgbClr val="172126"/>
                </a:solidFill>
              </a:rPr>
              <a:t>COMPTABLE</a:t>
            </a:r>
          </a:p>
        </p:txBody>
      </p:sp>
      <p:sp>
        <p:nvSpPr>
          <p:cNvPr id="19" name="">
            <a:extLst xmlns:a="http://schemas.openxmlformats.org/drawingml/2006/main">
              <a:ext uri="{FF2B5EF4-FFF2-40B4-BE49-F238E27FC236}">
                <a16:creationId xmlns:a16="http://schemas.microsoft.com/office/drawing/2014/main" id="{66E9D95C-09D5-49FA-A07F-830173572B49}"/>
              </a:ext>
            </a:extLst>
          </p:cNvPr>
          <p:cNvSpPr>
            <a:spLocks xmlns:a="http://schemas.openxmlformats.org/drawingml/2006/main" noGrp="1"/>
          </p:cNvSpPr>
          <p:nvPr/>
        </p:nvSpPr>
        <p:spPr>
          <a:xfrm xmlns:a="http://schemas.openxmlformats.org/drawingml/2006/main">
            <a:off x="4533900" y="3867150"/>
            <a:ext cx="2895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i="0">
                <a:solidFill>
                  <a:srgbClr val="172126"/>
                </a:solidFill>
              </a:defRPr>
            </a:pPr>
            <a:r>
              <a:rPr sz="1275" b="0" i="0">
                <a:solidFill>
                  <a:srgbClr val="172126"/>
                </a:solidFill>
              </a:rPr>
              <a:t>Reçoit des pièces classées et des données prêtes à vérifier.</a:t>
            </a:r>
          </a:p>
        </p:txBody>
      </p:sp>
      <p:sp>
        <p:nvSpPr>
          <p:cNvPr id="20" name="">
            <a:extLst xmlns:a="http://schemas.openxmlformats.org/drawingml/2006/main">
              <a:ext uri="{FF2B5EF4-FFF2-40B4-BE49-F238E27FC236}">
                <a16:creationId xmlns:a16="http://schemas.microsoft.com/office/drawing/2014/main" id="{28E88E8A-6222-457F-8998-2786FFE82261}"/>
              </a:ext>
            </a:extLst>
          </p:cNvPr>
          <p:cNvSpPr>
            <a:spLocks xmlns:a="http://schemas.openxmlformats.org/drawingml/2006/main" noGrp="1"/>
          </p:cNvSpPr>
          <p:nvPr/>
        </p:nvSpPr>
        <p:spPr>
          <a:xfrm xmlns:a="http://schemas.openxmlformats.org/drawingml/2006/main">
            <a:off x="4533900" y="4695825"/>
            <a:ext cx="171450" cy="19050"/>
          </a:xfrm>
          <a:prstGeom xmlns:a="http://schemas.openxmlformats.org/drawingml/2006/main" prst="rect">
            <a:avLst/>
          </a:prstGeom>
          <a:solidFill xmlns:a="http://schemas.openxmlformats.org/drawingml/2006/main">
            <a:srgbClr val="C96F5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3E1F3E8-4581-4BCE-A590-30D502F799F5}"/>
              </a:ext>
            </a:extLst>
          </p:cNvPr>
          <p:cNvSpPr>
            <a:spLocks xmlns:a="http://schemas.openxmlformats.org/drawingml/2006/main" noGrp="1"/>
          </p:cNvSpPr>
          <p:nvPr/>
        </p:nvSpPr>
        <p:spPr>
          <a:xfrm xmlns:a="http://schemas.openxmlformats.org/drawingml/2006/main">
            <a:off x="4819650" y="46101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686C69"/>
                </a:solidFill>
              </a:defRPr>
            </a:pPr>
            <a:r>
              <a:rPr sz="1050" b="1" i="0">
                <a:solidFill>
                  <a:srgbClr val="686C69"/>
                </a:solidFill>
              </a:rPr>
              <a:t>Traiter les exceptions</a:t>
            </a:r>
          </a:p>
        </p:txBody>
      </p:sp>
      <p:sp>
        <p:nvSpPr>
          <p:cNvPr id="22" name="">
            <a:extLst xmlns:a="http://schemas.openxmlformats.org/drawingml/2006/main">
              <a:ext uri="{FF2B5EF4-FFF2-40B4-BE49-F238E27FC236}">
                <a16:creationId xmlns:a16="http://schemas.microsoft.com/office/drawing/2014/main" id="{EF60409F-0C38-4AC2-B796-F1607EEFD0B0}"/>
              </a:ext>
            </a:extLst>
          </p:cNvPr>
          <p:cNvSpPr>
            <a:spLocks xmlns:a="http://schemas.openxmlformats.org/drawingml/2006/main" noGrp="1"/>
          </p:cNvSpPr>
          <p:nvPr/>
        </p:nvSpPr>
        <p:spPr>
          <a:xfrm xmlns:a="http://schemas.openxmlformats.org/drawingml/2006/main">
            <a:off x="4533900" y="4991100"/>
            <a:ext cx="171450" cy="19050"/>
          </a:xfrm>
          <a:prstGeom xmlns:a="http://schemas.openxmlformats.org/drawingml/2006/main" prst="rect">
            <a:avLst/>
          </a:prstGeom>
          <a:solidFill xmlns:a="http://schemas.openxmlformats.org/drawingml/2006/main">
            <a:srgbClr val="C96F52"/>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8C09037-D87A-4C61-B147-8925836493FC}"/>
              </a:ext>
            </a:extLst>
          </p:cNvPr>
          <p:cNvSpPr>
            <a:spLocks xmlns:a="http://schemas.openxmlformats.org/drawingml/2006/main" noGrp="1"/>
          </p:cNvSpPr>
          <p:nvPr/>
        </p:nvSpPr>
        <p:spPr>
          <a:xfrm xmlns:a="http://schemas.openxmlformats.org/drawingml/2006/main">
            <a:off x="4819650" y="4905375"/>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686C69"/>
                </a:solidFill>
              </a:defRPr>
            </a:pPr>
            <a:r>
              <a:rPr sz="1050" b="1" i="0">
                <a:solidFill>
                  <a:srgbClr val="686C69"/>
                </a:solidFill>
              </a:rPr>
              <a:t>Préparer la TVA</a:t>
            </a:r>
          </a:p>
        </p:txBody>
      </p:sp>
      <p:sp>
        <p:nvSpPr>
          <p:cNvPr id="24" name="">
            <a:extLst xmlns:a="http://schemas.openxmlformats.org/drawingml/2006/main">
              <a:ext uri="{FF2B5EF4-FFF2-40B4-BE49-F238E27FC236}">
                <a16:creationId xmlns:a16="http://schemas.microsoft.com/office/drawing/2014/main" id="{7EDA83C0-0331-421F-B28D-0432BC200B1F}"/>
              </a:ext>
            </a:extLst>
          </p:cNvPr>
          <p:cNvSpPr>
            <a:spLocks xmlns:a="http://schemas.openxmlformats.org/drawingml/2006/main" noGrp="1"/>
          </p:cNvSpPr>
          <p:nvPr/>
        </p:nvSpPr>
        <p:spPr>
          <a:xfrm xmlns:a="http://schemas.openxmlformats.org/drawingml/2006/main">
            <a:off x="4533900" y="5286375"/>
            <a:ext cx="171450" cy="19050"/>
          </a:xfrm>
          <a:prstGeom xmlns:a="http://schemas.openxmlformats.org/drawingml/2006/main" prst="rect">
            <a:avLst/>
          </a:prstGeom>
          <a:solidFill xmlns:a="http://schemas.openxmlformats.org/drawingml/2006/main">
            <a:srgbClr val="C96F52"/>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3987E08C-ECB7-4781-BF3B-171963BF7C35}"/>
              </a:ext>
            </a:extLst>
          </p:cNvPr>
          <p:cNvSpPr>
            <a:spLocks xmlns:a="http://schemas.openxmlformats.org/drawingml/2006/main" noGrp="1"/>
          </p:cNvSpPr>
          <p:nvPr/>
        </p:nvSpPr>
        <p:spPr>
          <a:xfrm xmlns:a="http://schemas.openxmlformats.org/drawingml/2006/main">
            <a:off x="4819650" y="52006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686C69"/>
                </a:solidFill>
              </a:defRPr>
            </a:pPr>
            <a:r>
              <a:rPr sz="1050" b="1" i="0">
                <a:solidFill>
                  <a:srgbClr val="686C69"/>
                </a:solidFill>
              </a:rPr>
              <a:t>Clôturer les comptes</a:t>
            </a:r>
          </a:p>
        </p:txBody>
      </p:sp>
      <p:sp>
        <p:nvSpPr>
          <p:cNvPr id="26" name="">
            <a:extLst xmlns:a="http://schemas.openxmlformats.org/drawingml/2006/main">
              <a:ext uri="{FF2B5EF4-FFF2-40B4-BE49-F238E27FC236}">
                <a16:creationId xmlns:a16="http://schemas.microsoft.com/office/drawing/2014/main" id="{197BCF98-D4E2-4BA2-9762-FFA71500536B}"/>
              </a:ext>
            </a:extLst>
          </p:cNvPr>
          <p:cNvSpPr>
            <a:spLocks xmlns:a="http://schemas.openxmlformats.org/drawingml/2006/main" noGrp="1"/>
          </p:cNvSpPr>
          <p:nvPr/>
        </p:nvSpPr>
        <p:spPr>
          <a:xfrm xmlns:a="http://schemas.openxmlformats.org/drawingml/2006/main">
            <a:off x="8058150" y="2800350"/>
            <a:ext cx="3333750" cy="2914650"/>
          </a:xfrm>
          <a:prstGeom xmlns:a="http://schemas.openxmlformats.org/drawingml/2006/main" prst="roundRect">
            <a:avLst>
              <a:gd name="adj" fmla="val 654"/>
            </a:avLst>
          </a:prstGeom>
          <a:solidFill xmlns:a="http://schemas.openxmlformats.org/drawingml/2006/main">
            <a:srgbClr val="DDE8D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3136F45-E898-4180-9DEA-BE6BA9AC5C86}"/>
              </a:ext>
            </a:extLst>
          </p:cNvPr>
          <p:cNvSpPr>
            <a:spLocks xmlns:a="http://schemas.openxmlformats.org/drawingml/2006/main" noGrp="1"/>
          </p:cNvSpPr>
          <p:nvPr/>
        </p:nvSpPr>
        <p:spPr>
          <a:xfrm xmlns:a="http://schemas.openxmlformats.org/drawingml/2006/main">
            <a:off x="8248650" y="29718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6F8E7D"/>
                </a:solidFill>
              </a:defRPr>
            </a:pPr>
            <a:r>
              <a:rPr sz="900" b="1" i="0">
                <a:solidFill>
                  <a:srgbClr val="6F8E7D"/>
                </a:solidFill>
              </a:rPr>
              <a:t>03</a:t>
            </a:r>
          </a:p>
        </p:txBody>
      </p:sp>
      <p:sp>
        <p:nvSpPr>
          <p:cNvPr id="28" name="">
            <a:extLst xmlns:a="http://schemas.openxmlformats.org/drawingml/2006/main">
              <a:ext uri="{FF2B5EF4-FFF2-40B4-BE49-F238E27FC236}">
                <a16:creationId xmlns:a16="http://schemas.microsoft.com/office/drawing/2014/main" id="{80D4C880-F8CB-48A4-9532-DC688F9AE1C2}"/>
              </a:ext>
            </a:extLst>
          </p:cNvPr>
          <p:cNvSpPr>
            <a:spLocks xmlns:a="http://schemas.openxmlformats.org/drawingml/2006/main" noGrp="1"/>
          </p:cNvSpPr>
          <p:nvPr/>
        </p:nvSpPr>
        <p:spPr>
          <a:xfrm xmlns:a="http://schemas.openxmlformats.org/drawingml/2006/main">
            <a:off x="8248650" y="3343275"/>
            <a:ext cx="2905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i="0">
                <a:solidFill>
                  <a:srgbClr val="172126"/>
                </a:solidFill>
              </a:defRPr>
            </a:pPr>
            <a:r>
              <a:rPr sz="1425" b="1" i="0">
                <a:solidFill>
                  <a:srgbClr val="172126"/>
                </a:solidFill>
              </a:rPr>
              <a:t>CABINET COMPTABLE</a:t>
            </a:r>
          </a:p>
        </p:txBody>
      </p:sp>
      <p:sp>
        <p:nvSpPr>
          <p:cNvPr id="29" name="">
            <a:extLst xmlns:a="http://schemas.openxmlformats.org/drawingml/2006/main">
              <a:ext uri="{FF2B5EF4-FFF2-40B4-BE49-F238E27FC236}">
                <a16:creationId xmlns:a16="http://schemas.microsoft.com/office/drawing/2014/main" id="{C5EA2F25-EE7D-4833-B836-80D8750F3D5A}"/>
              </a:ext>
            </a:extLst>
          </p:cNvPr>
          <p:cNvSpPr>
            <a:spLocks xmlns:a="http://schemas.openxmlformats.org/drawingml/2006/main" noGrp="1"/>
          </p:cNvSpPr>
          <p:nvPr/>
        </p:nvSpPr>
        <p:spPr>
          <a:xfrm xmlns:a="http://schemas.openxmlformats.org/drawingml/2006/main">
            <a:off x="8248650" y="3867150"/>
            <a:ext cx="2895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0" i="0">
                <a:solidFill>
                  <a:srgbClr val="172126"/>
                </a:solidFill>
              </a:defRPr>
            </a:pPr>
            <a:r>
              <a:rPr sz="1275" b="0" i="0">
                <a:solidFill>
                  <a:srgbClr val="172126"/>
                </a:solidFill>
              </a:rPr>
              <a:t>Suit plusieurs dossiers depuis une boîte de réception et des processus communs.</a:t>
            </a:r>
          </a:p>
        </p:txBody>
      </p:sp>
      <p:sp>
        <p:nvSpPr>
          <p:cNvPr id="30" name="">
            <a:extLst xmlns:a="http://schemas.openxmlformats.org/drawingml/2006/main">
              <a:ext uri="{FF2B5EF4-FFF2-40B4-BE49-F238E27FC236}">
                <a16:creationId xmlns:a16="http://schemas.microsoft.com/office/drawing/2014/main" id="{B19DD724-EDF3-4680-9635-D53E596FBE6A}"/>
              </a:ext>
            </a:extLst>
          </p:cNvPr>
          <p:cNvSpPr>
            <a:spLocks xmlns:a="http://schemas.openxmlformats.org/drawingml/2006/main" noGrp="1"/>
          </p:cNvSpPr>
          <p:nvPr/>
        </p:nvSpPr>
        <p:spPr>
          <a:xfrm xmlns:a="http://schemas.openxmlformats.org/drawingml/2006/main">
            <a:off x="8248650" y="4695825"/>
            <a:ext cx="171450" cy="19050"/>
          </a:xfrm>
          <a:prstGeom xmlns:a="http://schemas.openxmlformats.org/drawingml/2006/main" prst="rect">
            <a:avLst/>
          </a:prstGeom>
          <a:solidFill xmlns:a="http://schemas.openxmlformats.org/drawingml/2006/main">
            <a:srgbClr val="6F8E7D"/>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91980740-1C0C-4E96-86FB-423581212531}"/>
              </a:ext>
            </a:extLst>
          </p:cNvPr>
          <p:cNvSpPr>
            <a:spLocks xmlns:a="http://schemas.openxmlformats.org/drawingml/2006/main" noGrp="1"/>
          </p:cNvSpPr>
          <p:nvPr/>
        </p:nvSpPr>
        <p:spPr>
          <a:xfrm xmlns:a="http://schemas.openxmlformats.org/drawingml/2006/main">
            <a:off x="8534400" y="46101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686C69"/>
                </a:solidFill>
              </a:defRPr>
            </a:pPr>
            <a:r>
              <a:rPr sz="1050" b="1" i="0">
                <a:solidFill>
                  <a:srgbClr val="686C69"/>
                </a:solidFill>
              </a:rPr>
              <a:t>Vue multi-dossiers</a:t>
            </a:r>
          </a:p>
        </p:txBody>
      </p:sp>
      <p:sp>
        <p:nvSpPr>
          <p:cNvPr id="32" name="">
            <a:extLst xmlns:a="http://schemas.openxmlformats.org/drawingml/2006/main">
              <a:ext uri="{FF2B5EF4-FFF2-40B4-BE49-F238E27FC236}">
                <a16:creationId xmlns:a16="http://schemas.microsoft.com/office/drawing/2014/main" id="{F5702DF2-1360-4EC7-A4DA-039EA31FB94A}"/>
              </a:ext>
            </a:extLst>
          </p:cNvPr>
          <p:cNvSpPr>
            <a:spLocks xmlns:a="http://schemas.openxmlformats.org/drawingml/2006/main" noGrp="1"/>
          </p:cNvSpPr>
          <p:nvPr/>
        </p:nvSpPr>
        <p:spPr>
          <a:xfrm xmlns:a="http://schemas.openxmlformats.org/drawingml/2006/main">
            <a:off x="8248650" y="4991100"/>
            <a:ext cx="171450" cy="19050"/>
          </a:xfrm>
          <a:prstGeom xmlns:a="http://schemas.openxmlformats.org/drawingml/2006/main" prst="rect">
            <a:avLst/>
          </a:prstGeom>
          <a:solidFill xmlns:a="http://schemas.openxmlformats.org/drawingml/2006/main">
            <a:srgbClr val="6F8E7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74530059-C30A-42DC-B236-46A42D71FF40}"/>
              </a:ext>
            </a:extLst>
          </p:cNvPr>
          <p:cNvSpPr>
            <a:spLocks xmlns:a="http://schemas.openxmlformats.org/drawingml/2006/main" noGrp="1"/>
          </p:cNvSpPr>
          <p:nvPr/>
        </p:nvSpPr>
        <p:spPr>
          <a:xfrm xmlns:a="http://schemas.openxmlformats.org/drawingml/2006/main">
            <a:off x="8534400" y="4905375"/>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686C69"/>
                </a:solidFill>
              </a:defRPr>
            </a:pPr>
            <a:r>
              <a:rPr sz="1050" b="1" i="0">
                <a:solidFill>
                  <a:srgbClr val="686C69"/>
                </a:solidFill>
              </a:rPr>
              <a:t>Traitements groupés</a:t>
            </a:r>
          </a:p>
        </p:txBody>
      </p:sp>
      <p:sp>
        <p:nvSpPr>
          <p:cNvPr id="34" name="">
            <a:extLst xmlns:a="http://schemas.openxmlformats.org/drawingml/2006/main">
              <a:ext uri="{FF2B5EF4-FFF2-40B4-BE49-F238E27FC236}">
                <a16:creationId xmlns:a16="http://schemas.microsoft.com/office/drawing/2014/main" id="{00FF4057-23F2-4A56-9FFB-35D36C2BD094}"/>
              </a:ext>
            </a:extLst>
          </p:cNvPr>
          <p:cNvSpPr>
            <a:spLocks xmlns:a="http://schemas.openxmlformats.org/drawingml/2006/main" noGrp="1"/>
          </p:cNvSpPr>
          <p:nvPr/>
        </p:nvSpPr>
        <p:spPr>
          <a:xfrm xmlns:a="http://schemas.openxmlformats.org/drawingml/2006/main">
            <a:off x="8248650" y="5286375"/>
            <a:ext cx="171450" cy="19050"/>
          </a:xfrm>
          <a:prstGeom xmlns:a="http://schemas.openxmlformats.org/drawingml/2006/main" prst="rect">
            <a:avLst/>
          </a:prstGeom>
          <a:solidFill xmlns:a="http://schemas.openxmlformats.org/drawingml/2006/main">
            <a:srgbClr val="6F8E7D"/>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58EC2798-D8C6-4DAC-8928-58003A4A50F0}"/>
              </a:ext>
            </a:extLst>
          </p:cNvPr>
          <p:cNvSpPr>
            <a:spLocks xmlns:a="http://schemas.openxmlformats.org/drawingml/2006/main" noGrp="1"/>
          </p:cNvSpPr>
          <p:nvPr/>
        </p:nvSpPr>
        <p:spPr>
          <a:xfrm xmlns:a="http://schemas.openxmlformats.org/drawingml/2006/main">
            <a:off x="8534400" y="52006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686C69"/>
                </a:solidFill>
              </a:defRPr>
            </a:pPr>
            <a:r>
              <a:rPr sz="1050" b="1" i="0">
                <a:solidFill>
                  <a:srgbClr val="686C69"/>
                </a:solidFill>
              </a:rPr>
              <a:t>Espace client</a:t>
            </a:r>
          </a:p>
        </p:txBody>
      </p:sp>
    </p:spTree>
    <p:extLst>
      <p:ext uri="{BB962C8B-B14F-4D97-AF65-F5344CB8AC3E}">
        <p14:creationId xmlns:p14="http://schemas.microsoft.com/office/powerpoint/2010/main" val="518252719"/>
      </p:ext>
    </p:extLst>
  </p:cSld>
</p:sld>
</file>

<file path=ppt/slides/slide7.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CE5CD12-2853-49B1-B827-4D60F6D8EE2E}"/>
              </a:ext>
            </a:extLst>
          </p:cNvPr>
          <p:cNvSpPr>
            <a:spLocks xmlns:a="http://schemas.openxmlformats.org/drawingml/2006/main" noGrp="1"/>
          </p:cNvSpPr>
          <p:nvPr/>
        </p:nvSpPr>
        <p:spPr>
          <a:xfrm xmlns:a="http://schemas.openxmlformats.org/drawingml/2006/main">
            <a:off x="533400" y="285750"/>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686C69"/>
                </a:solidFill>
              </a:defRPr>
            </a:pPr>
            <a:r>
              <a:rPr sz="825" b="1" i="0">
                <a:solidFill>
                  <a:srgbClr val="686C69"/>
                </a:solidFill>
              </a:rPr>
              <a:t>CANAL D’ACQUISITION</a:t>
            </a:r>
          </a:p>
        </p:txBody>
      </p:sp>
      <p:sp>
        <p:nvSpPr>
          <p:cNvPr id="2" name="">
            <a:extLst xmlns:a="http://schemas.openxmlformats.org/drawingml/2006/main">
              <a:ext uri="{FF2B5EF4-FFF2-40B4-BE49-F238E27FC236}">
                <a16:creationId xmlns:a16="http://schemas.microsoft.com/office/drawing/2014/main" id="{1517B765-557F-4419-876C-85902FA75649}"/>
              </a:ext>
            </a:extLst>
          </p:cNvPr>
          <p:cNvSpPr>
            <a:spLocks xmlns:a="http://schemas.openxmlformats.org/drawingml/2006/main" noGrp="1"/>
          </p:cNvSpPr>
          <p:nvPr/>
        </p:nvSpPr>
        <p:spPr>
          <a:xfrm xmlns:a="http://schemas.openxmlformats.org/drawingml/2006/main">
            <a:off x="11201400" y="2667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i="0">
                <a:solidFill>
                  <a:srgbClr val="686C69"/>
                </a:solidFill>
              </a:defRPr>
            </a:pPr>
            <a:r>
              <a:rPr sz="900" b="1" i="0">
                <a:solidFill>
                  <a:srgbClr val="686C69"/>
                </a:solidFill>
              </a:rPr>
              <a:t>07</a:t>
            </a:r>
          </a:p>
        </p:txBody>
      </p:sp>
      <p:sp>
        <p:nvSpPr>
          <p:cNvPr id="3" name="">
            <a:extLst xmlns:a="http://schemas.openxmlformats.org/drawingml/2006/main">
              <a:ext uri="{FF2B5EF4-FFF2-40B4-BE49-F238E27FC236}">
                <a16:creationId xmlns:a16="http://schemas.microsoft.com/office/drawing/2014/main" id="{10B382B5-5BDF-4682-9EB3-9C29D50C8D33}"/>
              </a:ext>
            </a:extLst>
          </p:cNvPr>
          <p:cNvSpPr>
            <a:spLocks xmlns:a="http://schemas.openxmlformats.org/drawingml/2006/main" noGrp="1"/>
          </p:cNvSpPr>
          <p:nvPr/>
        </p:nvSpPr>
        <p:spPr>
          <a:xfrm xmlns:a="http://schemas.openxmlformats.org/drawingml/2006/main">
            <a:off x="533400" y="552450"/>
            <a:ext cx="11125200" cy="9525"/>
          </a:xfrm>
          <a:prstGeom xmlns:a="http://schemas.openxmlformats.org/drawingml/2006/main" prst="rect">
            <a:avLst/>
          </a:prstGeom>
          <a:solidFill xmlns:a="http://schemas.openxmlformats.org/drawingml/2006/main">
            <a:srgbClr val="D8D0C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099449A-4ADC-4D60-8328-10444C061CF5}"/>
              </a:ext>
            </a:extLst>
          </p:cNvPr>
          <p:cNvSpPr>
            <a:spLocks xmlns:a="http://schemas.openxmlformats.org/drawingml/2006/main" noGrp="1"/>
          </p:cNvSpPr>
          <p:nvPr/>
        </p:nvSpPr>
        <p:spPr>
          <a:xfrm xmlns:a="http://schemas.openxmlformats.org/drawingml/2006/main">
            <a:off x="609600" y="8001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C96F52"/>
                </a:solidFill>
              </a:defRPr>
            </a:pPr>
            <a:r>
              <a:rPr sz="900" b="1" i="0">
                <a:solidFill>
                  <a:srgbClr val="C96F52"/>
                </a:solidFill>
              </a:rPr>
              <a:t>La facturation attire. Les usages financiers fidélisent.</a:t>
            </a:r>
          </a:p>
        </p:txBody>
      </p:sp>
      <p:sp>
        <p:nvSpPr>
          <p:cNvPr id="5" name="">
            <a:extLst xmlns:a="http://schemas.openxmlformats.org/drawingml/2006/main">
              <a:ext uri="{FF2B5EF4-FFF2-40B4-BE49-F238E27FC236}">
                <a16:creationId xmlns:a16="http://schemas.microsoft.com/office/drawing/2014/main" id="{36C03C15-1427-4B10-A96C-E94C32B9EBAE}"/>
              </a:ext>
            </a:extLst>
          </p:cNvPr>
          <p:cNvSpPr>
            <a:spLocks xmlns:a="http://schemas.openxmlformats.org/drawingml/2006/main" noGrp="1"/>
          </p:cNvSpPr>
          <p:nvPr/>
        </p:nvSpPr>
        <p:spPr>
          <a:xfrm xmlns:a="http://schemas.openxmlformats.org/drawingml/2006/main">
            <a:off x="609600" y="114300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225" b="1" i="0">
                <a:solidFill>
                  <a:srgbClr val="172126"/>
                </a:solidFill>
              </a:defRPr>
            </a:pPr>
            <a:r>
              <a:rPr sz="3225" b="1" i="0">
                <a:solidFill>
                  <a:srgbClr val="172126"/>
                </a:solidFill>
              </a:rPr>
              <a:t>L’offre gratuite ouvre la relation. Les besoins financiers et la collaboration créent des revenus récurrents.</a:t>
            </a:r>
          </a:p>
        </p:txBody>
      </p:sp>
      <p:sp>
        <p:nvSpPr>
          <p:cNvPr id="6" name="">
            <a:extLst xmlns:a="http://schemas.openxmlformats.org/drawingml/2006/main">
              <a:ext uri="{FF2B5EF4-FFF2-40B4-BE49-F238E27FC236}">
                <a16:creationId xmlns:a16="http://schemas.microsoft.com/office/drawing/2014/main" id="{44FA01D4-321D-467A-AF86-9FCE276EC936}"/>
              </a:ext>
            </a:extLst>
          </p:cNvPr>
          <p:cNvSpPr>
            <a:spLocks xmlns:a="http://schemas.openxmlformats.org/drawingml/2006/main" noGrp="1"/>
          </p:cNvSpPr>
          <p:nvPr/>
        </p:nvSpPr>
        <p:spPr>
          <a:xfrm xmlns:a="http://schemas.openxmlformats.org/drawingml/2006/main">
            <a:off x="1143000" y="2895600"/>
            <a:ext cx="7810500" cy="742950"/>
          </a:xfrm>
          <a:prstGeom xmlns:a="http://schemas.openxmlformats.org/drawingml/2006/main" prst="roundRect">
            <a:avLst>
              <a:gd name="adj" fmla="val 2564"/>
            </a:avLst>
          </a:prstGeom>
          <a:solidFill xmlns:a="http://schemas.openxmlformats.org/drawingml/2006/main">
            <a:srgbClr val="D9E8E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BE4EE64-AB8A-468A-B26B-93ED144CCE53}"/>
              </a:ext>
            </a:extLst>
          </p:cNvPr>
          <p:cNvSpPr>
            <a:spLocks xmlns:a="http://schemas.openxmlformats.org/drawingml/2006/main" noGrp="1"/>
          </p:cNvSpPr>
          <p:nvPr/>
        </p:nvSpPr>
        <p:spPr>
          <a:xfrm xmlns:a="http://schemas.openxmlformats.org/drawingml/2006/main">
            <a:off x="1314450" y="30861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477A86"/>
                </a:solidFill>
              </a:defRPr>
            </a:pPr>
            <a:r>
              <a:rPr sz="900" b="1" i="0">
                <a:solidFill>
                  <a:srgbClr val="477A86"/>
                </a:solidFill>
              </a:rPr>
              <a:t>01</a:t>
            </a:r>
          </a:p>
        </p:txBody>
      </p:sp>
      <p:sp>
        <p:nvSpPr>
          <p:cNvPr id="8" name="">
            <a:extLst xmlns:a="http://schemas.openxmlformats.org/drawingml/2006/main">
              <a:ext uri="{FF2B5EF4-FFF2-40B4-BE49-F238E27FC236}">
                <a16:creationId xmlns:a16="http://schemas.microsoft.com/office/drawing/2014/main" id="{4BFD1CDF-D08B-4943-AE6C-38FE9F869803}"/>
              </a:ext>
            </a:extLst>
          </p:cNvPr>
          <p:cNvSpPr>
            <a:spLocks xmlns:a="http://schemas.openxmlformats.org/drawingml/2006/main" noGrp="1"/>
          </p:cNvSpPr>
          <p:nvPr/>
        </p:nvSpPr>
        <p:spPr>
          <a:xfrm xmlns:a="http://schemas.openxmlformats.org/drawingml/2006/main">
            <a:off x="1809750" y="30480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i="0">
                <a:solidFill>
                  <a:srgbClr val="172126"/>
                </a:solidFill>
              </a:defRPr>
            </a:pPr>
            <a:r>
              <a:rPr sz="1350" b="1" i="0">
                <a:solidFill>
                  <a:srgbClr val="172126"/>
                </a:solidFill>
              </a:rPr>
              <a:t>FACTURATION GRATUITE</a:t>
            </a:r>
          </a:p>
        </p:txBody>
      </p:sp>
      <p:sp>
        <p:nvSpPr>
          <p:cNvPr id="9" name="">
            <a:extLst xmlns:a="http://schemas.openxmlformats.org/drawingml/2006/main">
              <a:ext uri="{FF2B5EF4-FFF2-40B4-BE49-F238E27FC236}">
                <a16:creationId xmlns:a16="http://schemas.microsoft.com/office/drawing/2014/main" id="{1538B136-03E8-491B-873A-C2A1EBFBD8C8}"/>
              </a:ext>
            </a:extLst>
          </p:cNvPr>
          <p:cNvSpPr>
            <a:spLocks xmlns:a="http://schemas.openxmlformats.org/drawingml/2006/main" noGrp="1"/>
          </p:cNvSpPr>
          <p:nvPr/>
        </p:nvSpPr>
        <p:spPr>
          <a:xfrm xmlns:a="http://schemas.openxmlformats.org/drawingml/2006/main">
            <a:off x="4400550" y="3038475"/>
            <a:ext cx="4333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686C69"/>
                </a:solidFill>
              </a:defRPr>
            </a:pPr>
            <a:r>
              <a:rPr sz="1125" b="0" i="0">
                <a:solidFill>
                  <a:srgbClr val="686C69"/>
                </a:solidFill>
              </a:rPr>
              <a:t>Rencontrer les entrepreneurs au moment où ils commencent à facturer</a:t>
            </a:r>
          </a:p>
        </p:txBody>
      </p:sp>
      <p:sp>
        <p:nvSpPr>
          <p:cNvPr id="10" name="">
            <a:extLst xmlns:a="http://schemas.openxmlformats.org/drawingml/2006/main">
              <a:ext uri="{FF2B5EF4-FFF2-40B4-BE49-F238E27FC236}">
                <a16:creationId xmlns:a16="http://schemas.microsoft.com/office/drawing/2014/main" id="{D7E64C0A-FD36-464F-B118-A75020F8931A}"/>
              </a:ext>
            </a:extLst>
          </p:cNvPr>
          <p:cNvSpPr>
            <a:spLocks xmlns:a="http://schemas.openxmlformats.org/drawingml/2006/main" noGrp="1"/>
          </p:cNvSpPr>
          <p:nvPr/>
        </p:nvSpPr>
        <p:spPr>
          <a:xfrm xmlns:a="http://schemas.openxmlformats.org/drawingml/2006/main">
            <a:off x="1905000" y="3943350"/>
            <a:ext cx="7048500" cy="742950"/>
          </a:xfrm>
          <a:prstGeom xmlns:a="http://schemas.openxmlformats.org/drawingml/2006/main" prst="roundRect">
            <a:avLst>
              <a:gd name="adj" fmla="val 2564"/>
            </a:avLst>
          </a:prstGeom>
          <a:solidFill xmlns:a="http://schemas.openxmlformats.org/drawingml/2006/main">
            <a:srgbClr val="F4DED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8D6651E-8968-49FC-8298-B14CCD50C78D}"/>
              </a:ext>
            </a:extLst>
          </p:cNvPr>
          <p:cNvSpPr>
            <a:spLocks xmlns:a="http://schemas.openxmlformats.org/drawingml/2006/main" noGrp="1"/>
          </p:cNvSpPr>
          <p:nvPr/>
        </p:nvSpPr>
        <p:spPr>
          <a:xfrm xmlns:a="http://schemas.openxmlformats.org/drawingml/2006/main">
            <a:off x="2076450" y="413385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C96F52"/>
                </a:solidFill>
              </a:defRPr>
            </a:pPr>
            <a:r>
              <a:rPr sz="900" b="1" i="0">
                <a:solidFill>
                  <a:srgbClr val="C96F52"/>
                </a:solidFill>
              </a:rPr>
              <a:t>02</a:t>
            </a:r>
          </a:p>
        </p:txBody>
      </p:sp>
      <p:sp>
        <p:nvSpPr>
          <p:cNvPr id="12" name="">
            <a:extLst xmlns:a="http://schemas.openxmlformats.org/drawingml/2006/main">
              <a:ext uri="{FF2B5EF4-FFF2-40B4-BE49-F238E27FC236}">
                <a16:creationId xmlns:a16="http://schemas.microsoft.com/office/drawing/2014/main" id="{797474B2-BE8E-46AC-86B7-400831EEDFEC}"/>
              </a:ext>
            </a:extLst>
          </p:cNvPr>
          <p:cNvSpPr>
            <a:spLocks xmlns:a="http://schemas.openxmlformats.org/drawingml/2006/main" noGrp="1"/>
          </p:cNvSpPr>
          <p:nvPr/>
        </p:nvSpPr>
        <p:spPr>
          <a:xfrm xmlns:a="http://schemas.openxmlformats.org/drawingml/2006/main">
            <a:off x="2571750" y="40957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i="0">
                <a:solidFill>
                  <a:srgbClr val="172126"/>
                </a:solidFill>
              </a:defRPr>
            </a:pPr>
            <a:r>
              <a:rPr sz="1350" b="1" i="0">
                <a:solidFill>
                  <a:srgbClr val="172126"/>
                </a:solidFill>
              </a:rPr>
              <a:t>USAGES FINANCIERS</a:t>
            </a:r>
          </a:p>
        </p:txBody>
      </p:sp>
      <p:sp>
        <p:nvSpPr>
          <p:cNvPr id="13" name="">
            <a:extLst xmlns:a="http://schemas.openxmlformats.org/drawingml/2006/main">
              <a:ext uri="{FF2B5EF4-FFF2-40B4-BE49-F238E27FC236}">
                <a16:creationId xmlns:a16="http://schemas.microsoft.com/office/drawing/2014/main" id="{B7CAF8DB-A8DC-4AFA-86E7-F07D56C26E5A}"/>
              </a:ext>
            </a:extLst>
          </p:cNvPr>
          <p:cNvSpPr>
            <a:spLocks xmlns:a="http://schemas.openxmlformats.org/drawingml/2006/main" noGrp="1"/>
          </p:cNvSpPr>
          <p:nvPr/>
        </p:nvSpPr>
        <p:spPr>
          <a:xfrm xmlns:a="http://schemas.openxmlformats.org/drawingml/2006/main">
            <a:off x="5162550" y="4086225"/>
            <a:ext cx="357187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686C69"/>
                </a:solidFill>
              </a:defRPr>
            </a:pPr>
            <a:r>
              <a:rPr sz="1125" b="0" i="0">
                <a:solidFill>
                  <a:srgbClr val="686C69"/>
                </a:solidFill>
              </a:rPr>
              <a:t>Ajouter achats, trésorerie, TVA et paie au rythme des besoins</a:t>
            </a:r>
          </a:p>
        </p:txBody>
      </p:sp>
      <p:sp>
        <p:nvSpPr>
          <p:cNvPr id="14" name="">
            <a:extLst xmlns:a="http://schemas.openxmlformats.org/drawingml/2006/main">
              <a:ext uri="{FF2B5EF4-FFF2-40B4-BE49-F238E27FC236}">
                <a16:creationId xmlns:a16="http://schemas.microsoft.com/office/drawing/2014/main" id="{44403B61-91D3-4B29-8BAC-EA277CA0293B}"/>
              </a:ext>
            </a:extLst>
          </p:cNvPr>
          <p:cNvSpPr>
            <a:spLocks xmlns:a="http://schemas.openxmlformats.org/drawingml/2006/main" noGrp="1"/>
          </p:cNvSpPr>
          <p:nvPr/>
        </p:nvSpPr>
        <p:spPr>
          <a:xfrm xmlns:a="http://schemas.openxmlformats.org/drawingml/2006/main">
            <a:off x="2714625" y="4991100"/>
            <a:ext cx="6238875" cy="742950"/>
          </a:xfrm>
          <a:prstGeom xmlns:a="http://schemas.openxmlformats.org/drawingml/2006/main" prst="roundRect">
            <a:avLst>
              <a:gd name="adj" fmla="val 2564"/>
            </a:avLst>
          </a:prstGeom>
          <a:solidFill xmlns:a="http://schemas.openxmlformats.org/drawingml/2006/main">
            <a:srgbClr val="DDE8D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EEB6F24-594E-4A70-B469-02C7D578A690}"/>
              </a:ext>
            </a:extLst>
          </p:cNvPr>
          <p:cNvSpPr>
            <a:spLocks xmlns:a="http://schemas.openxmlformats.org/drawingml/2006/main" noGrp="1"/>
          </p:cNvSpPr>
          <p:nvPr/>
        </p:nvSpPr>
        <p:spPr>
          <a:xfrm xmlns:a="http://schemas.openxmlformats.org/drawingml/2006/main">
            <a:off x="2886075" y="5181600"/>
            <a:ext cx="342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6F8E7D"/>
                </a:solidFill>
              </a:defRPr>
            </a:pPr>
            <a:r>
              <a:rPr sz="900" b="1" i="0">
                <a:solidFill>
                  <a:srgbClr val="6F8E7D"/>
                </a:solidFill>
              </a:rPr>
              <a:t>03</a:t>
            </a:r>
          </a:p>
        </p:txBody>
      </p:sp>
      <p:sp>
        <p:nvSpPr>
          <p:cNvPr id="16" name="">
            <a:extLst xmlns:a="http://schemas.openxmlformats.org/drawingml/2006/main">
              <a:ext uri="{FF2B5EF4-FFF2-40B4-BE49-F238E27FC236}">
                <a16:creationId xmlns:a16="http://schemas.microsoft.com/office/drawing/2014/main" id="{612192F0-78CF-4EA3-9F6C-D6293BF439B7}"/>
              </a:ext>
            </a:extLst>
          </p:cNvPr>
          <p:cNvSpPr>
            <a:spLocks xmlns:a="http://schemas.openxmlformats.org/drawingml/2006/main" noGrp="1"/>
          </p:cNvSpPr>
          <p:nvPr/>
        </p:nvSpPr>
        <p:spPr>
          <a:xfrm xmlns:a="http://schemas.openxmlformats.org/drawingml/2006/main">
            <a:off x="3381375" y="51435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i="0">
                <a:solidFill>
                  <a:srgbClr val="172126"/>
                </a:solidFill>
              </a:defRPr>
            </a:pPr>
            <a:r>
              <a:rPr sz="1350" b="1" i="0">
                <a:solidFill>
                  <a:srgbClr val="172126"/>
                </a:solidFill>
              </a:rPr>
              <a:t>RÉSEAU DE CABINETS</a:t>
            </a:r>
          </a:p>
        </p:txBody>
      </p:sp>
      <p:sp>
        <p:nvSpPr>
          <p:cNvPr id="17" name="">
            <a:extLst xmlns:a="http://schemas.openxmlformats.org/drawingml/2006/main">
              <a:ext uri="{FF2B5EF4-FFF2-40B4-BE49-F238E27FC236}">
                <a16:creationId xmlns:a16="http://schemas.microsoft.com/office/drawing/2014/main" id="{A4C99001-74E8-448C-B0F8-268C8F13C36A}"/>
              </a:ext>
            </a:extLst>
          </p:cNvPr>
          <p:cNvSpPr>
            <a:spLocks xmlns:a="http://schemas.openxmlformats.org/drawingml/2006/main" noGrp="1"/>
          </p:cNvSpPr>
          <p:nvPr/>
        </p:nvSpPr>
        <p:spPr>
          <a:xfrm xmlns:a="http://schemas.openxmlformats.org/drawingml/2006/main">
            <a:off x="5972175" y="5133975"/>
            <a:ext cx="2762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686C69"/>
                </a:solidFill>
              </a:defRPr>
            </a:pPr>
            <a:r>
              <a:rPr sz="1125" b="0" i="0">
                <a:solidFill>
                  <a:srgbClr val="686C69"/>
                </a:solidFill>
              </a:rPr>
              <a:t>Un cabinet peut accompagner plusieurs entreprises sur le même outil</a:t>
            </a:r>
          </a:p>
        </p:txBody>
      </p:sp>
      <p:sp>
        <p:nvSpPr>
          <p:cNvPr id="18" name="">
            <a:extLst xmlns:a="http://schemas.openxmlformats.org/drawingml/2006/main">
              <a:ext uri="{FF2B5EF4-FFF2-40B4-BE49-F238E27FC236}">
                <a16:creationId xmlns:a16="http://schemas.microsoft.com/office/drawing/2014/main" id="{5FE39B11-387C-4D8F-BF1E-B2EBA1D99011}"/>
              </a:ext>
            </a:extLst>
          </p:cNvPr>
          <p:cNvSpPr>
            <a:spLocks xmlns:a="http://schemas.openxmlformats.org/drawingml/2006/main" noGrp="1"/>
          </p:cNvSpPr>
          <p:nvPr/>
        </p:nvSpPr>
        <p:spPr>
          <a:xfrm xmlns:a="http://schemas.openxmlformats.org/drawingml/2006/main">
            <a:off x="2476500" y="6029325"/>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i="0">
                <a:solidFill>
                  <a:srgbClr val="172126"/>
                </a:solidFill>
              </a:defRPr>
            </a:pPr>
            <a:r>
              <a:rPr sz="1350" b="1" i="0">
                <a:solidFill>
                  <a:srgbClr val="172126"/>
                </a:solidFill>
              </a:rPr>
              <a:t>Chaque relation peut ouvrir de nouveaux usages et faciliter l’acquisition d’autres clients.</a:t>
            </a:r>
          </a:p>
        </p:txBody>
      </p:sp>
    </p:spTree>
    <p:extLst>
      <p:ext uri="{BB962C8B-B14F-4D97-AF65-F5344CB8AC3E}">
        <p14:creationId xmlns:p14="http://schemas.microsoft.com/office/powerpoint/2010/main" val="198175219"/>
      </p:ext>
    </p:extLst>
  </p:cSld>
</p:sld>
</file>

<file path=ppt/slides/slide8.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0CDDAD5-97A5-4A38-BE5F-7256934C669B}"/>
              </a:ext>
            </a:extLst>
          </p:cNvPr>
          <p:cNvSpPr>
            <a:spLocks xmlns:a="http://schemas.openxmlformats.org/drawingml/2006/main" noGrp="1"/>
          </p:cNvSpPr>
          <p:nvPr/>
        </p:nvSpPr>
        <p:spPr>
          <a:xfrm xmlns:a="http://schemas.openxmlformats.org/drawingml/2006/main">
            <a:off x="533400" y="285750"/>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686C69"/>
                </a:solidFill>
              </a:defRPr>
            </a:pPr>
            <a:r>
              <a:rPr sz="825" b="1" i="0">
                <a:solidFill>
                  <a:srgbClr val="686C69"/>
                </a:solidFill>
              </a:rPr>
              <a:t>MARCHÉ</a:t>
            </a:r>
          </a:p>
        </p:txBody>
      </p:sp>
      <p:sp>
        <p:nvSpPr>
          <p:cNvPr id="2" name="">
            <a:extLst xmlns:a="http://schemas.openxmlformats.org/drawingml/2006/main">
              <a:ext uri="{FF2B5EF4-FFF2-40B4-BE49-F238E27FC236}">
                <a16:creationId xmlns:a16="http://schemas.microsoft.com/office/drawing/2014/main" id="{0647C7A5-BF35-4317-9DFC-A773125CF386}"/>
              </a:ext>
            </a:extLst>
          </p:cNvPr>
          <p:cNvSpPr>
            <a:spLocks xmlns:a="http://schemas.openxmlformats.org/drawingml/2006/main" noGrp="1"/>
          </p:cNvSpPr>
          <p:nvPr/>
        </p:nvSpPr>
        <p:spPr>
          <a:xfrm xmlns:a="http://schemas.openxmlformats.org/drawingml/2006/main">
            <a:off x="11201400" y="2667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i="0">
                <a:solidFill>
                  <a:srgbClr val="686C69"/>
                </a:solidFill>
              </a:defRPr>
            </a:pPr>
            <a:r>
              <a:rPr sz="900" b="1" i="0">
                <a:solidFill>
                  <a:srgbClr val="686C69"/>
                </a:solidFill>
              </a:rPr>
              <a:t>08</a:t>
            </a:r>
          </a:p>
        </p:txBody>
      </p:sp>
      <p:sp>
        <p:nvSpPr>
          <p:cNvPr id="3" name="">
            <a:extLst xmlns:a="http://schemas.openxmlformats.org/drawingml/2006/main">
              <a:ext uri="{FF2B5EF4-FFF2-40B4-BE49-F238E27FC236}">
                <a16:creationId xmlns:a16="http://schemas.microsoft.com/office/drawing/2014/main" id="{2C137B85-51CE-4F62-8541-89AB403DF6A7}"/>
              </a:ext>
            </a:extLst>
          </p:cNvPr>
          <p:cNvSpPr>
            <a:spLocks xmlns:a="http://schemas.openxmlformats.org/drawingml/2006/main" noGrp="1"/>
          </p:cNvSpPr>
          <p:nvPr/>
        </p:nvSpPr>
        <p:spPr>
          <a:xfrm xmlns:a="http://schemas.openxmlformats.org/drawingml/2006/main">
            <a:off x="533400" y="552450"/>
            <a:ext cx="11125200" cy="9525"/>
          </a:xfrm>
          <a:prstGeom xmlns:a="http://schemas.openxmlformats.org/drawingml/2006/main" prst="rect">
            <a:avLst/>
          </a:prstGeom>
          <a:solidFill xmlns:a="http://schemas.openxmlformats.org/drawingml/2006/main">
            <a:srgbClr val="D8D0C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77DF511-9D35-4D9E-8074-0E6CEE926E2B}"/>
              </a:ext>
            </a:extLst>
          </p:cNvPr>
          <p:cNvSpPr>
            <a:spLocks xmlns:a="http://schemas.openxmlformats.org/drawingml/2006/main" noGrp="1"/>
          </p:cNvSpPr>
          <p:nvPr/>
        </p:nvSpPr>
        <p:spPr>
          <a:xfrm xmlns:a="http://schemas.openxmlformats.org/drawingml/2006/main">
            <a:off x="609600" y="8001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C96F52"/>
                </a:solidFill>
              </a:defRPr>
            </a:pPr>
            <a:r>
              <a:rPr sz="900" b="1" i="0">
                <a:solidFill>
                  <a:srgbClr val="C96F52"/>
                </a:solidFill>
              </a:rPr>
              <a:t>Un large marché formel, à conquérir par étapes</a:t>
            </a:r>
          </a:p>
        </p:txBody>
      </p:sp>
      <p:sp>
        <p:nvSpPr>
          <p:cNvPr id="5" name="">
            <a:extLst xmlns:a="http://schemas.openxmlformats.org/drawingml/2006/main">
              <a:ext uri="{FF2B5EF4-FFF2-40B4-BE49-F238E27FC236}">
                <a16:creationId xmlns:a16="http://schemas.microsoft.com/office/drawing/2014/main" id="{A681672A-FFFE-4881-995A-50BD27257612}"/>
              </a:ext>
            </a:extLst>
          </p:cNvPr>
          <p:cNvSpPr>
            <a:spLocks xmlns:a="http://schemas.openxmlformats.org/drawingml/2006/main" noGrp="1"/>
          </p:cNvSpPr>
          <p:nvPr/>
        </p:nvSpPr>
        <p:spPr>
          <a:xfrm xmlns:a="http://schemas.openxmlformats.org/drawingml/2006/main">
            <a:off x="609600" y="114300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225" b="1" i="0">
                <a:solidFill>
                  <a:srgbClr val="172126"/>
                </a:solidFill>
              </a:defRPr>
            </a:pPr>
            <a:r>
              <a:rPr sz="3225" b="1" i="0">
                <a:solidFill>
                  <a:srgbClr val="172126"/>
                </a:solidFill>
              </a:rPr>
              <a:t>Le Maroc compte des centaines de milliers d’entreprises privées actives.</a:t>
            </a:r>
          </a:p>
        </p:txBody>
      </p:sp>
      <p:sp>
        <p:nvSpPr>
          <p:cNvPr id="6" name="">
            <a:extLst xmlns:a="http://schemas.openxmlformats.org/drawingml/2006/main">
              <a:ext uri="{FF2B5EF4-FFF2-40B4-BE49-F238E27FC236}">
                <a16:creationId xmlns:a16="http://schemas.microsoft.com/office/drawing/2014/main" id="{56629C86-DBD9-4AF5-89CC-D6F792A7A0E9}"/>
              </a:ext>
            </a:extLst>
          </p:cNvPr>
          <p:cNvSpPr>
            <a:spLocks xmlns:a="http://schemas.openxmlformats.org/drawingml/2006/main" noGrp="1"/>
          </p:cNvSpPr>
          <p:nvPr/>
        </p:nvSpPr>
        <p:spPr>
          <a:xfrm xmlns:a="http://schemas.openxmlformats.org/drawingml/2006/main">
            <a:off x="628650" y="2114550"/>
            <a:ext cx="8858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0" i="0">
                <a:solidFill>
                  <a:srgbClr val="686C69"/>
                </a:solidFill>
              </a:defRPr>
            </a:pPr>
            <a:r>
              <a:rPr sz="1425" b="0" i="0">
                <a:solidFill>
                  <a:srgbClr val="686C69"/>
                </a:solidFill>
              </a:rPr>
              <a:t>Un univers de marché à préciser par segment, région et capacité d’acquisition.</a:t>
            </a:r>
          </a:p>
        </p:txBody>
      </p:sp>
      <p:sp>
        <p:nvSpPr>
          <p:cNvPr id="7" name="">
            <a:extLst xmlns:a="http://schemas.openxmlformats.org/drawingml/2006/main">
              <a:ext uri="{FF2B5EF4-FFF2-40B4-BE49-F238E27FC236}">
                <a16:creationId xmlns:a16="http://schemas.microsoft.com/office/drawing/2014/main" id="{6031574A-634C-4FF5-BDD2-7A0545ABEE3B}"/>
              </a:ext>
            </a:extLst>
          </p:cNvPr>
          <p:cNvSpPr>
            <a:spLocks xmlns:a="http://schemas.openxmlformats.org/drawingml/2006/main" noGrp="1"/>
          </p:cNvSpPr>
          <p:nvPr/>
        </p:nvSpPr>
        <p:spPr>
          <a:xfrm xmlns:a="http://schemas.openxmlformats.org/drawingml/2006/main">
            <a:off x="742950" y="3105150"/>
            <a:ext cx="6286500" cy="2571750"/>
          </a:xfrm>
          <a:prstGeom xmlns:a="http://schemas.openxmlformats.org/drawingml/2006/main" prst="roundRect">
            <a:avLst>
              <a:gd name="adj" fmla="val 741"/>
            </a:avLst>
          </a:prstGeom>
          <a:solidFill xmlns:a="http://schemas.openxmlformats.org/drawingml/2006/main">
            <a:srgbClr val="000000">
              <a:alpha val="7059"/>
            </a:srgbClr>
          </a:solidFill>
          <a:ln xmlns:a="http://schemas.openxmlformats.org/drawingml/2006/main" w="0">
            <a:noFill/>
            <a:prstDash val="solid"/>
          </a:ln>
        </p:spPr>
      </p:sp>
      <p:sp>
        <p:nvSpPr>
          <p:cNvPr id="8" name="paper-card">
            <a:extLst xmlns:a="http://schemas.openxmlformats.org/drawingml/2006/main">
              <a:ext uri="{FF2B5EF4-FFF2-40B4-BE49-F238E27FC236}">
                <a16:creationId xmlns:a16="http://schemas.microsoft.com/office/drawing/2014/main" id="{D9EFF892-EECE-444F-B8A2-5E83F35DDCEC}"/>
              </a:ext>
            </a:extLst>
          </p:cNvPr>
          <p:cNvSpPr>
            <a:spLocks xmlns:a="http://schemas.openxmlformats.org/drawingml/2006/main" noGrp="1"/>
          </p:cNvSpPr>
          <p:nvPr/>
        </p:nvSpPr>
        <p:spPr>
          <a:xfrm xmlns:a="http://schemas.openxmlformats.org/drawingml/2006/main">
            <a:off x="666750" y="3009900"/>
            <a:ext cx="6286500" cy="2571750"/>
          </a:xfrm>
          <a:prstGeom xmlns:a="http://schemas.openxmlformats.org/drawingml/2006/main" prst="roundRect">
            <a:avLst>
              <a:gd name="adj" fmla="val 741"/>
            </a:avLst>
          </a:prstGeom>
          <a:solidFill xmlns:a="http://schemas.openxmlformats.org/drawingml/2006/main">
            <a:srgbClr val="FFFDF8"/>
          </a:solidFill>
          <a:ln xmlns:a="http://schemas.openxmlformats.org/drawingml/2006/main" w="9525">
            <a:solidFill>
              <a:srgbClr val="D8D0C3"/>
            </a:solidFill>
            <a:prstDash val="solid"/>
          </a:ln>
        </p:spPr>
      </p:sp>
      <p:sp>
        <p:nvSpPr>
          <p:cNvPr id="9" name="">
            <a:extLst xmlns:a="http://schemas.openxmlformats.org/drawingml/2006/main">
              <a:ext uri="{FF2B5EF4-FFF2-40B4-BE49-F238E27FC236}">
                <a16:creationId xmlns:a16="http://schemas.microsoft.com/office/drawing/2014/main" id="{5136E600-0C2A-4711-B386-1B5247117885}"/>
              </a:ext>
            </a:extLst>
          </p:cNvPr>
          <p:cNvSpPr>
            <a:spLocks xmlns:a="http://schemas.openxmlformats.org/drawingml/2006/main" noGrp="1"/>
          </p:cNvSpPr>
          <p:nvPr/>
        </p:nvSpPr>
        <p:spPr>
          <a:xfrm xmlns:a="http://schemas.openxmlformats.org/drawingml/2006/main">
            <a:off x="1009650" y="3333750"/>
            <a:ext cx="2476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4350" b="1" i="0">
                <a:solidFill>
                  <a:srgbClr val="477A86"/>
                </a:solidFill>
              </a:defRPr>
            </a:pPr>
            <a:r>
              <a:rPr sz="4350" b="1" i="0">
                <a:solidFill>
                  <a:srgbClr val="477A86"/>
                </a:solidFill>
              </a:rPr>
              <a:t>388 446</a:t>
            </a:r>
          </a:p>
        </p:txBody>
      </p:sp>
      <p:sp>
        <p:nvSpPr>
          <p:cNvPr id="10" name="">
            <a:extLst xmlns:a="http://schemas.openxmlformats.org/drawingml/2006/main">
              <a:ext uri="{FF2B5EF4-FFF2-40B4-BE49-F238E27FC236}">
                <a16:creationId xmlns:a16="http://schemas.microsoft.com/office/drawing/2014/main" id="{75E39931-F8A7-4F69-9B97-5D301E2F1541}"/>
              </a:ext>
            </a:extLst>
          </p:cNvPr>
          <p:cNvSpPr>
            <a:spLocks xmlns:a="http://schemas.openxmlformats.org/drawingml/2006/main" noGrp="1"/>
          </p:cNvSpPr>
          <p:nvPr/>
        </p:nvSpPr>
        <p:spPr>
          <a:xfrm xmlns:a="http://schemas.openxmlformats.org/drawingml/2006/main">
            <a:off x="1009650" y="40195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1" i="0">
                <a:solidFill>
                  <a:srgbClr val="172126"/>
                </a:solidFill>
              </a:defRPr>
            </a:pPr>
            <a:r>
              <a:rPr sz="1350" b="1" i="0">
                <a:solidFill>
                  <a:srgbClr val="172126"/>
                </a:solidFill>
              </a:rPr>
              <a:t>entreprises privées actives en 2024</a:t>
            </a:r>
          </a:p>
        </p:txBody>
      </p:sp>
      <p:sp>
        <p:nvSpPr>
          <p:cNvPr id="11" name="">
            <a:extLst xmlns:a="http://schemas.openxmlformats.org/drawingml/2006/main">
              <a:ext uri="{FF2B5EF4-FFF2-40B4-BE49-F238E27FC236}">
                <a16:creationId xmlns:a16="http://schemas.microsoft.com/office/drawing/2014/main" id="{4F8CED8A-C958-4185-A169-C2C9B09676A9}"/>
              </a:ext>
            </a:extLst>
          </p:cNvPr>
          <p:cNvSpPr>
            <a:spLocks xmlns:a="http://schemas.openxmlformats.org/drawingml/2006/main" noGrp="1"/>
          </p:cNvSpPr>
          <p:nvPr/>
        </p:nvSpPr>
        <p:spPr>
          <a:xfrm xmlns:a="http://schemas.openxmlformats.org/drawingml/2006/main">
            <a:off x="1009650" y="4552950"/>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i="0">
                <a:solidFill>
                  <a:srgbClr val="C96F52"/>
                </a:solidFill>
              </a:defRPr>
            </a:pPr>
            <a:r>
              <a:rPr sz="1875" b="1" i="0">
                <a:solidFill>
                  <a:srgbClr val="C96F52"/>
                </a:solidFill>
              </a:rPr>
              <a:t>× 299 MAD / mois × 12</a:t>
            </a:r>
          </a:p>
        </p:txBody>
      </p:sp>
      <p:sp>
        <p:nvSpPr>
          <p:cNvPr id="12" name="">
            <a:extLst xmlns:a="http://schemas.openxmlformats.org/drawingml/2006/main">
              <a:ext uri="{FF2B5EF4-FFF2-40B4-BE49-F238E27FC236}">
                <a16:creationId xmlns:a16="http://schemas.microsoft.com/office/drawing/2014/main" id="{6AF93F3D-89C3-42DD-A366-F6507F4F6678}"/>
              </a:ext>
            </a:extLst>
          </p:cNvPr>
          <p:cNvSpPr>
            <a:spLocks xmlns:a="http://schemas.openxmlformats.org/drawingml/2006/main" noGrp="1"/>
          </p:cNvSpPr>
          <p:nvPr/>
        </p:nvSpPr>
        <p:spPr>
          <a:xfrm xmlns:a="http://schemas.openxmlformats.org/drawingml/2006/main">
            <a:off x="1009650" y="5067300"/>
            <a:ext cx="5429250" cy="9525"/>
          </a:xfrm>
          <a:prstGeom xmlns:a="http://schemas.openxmlformats.org/drawingml/2006/main" prst="rect">
            <a:avLst/>
          </a:prstGeom>
          <a:solidFill xmlns:a="http://schemas.openxmlformats.org/drawingml/2006/main">
            <a:srgbClr val="D8D0C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8A67F1C-D685-4E7F-A1CA-F67BE63F839E}"/>
              </a:ext>
            </a:extLst>
          </p:cNvPr>
          <p:cNvSpPr>
            <a:spLocks xmlns:a="http://schemas.openxmlformats.org/drawingml/2006/main" noGrp="1"/>
          </p:cNvSpPr>
          <p:nvPr/>
        </p:nvSpPr>
        <p:spPr>
          <a:xfrm xmlns:a="http://schemas.openxmlformats.org/drawingml/2006/main">
            <a:off x="1009650" y="5210175"/>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00" b="1" i="0">
                <a:solidFill>
                  <a:srgbClr val="172126"/>
                </a:solidFill>
              </a:defRPr>
            </a:pPr>
            <a:r>
              <a:rPr sz="1800" b="1" i="0">
                <a:solidFill>
                  <a:srgbClr val="172126"/>
                </a:solidFill>
              </a:rPr>
              <a:t>≈ 1,39 Md MAD / an*</a:t>
            </a:r>
          </a:p>
        </p:txBody>
      </p:sp>
      <p:sp>
        <p:nvSpPr>
          <p:cNvPr id="14" name="">
            <a:extLst xmlns:a="http://schemas.openxmlformats.org/drawingml/2006/main">
              <a:ext uri="{FF2B5EF4-FFF2-40B4-BE49-F238E27FC236}">
                <a16:creationId xmlns:a16="http://schemas.microsoft.com/office/drawing/2014/main" id="{FE868D30-06B5-48D8-9EA8-4D7CA84CD008}"/>
              </a:ext>
            </a:extLst>
          </p:cNvPr>
          <p:cNvSpPr>
            <a:spLocks xmlns:a="http://schemas.openxmlformats.org/drawingml/2006/main" noGrp="1"/>
          </p:cNvSpPr>
          <p:nvPr/>
        </p:nvSpPr>
        <p:spPr>
          <a:xfrm xmlns:a="http://schemas.openxmlformats.org/drawingml/2006/main">
            <a:off x="7524750" y="3314700"/>
            <a:ext cx="3619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i="0">
                <a:solidFill>
                  <a:srgbClr val="6F8E7D"/>
                </a:solidFill>
              </a:defRPr>
            </a:pPr>
            <a:r>
              <a:rPr sz="1875" b="1" i="0">
                <a:solidFill>
                  <a:srgbClr val="6F8E7D"/>
                </a:solidFill>
              </a:rPr>
              <a:t>+ entreprises et dossiers apportés par les cabinets</a:t>
            </a:r>
          </a:p>
        </p:txBody>
      </p:sp>
      <p:sp>
        <p:nvSpPr>
          <p:cNvPr id="15" name="">
            <a:extLst xmlns:a="http://schemas.openxmlformats.org/drawingml/2006/main">
              <a:ext uri="{FF2B5EF4-FFF2-40B4-BE49-F238E27FC236}">
                <a16:creationId xmlns:a16="http://schemas.microsoft.com/office/drawing/2014/main" id="{B7E3E2C6-B800-406B-8CAB-5A0FDB7216B1}"/>
              </a:ext>
            </a:extLst>
          </p:cNvPr>
          <p:cNvSpPr>
            <a:spLocks xmlns:a="http://schemas.openxmlformats.org/drawingml/2006/main" noGrp="1"/>
          </p:cNvSpPr>
          <p:nvPr/>
        </p:nvSpPr>
        <p:spPr>
          <a:xfrm xmlns:a="http://schemas.openxmlformats.org/drawingml/2006/main">
            <a:off x="7524750" y="4019550"/>
            <a:ext cx="3810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i="0">
                <a:solidFill>
                  <a:srgbClr val="C96F52"/>
                </a:solidFill>
              </a:defRPr>
            </a:pPr>
            <a:r>
              <a:rPr sz="1875" b="1" i="0">
                <a:solidFill>
                  <a:srgbClr val="C96F52"/>
                </a:solidFill>
              </a:rPr>
              <a:t>+ nouveaux créateurs d’entreprise chaque année</a:t>
            </a:r>
          </a:p>
        </p:txBody>
      </p:sp>
      <p:sp>
        <p:nvSpPr>
          <p:cNvPr id="16" name="">
            <a:extLst xmlns:a="http://schemas.openxmlformats.org/drawingml/2006/main">
              <a:ext uri="{FF2B5EF4-FFF2-40B4-BE49-F238E27FC236}">
                <a16:creationId xmlns:a16="http://schemas.microsoft.com/office/drawing/2014/main" id="{8D2B4636-76F4-4581-88F3-71FB9703EC58}"/>
              </a:ext>
            </a:extLst>
          </p:cNvPr>
          <p:cNvSpPr>
            <a:spLocks xmlns:a="http://schemas.openxmlformats.org/drawingml/2006/main" noGrp="1"/>
          </p:cNvSpPr>
          <p:nvPr/>
        </p:nvSpPr>
        <p:spPr>
          <a:xfrm xmlns:a="http://schemas.openxmlformats.org/drawingml/2006/main">
            <a:off x="7524750" y="4857750"/>
            <a:ext cx="38862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i="0">
                <a:solidFill>
                  <a:srgbClr val="477A86"/>
                </a:solidFill>
              </a:defRPr>
            </a:pPr>
            <a:r>
              <a:rPr sz="1875" b="1" i="0">
                <a:solidFill>
                  <a:srgbClr val="477A86"/>
                </a:solidFill>
              </a:rPr>
              <a:t>+ extension future au Maghreb et en Afrique francophone</a:t>
            </a:r>
          </a:p>
        </p:txBody>
      </p:sp>
      <p:sp>
        <p:nvSpPr>
          <p:cNvPr id="17" name="">
            <a:extLst xmlns:a="http://schemas.openxmlformats.org/drawingml/2006/main">
              <a:ext uri="{FF2B5EF4-FFF2-40B4-BE49-F238E27FC236}">
                <a16:creationId xmlns:a16="http://schemas.microsoft.com/office/drawing/2014/main" id="{34F04058-7F8F-4EE5-A3BF-D4710691905E}"/>
              </a:ext>
            </a:extLst>
          </p:cNvPr>
          <p:cNvSpPr>
            <a:spLocks xmlns:a="http://schemas.openxmlformats.org/drawingml/2006/main" noGrp="1"/>
          </p:cNvSpPr>
          <p:nvPr/>
        </p:nvSpPr>
        <p:spPr>
          <a:xfrm xmlns:a="http://schemas.openxmlformats.org/drawingml/2006/main">
            <a:off x="7524750" y="5695950"/>
            <a:ext cx="3714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i="0">
                <a:solidFill>
                  <a:srgbClr val="686C69"/>
                </a:solidFill>
              </a:defRPr>
            </a:pPr>
            <a:r>
              <a:rPr sz="1200" b="0" i="0">
                <a:solidFill>
                  <a:srgbClr val="686C69"/>
                </a:solidFill>
              </a:rPr>
              <a:t>*Scénario plafond à 100 % de pénétration, pas une prévision ni le marché accessible immédiat.</a:t>
            </a:r>
          </a:p>
        </p:txBody>
      </p:sp>
    </p:spTree>
    <p:extLst>
      <p:ext uri="{BB962C8B-B14F-4D97-AF65-F5344CB8AC3E}">
        <p14:creationId xmlns:p14="http://schemas.microsoft.com/office/powerpoint/2010/main" val="1441049472"/>
      </p:ext>
    </p:extLst>
  </p:cSld>
</p:sld>
</file>

<file path=ppt/slides/slide9.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9A8EF6E-0228-47E4-BE55-08A0C3028A60}"/>
              </a:ext>
            </a:extLst>
          </p:cNvPr>
          <p:cNvSpPr>
            <a:spLocks xmlns:a="http://schemas.openxmlformats.org/drawingml/2006/main" noGrp="1"/>
          </p:cNvSpPr>
          <p:nvPr/>
        </p:nvSpPr>
        <p:spPr>
          <a:xfrm xmlns:a="http://schemas.openxmlformats.org/drawingml/2006/main">
            <a:off x="533400" y="285750"/>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686C69"/>
                </a:solidFill>
              </a:defRPr>
            </a:pPr>
            <a:r>
              <a:rPr sz="825" b="1" i="0">
                <a:solidFill>
                  <a:srgbClr val="686C69"/>
                </a:solidFill>
              </a:rPr>
              <a:t>MODÈLE ÉCONOMIQUE</a:t>
            </a:r>
          </a:p>
        </p:txBody>
      </p:sp>
      <p:sp>
        <p:nvSpPr>
          <p:cNvPr id="2" name="">
            <a:extLst xmlns:a="http://schemas.openxmlformats.org/drawingml/2006/main">
              <a:ext uri="{FF2B5EF4-FFF2-40B4-BE49-F238E27FC236}">
                <a16:creationId xmlns:a16="http://schemas.microsoft.com/office/drawing/2014/main" id="{1DD7427C-15E5-490F-875F-E79F38A918C2}"/>
              </a:ext>
            </a:extLst>
          </p:cNvPr>
          <p:cNvSpPr>
            <a:spLocks xmlns:a="http://schemas.openxmlformats.org/drawingml/2006/main" noGrp="1"/>
          </p:cNvSpPr>
          <p:nvPr/>
        </p:nvSpPr>
        <p:spPr>
          <a:xfrm xmlns:a="http://schemas.openxmlformats.org/drawingml/2006/main">
            <a:off x="11201400" y="2667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i="0">
                <a:solidFill>
                  <a:srgbClr val="686C69"/>
                </a:solidFill>
              </a:defRPr>
            </a:pPr>
            <a:r>
              <a:rPr sz="900" b="1" i="0">
                <a:solidFill>
                  <a:srgbClr val="686C69"/>
                </a:solidFill>
              </a:rPr>
              <a:t>09</a:t>
            </a:r>
          </a:p>
        </p:txBody>
      </p:sp>
      <p:sp>
        <p:nvSpPr>
          <p:cNvPr id="3" name="">
            <a:extLst xmlns:a="http://schemas.openxmlformats.org/drawingml/2006/main">
              <a:ext uri="{FF2B5EF4-FFF2-40B4-BE49-F238E27FC236}">
                <a16:creationId xmlns:a16="http://schemas.microsoft.com/office/drawing/2014/main" id="{99CC2625-7CE0-479E-A10C-3C1E35FDC593}"/>
              </a:ext>
            </a:extLst>
          </p:cNvPr>
          <p:cNvSpPr>
            <a:spLocks xmlns:a="http://schemas.openxmlformats.org/drawingml/2006/main" noGrp="1"/>
          </p:cNvSpPr>
          <p:nvPr/>
        </p:nvSpPr>
        <p:spPr>
          <a:xfrm xmlns:a="http://schemas.openxmlformats.org/drawingml/2006/main">
            <a:off x="533400" y="552450"/>
            <a:ext cx="11125200" cy="9525"/>
          </a:xfrm>
          <a:prstGeom xmlns:a="http://schemas.openxmlformats.org/drawingml/2006/main" prst="rect">
            <a:avLst/>
          </a:prstGeom>
          <a:solidFill xmlns:a="http://schemas.openxmlformats.org/drawingml/2006/main">
            <a:srgbClr val="D8D0C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F7AF0AE-7CF6-4ABF-975F-F29C505F4847}"/>
              </a:ext>
            </a:extLst>
          </p:cNvPr>
          <p:cNvSpPr>
            <a:spLocks xmlns:a="http://schemas.openxmlformats.org/drawingml/2006/main" noGrp="1"/>
          </p:cNvSpPr>
          <p:nvPr/>
        </p:nvSpPr>
        <p:spPr>
          <a:xfrm xmlns:a="http://schemas.openxmlformats.org/drawingml/2006/main">
            <a:off x="609600" y="8001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C96F52"/>
                </a:solidFill>
              </a:defRPr>
            </a:pPr>
            <a:r>
              <a:rPr sz="900" b="1" i="0">
                <a:solidFill>
                  <a:srgbClr val="C96F52"/>
                </a:solidFill>
              </a:rPr>
              <a:t>L’abonnement évolue avec les besoins de l’entreprise.</a:t>
            </a:r>
          </a:p>
        </p:txBody>
      </p:sp>
      <p:sp>
        <p:nvSpPr>
          <p:cNvPr id="5" name="">
            <a:extLst xmlns:a="http://schemas.openxmlformats.org/drawingml/2006/main">
              <a:ext uri="{FF2B5EF4-FFF2-40B4-BE49-F238E27FC236}">
                <a16:creationId xmlns:a16="http://schemas.microsoft.com/office/drawing/2014/main" id="{D710AF14-3780-4D85-BC63-012E8DE8463C}"/>
              </a:ext>
            </a:extLst>
          </p:cNvPr>
          <p:cNvSpPr>
            <a:spLocks xmlns:a="http://schemas.openxmlformats.org/drawingml/2006/main" noGrp="1"/>
          </p:cNvSpPr>
          <p:nvPr/>
        </p:nvSpPr>
        <p:spPr>
          <a:xfrm xmlns:a="http://schemas.openxmlformats.org/drawingml/2006/main">
            <a:off x="609600" y="114300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225" b="1" i="0">
                <a:solidFill>
                  <a:srgbClr val="172126"/>
                </a:solidFill>
              </a:defRPr>
            </a:pPr>
            <a:r>
              <a:rPr sz="3225" b="1" i="0">
                <a:solidFill>
                  <a:srgbClr val="172126"/>
                </a:solidFill>
              </a:rPr>
              <a:t>Un tarif d’entrée, puis des options liées à l’usage et aux modules.</a:t>
            </a:r>
          </a:p>
        </p:txBody>
      </p:sp>
      <p:sp>
        <p:nvSpPr>
          <p:cNvPr id="6" name="">
            <a:extLst xmlns:a="http://schemas.openxmlformats.org/drawingml/2006/main">
              <a:ext uri="{FF2B5EF4-FFF2-40B4-BE49-F238E27FC236}">
                <a16:creationId xmlns:a16="http://schemas.microsoft.com/office/drawing/2014/main" id="{11B34B9E-A44E-48EE-A122-056EBE6C3C41}"/>
              </a:ext>
            </a:extLst>
          </p:cNvPr>
          <p:cNvSpPr>
            <a:spLocks xmlns:a="http://schemas.openxmlformats.org/drawingml/2006/main" noGrp="1"/>
          </p:cNvSpPr>
          <p:nvPr/>
        </p:nvSpPr>
        <p:spPr>
          <a:xfrm xmlns:a="http://schemas.openxmlformats.org/drawingml/2006/main">
            <a:off x="647700" y="2771775"/>
            <a:ext cx="10744200" cy="800100"/>
          </a:xfrm>
          <a:prstGeom xmlns:a="http://schemas.openxmlformats.org/drawingml/2006/main" prst="roundRect">
            <a:avLst>
              <a:gd name="adj" fmla="val 2381"/>
            </a:avLst>
          </a:prstGeom>
          <a:solidFill xmlns:a="http://schemas.openxmlformats.org/drawingml/2006/main">
            <a:srgbClr val="D9E8E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782E78A-7AD7-4DCA-A7CA-EE9F5B4FF924}"/>
              </a:ext>
            </a:extLst>
          </p:cNvPr>
          <p:cNvSpPr>
            <a:spLocks xmlns:a="http://schemas.openxmlformats.org/drawingml/2006/main" noGrp="1"/>
          </p:cNvSpPr>
          <p:nvPr/>
        </p:nvSpPr>
        <p:spPr>
          <a:xfrm xmlns:a="http://schemas.openxmlformats.org/drawingml/2006/main">
            <a:off x="838200" y="294322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i="0">
                <a:solidFill>
                  <a:srgbClr val="172126"/>
                </a:solidFill>
              </a:defRPr>
            </a:pPr>
            <a:r>
              <a:rPr sz="1275" b="1" i="0">
                <a:solidFill>
                  <a:srgbClr val="172126"/>
                </a:solidFill>
              </a:rPr>
              <a:t>OFFRE GRATUITE</a:t>
            </a:r>
          </a:p>
        </p:txBody>
      </p:sp>
      <p:sp>
        <p:nvSpPr>
          <p:cNvPr id="8" name="">
            <a:extLst xmlns:a="http://schemas.openxmlformats.org/drawingml/2006/main">
              <a:ext uri="{FF2B5EF4-FFF2-40B4-BE49-F238E27FC236}">
                <a16:creationId xmlns:a16="http://schemas.microsoft.com/office/drawing/2014/main" id="{02DC66A6-5696-4C33-AD76-D26C774C0529}"/>
              </a:ext>
            </a:extLst>
          </p:cNvPr>
          <p:cNvSpPr>
            <a:spLocks xmlns:a="http://schemas.openxmlformats.org/drawingml/2006/main" noGrp="1"/>
          </p:cNvSpPr>
          <p:nvPr/>
        </p:nvSpPr>
        <p:spPr>
          <a:xfrm xmlns:a="http://schemas.openxmlformats.org/drawingml/2006/main">
            <a:off x="3352800" y="290512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i="0">
                <a:solidFill>
                  <a:srgbClr val="172126"/>
                </a:solidFill>
              </a:defRPr>
            </a:pPr>
            <a:r>
              <a:rPr sz="1875" b="1" i="0">
                <a:solidFill>
                  <a:srgbClr val="172126"/>
                </a:solidFill>
              </a:rPr>
              <a:t>0 MAD</a:t>
            </a:r>
          </a:p>
        </p:txBody>
      </p:sp>
      <p:sp>
        <p:nvSpPr>
          <p:cNvPr id="9" name="">
            <a:extLst xmlns:a="http://schemas.openxmlformats.org/drawingml/2006/main">
              <a:ext uri="{FF2B5EF4-FFF2-40B4-BE49-F238E27FC236}">
                <a16:creationId xmlns:a16="http://schemas.microsoft.com/office/drawing/2014/main" id="{F760AFAA-B669-4A69-A75B-65ECCF5786D4}"/>
              </a:ext>
            </a:extLst>
          </p:cNvPr>
          <p:cNvSpPr>
            <a:spLocks xmlns:a="http://schemas.openxmlformats.org/drawingml/2006/main" noGrp="1"/>
          </p:cNvSpPr>
          <p:nvPr/>
        </p:nvSpPr>
        <p:spPr>
          <a:xfrm xmlns:a="http://schemas.openxmlformats.org/drawingml/2006/main">
            <a:off x="6191250" y="2905125"/>
            <a:ext cx="4810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686C69"/>
                </a:solidFill>
              </a:defRPr>
            </a:pPr>
            <a:r>
              <a:rPr sz="1125" b="0" i="0">
                <a:solidFill>
                  <a:srgbClr val="686C69"/>
                </a:solidFill>
              </a:rPr>
              <a:t>Facturation et gestion des clients</a:t>
            </a:r>
          </a:p>
        </p:txBody>
      </p:sp>
      <p:sp>
        <p:nvSpPr>
          <p:cNvPr id="10" name="">
            <a:extLst xmlns:a="http://schemas.openxmlformats.org/drawingml/2006/main">
              <a:ext uri="{FF2B5EF4-FFF2-40B4-BE49-F238E27FC236}">
                <a16:creationId xmlns:a16="http://schemas.microsoft.com/office/drawing/2014/main" id="{87DCD858-1C69-4308-8745-8241D56B3588}"/>
              </a:ext>
            </a:extLst>
          </p:cNvPr>
          <p:cNvSpPr>
            <a:spLocks xmlns:a="http://schemas.openxmlformats.org/drawingml/2006/main" noGrp="1"/>
          </p:cNvSpPr>
          <p:nvPr/>
        </p:nvSpPr>
        <p:spPr>
          <a:xfrm xmlns:a="http://schemas.openxmlformats.org/drawingml/2006/main">
            <a:off x="647700" y="3762375"/>
            <a:ext cx="10744200" cy="800100"/>
          </a:xfrm>
          <a:prstGeom xmlns:a="http://schemas.openxmlformats.org/drawingml/2006/main" prst="roundRect">
            <a:avLst>
              <a:gd name="adj" fmla="val 2381"/>
            </a:avLst>
          </a:prstGeom>
          <a:solidFill xmlns:a="http://schemas.openxmlformats.org/drawingml/2006/main">
            <a:srgbClr val="F4DED2"/>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EEB2711-F1EB-4D06-A0C3-D334D9DE6810}"/>
              </a:ext>
            </a:extLst>
          </p:cNvPr>
          <p:cNvSpPr>
            <a:spLocks xmlns:a="http://schemas.openxmlformats.org/drawingml/2006/main" noGrp="1"/>
          </p:cNvSpPr>
          <p:nvPr/>
        </p:nvSpPr>
        <p:spPr>
          <a:xfrm xmlns:a="http://schemas.openxmlformats.org/drawingml/2006/main">
            <a:off x="838200" y="393382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i="0">
                <a:solidFill>
                  <a:srgbClr val="172126"/>
                </a:solidFill>
              </a:defRPr>
            </a:pPr>
            <a:r>
              <a:rPr sz="1275" b="1" i="0">
                <a:solidFill>
                  <a:srgbClr val="172126"/>
                </a:solidFill>
              </a:rPr>
              <a:t>ENTREPRISE</a:t>
            </a:r>
          </a:p>
        </p:txBody>
      </p:sp>
      <p:sp>
        <p:nvSpPr>
          <p:cNvPr id="12" name="">
            <a:extLst xmlns:a="http://schemas.openxmlformats.org/drawingml/2006/main">
              <a:ext uri="{FF2B5EF4-FFF2-40B4-BE49-F238E27FC236}">
                <a16:creationId xmlns:a16="http://schemas.microsoft.com/office/drawing/2014/main" id="{91DD39F2-E5E3-43C3-B1A2-21E5E6B28BC2}"/>
              </a:ext>
            </a:extLst>
          </p:cNvPr>
          <p:cNvSpPr>
            <a:spLocks xmlns:a="http://schemas.openxmlformats.org/drawingml/2006/main" noGrp="1"/>
          </p:cNvSpPr>
          <p:nvPr/>
        </p:nvSpPr>
        <p:spPr>
          <a:xfrm xmlns:a="http://schemas.openxmlformats.org/drawingml/2006/main">
            <a:off x="3352800" y="389572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i="0">
                <a:solidFill>
                  <a:srgbClr val="172126"/>
                </a:solidFill>
              </a:defRPr>
            </a:pPr>
            <a:r>
              <a:rPr sz="1875" b="1" i="0">
                <a:solidFill>
                  <a:srgbClr val="172126"/>
                </a:solidFill>
              </a:rPr>
              <a:t>299 MAD / mois</a:t>
            </a:r>
          </a:p>
        </p:txBody>
      </p:sp>
      <p:sp>
        <p:nvSpPr>
          <p:cNvPr id="13" name="">
            <a:extLst xmlns:a="http://schemas.openxmlformats.org/drawingml/2006/main">
              <a:ext uri="{FF2B5EF4-FFF2-40B4-BE49-F238E27FC236}">
                <a16:creationId xmlns:a16="http://schemas.microsoft.com/office/drawing/2014/main" id="{371AC943-D153-4E2F-9965-E2EFCBC0AF71}"/>
              </a:ext>
            </a:extLst>
          </p:cNvPr>
          <p:cNvSpPr>
            <a:spLocks xmlns:a="http://schemas.openxmlformats.org/drawingml/2006/main" noGrp="1"/>
          </p:cNvSpPr>
          <p:nvPr/>
        </p:nvSpPr>
        <p:spPr>
          <a:xfrm xmlns:a="http://schemas.openxmlformats.org/drawingml/2006/main">
            <a:off x="6191250" y="3895725"/>
            <a:ext cx="4810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686C69"/>
                </a:solidFill>
              </a:defRPr>
            </a:pPr>
            <a:r>
              <a:rPr sz="1125" b="0" i="0">
                <a:solidFill>
                  <a:srgbClr val="686C69"/>
                </a:solidFill>
              </a:rPr>
              <a:t>1 entreprise · 100 documents OCR inclus · options selon usage</a:t>
            </a:r>
          </a:p>
        </p:txBody>
      </p:sp>
      <p:sp>
        <p:nvSpPr>
          <p:cNvPr id="14" name="">
            <a:extLst xmlns:a="http://schemas.openxmlformats.org/drawingml/2006/main">
              <a:ext uri="{FF2B5EF4-FFF2-40B4-BE49-F238E27FC236}">
                <a16:creationId xmlns:a16="http://schemas.microsoft.com/office/drawing/2014/main" id="{6AAC5818-175F-4981-8A0F-41C6687B9871}"/>
              </a:ext>
            </a:extLst>
          </p:cNvPr>
          <p:cNvSpPr>
            <a:spLocks xmlns:a="http://schemas.openxmlformats.org/drawingml/2006/main" noGrp="1"/>
          </p:cNvSpPr>
          <p:nvPr/>
        </p:nvSpPr>
        <p:spPr>
          <a:xfrm xmlns:a="http://schemas.openxmlformats.org/drawingml/2006/main">
            <a:off x="647700" y="4752975"/>
            <a:ext cx="10744200" cy="800100"/>
          </a:xfrm>
          <a:prstGeom xmlns:a="http://schemas.openxmlformats.org/drawingml/2006/main" prst="roundRect">
            <a:avLst>
              <a:gd name="adj" fmla="val 2381"/>
            </a:avLst>
          </a:prstGeom>
          <a:solidFill xmlns:a="http://schemas.openxmlformats.org/drawingml/2006/main">
            <a:srgbClr val="DDE8D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3DAC761-C0DE-4E52-A29E-910308315A14}"/>
              </a:ext>
            </a:extLst>
          </p:cNvPr>
          <p:cNvSpPr>
            <a:spLocks xmlns:a="http://schemas.openxmlformats.org/drawingml/2006/main" noGrp="1"/>
          </p:cNvSpPr>
          <p:nvPr/>
        </p:nvSpPr>
        <p:spPr>
          <a:xfrm xmlns:a="http://schemas.openxmlformats.org/drawingml/2006/main">
            <a:off x="838200" y="492442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i="0">
                <a:solidFill>
                  <a:srgbClr val="172126"/>
                </a:solidFill>
              </a:defRPr>
            </a:pPr>
            <a:r>
              <a:rPr sz="1275" b="1" i="0">
                <a:solidFill>
                  <a:srgbClr val="172126"/>
                </a:solidFill>
              </a:rPr>
              <a:t>CABINET</a:t>
            </a:r>
          </a:p>
        </p:txBody>
      </p:sp>
      <p:sp>
        <p:nvSpPr>
          <p:cNvPr id="16" name="">
            <a:extLst xmlns:a="http://schemas.openxmlformats.org/drawingml/2006/main">
              <a:ext uri="{FF2B5EF4-FFF2-40B4-BE49-F238E27FC236}">
                <a16:creationId xmlns:a16="http://schemas.microsoft.com/office/drawing/2014/main" id="{41441E2A-59FE-4ACA-8B6B-A216E0F7DB3C}"/>
              </a:ext>
            </a:extLst>
          </p:cNvPr>
          <p:cNvSpPr>
            <a:spLocks xmlns:a="http://schemas.openxmlformats.org/drawingml/2006/main" noGrp="1"/>
          </p:cNvSpPr>
          <p:nvPr/>
        </p:nvSpPr>
        <p:spPr>
          <a:xfrm xmlns:a="http://schemas.openxmlformats.org/drawingml/2006/main">
            <a:off x="3352800" y="488632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i="0">
                <a:solidFill>
                  <a:srgbClr val="172126"/>
                </a:solidFill>
              </a:defRPr>
            </a:pPr>
            <a:r>
              <a:rPr sz="1875" b="1" i="0">
                <a:solidFill>
                  <a:srgbClr val="172126"/>
                </a:solidFill>
              </a:rPr>
              <a:t>899 MAD / mois</a:t>
            </a:r>
          </a:p>
        </p:txBody>
      </p:sp>
      <p:sp>
        <p:nvSpPr>
          <p:cNvPr id="17" name="">
            <a:extLst xmlns:a="http://schemas.openxmlformats.org/drawingml/2006/main">
              <a:ext uri="{FF2B5EF4-FFF2-40B4-BE49-F238E27FC236}">
                <a16:creationId xmlns:a16="http://schemas.microsoft.com/office/drawing/2014/main" id="{B891CCAF-27BE-4BF6-B886-AE3F01B558A4}"/>
              </a:ext>
            </a:extLst>
          </p:cNvPr>
          <p:cNvSpPr>
            <a:spLocks xmlns:a="http://schemas.openxmlformats.org/drawingml/2006/main" noGrp="1"/>
          </p:cNvSpPr>
          <p:nvPr/>
        </p:nvSpPr>
        <p:spPr>
          <a:xfrm xmlns:a="http://schemas.openxmlformats.org/drawingml/2006/main">
            <a:off x="6191250" y="4886325"/>
            <a:ext cx="4810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686C69"/>
                </a:solidFill>
              </a:defRPr>
            </a:pPr>
            <a:r>
              <a:rPr sz="1125" b="0" i="0">
                <a:solidFill>
                  <a:srgbClr val="686C69"/>
                </a:solidFill>
              </a:rPr>
              <a:t>10 dossiers inclus · 1 000 documents OCR dans la configuration de base</a:t>
            </a:r>
          </a:p>
        </p:txBody>
      </p:sp>
      <p:sp>
        <p:nvSpPr>
          <p:cNvPr id="18" name="">
            <a:extLst xmlns:a="http://schemas.openxmlformats.org/drawingml/2006/main">
              <a:ext uri="{FF2B5EF4-FFF2-40B4-BE49-F238E27FC236}">
                <a16:creationId xmlns:a16="http://schemas.microsoft.com/office/drawing/2014/main" id="{EA9FAFD5-2DE6-4570-A3A5-0E93FCE1CF82}"/>
              </a:ext>
            </a:extLst>
          </p:cNvPr>
          <p:cNvSpPr>
            <a:spLocks xmlns:a="http://schemas.openxmlformats.org/drawingml/2006/main" noGrp="1"/>
          </p:cNvSpPr>
          <p:nvPr/>
        </p:nvSpPr>
        <p:spPr>
          <a:xfrm xmlns:a="http://schemas.openxmlformats.org/drawingml/2006/main">
            <a:off x="685800" y="59245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C96F52"/>
                </a:solidFill>
              </a:defRPr>
            </a:pPr>
            <a:r>
              <a:rPr sz="900" b="1" i="0">
                <a:solidFill>
                  <a:srgbClr val="C96F52"/>
                </a:solidFill>
              </a:rPr>
              <a:t>REVENUS ADDITIONNELS</a:t>
            </a:r>
          </a:p>
        </p:txBody>
      </p:sp>
      <p:sp>
        <p:nvSpPr>
          <p:cNvPr id="19" name="">
            <a:extLst xmlns:a="http://schemas.openxmlformats.org/drawingml/2006/main">
              <a:ext uri="{FF2B5EF4-FFF2-40B4-BE49-F238E27FC236}">
                <a16:creationId xmlns:a16="http://schemas.microsoft.com/office/drawing/2014/main" id="{E3E5BD62-2F22-46E4-93AC-ED4D9A90F16A}"/>
              </a:ext>
            </a:extLst>
          </p:cNvPr>
          <p:cNvSpPr>
            <a:spLocks xmlns:a="http://schemas.openxmlformats.org/drawingml/2006/main" noGrp="1"/>
          </p:cNvSpPr>
          <p:nvPr/>
        </p:nvSpPr>
        <p:spPr>
          <a:xfrm xmlns:a="http://schemas.openxmlformats.org/drawingml/2006/main">
            <a:off x="2571750" y="5867400"/>
            <a:ext cx="857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25" b="1" i="0">
                <a:solidFill>
                  <a:srgbClr val="172126"/>
                </a:solidFill>
              </a:defRPr>
            </a:pPr>
            <a:r>
              <a:rPr sz="1425" b="1" i="0">
                <a:solidFill>
                  <a:srgbClr val="172126"/>
                </a:solidFill>
              </a:rPr>
              <a:t>documents · dossiers · collaborateurs · employés · modules</a:t>
            </a:r>
          </a:p>
        </p:txBody>
      </p:sp>
    </p:spTree>
    <p:extLst>
      <p:ext uri="{BB962C8B-B14F-4D97-AF65-F5344CB8AC3E}">
        <p14:creationId xmlns:p14="http://schemas.microsoft.com/office/powerpoint/2010/main" val="1887326555"/>
      </p:ext>
    </p:extLst>
  </p:cSld>
</p:sld>
</file>

<file path=ppt/slides/slide10.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8EE4590-BEA6-4901-BD40-2270AD123A0A}"/>
              </a:ext>
            </a:extLst>
          </p:cNvPr>
          <p:cNvSpPr>
            <a:spLocks xmlns:a="http://schemas.openxmlformats.org/drawingml/2006/main" noGrp="1"/>
          </p:cNvSpPr>
          <p:nvPr/>
        </p:nvSpPr>
        <p:spPr>
          <a:xfrm xmlns:a="http://schemas.openxmlformats.org/drawingml/2006/main">
            <a:off x="533400" y="285750"/>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686C69"/>
                </a:solidFill>
              </a:defRPr>
            </a:pPr>
            <a:r>
              <a:rPr sz="825" b="1" i="0">
                <a:solidFill>
                  <a:srgbClr val="686C69"/>
                </a:solidFill>
              </a:rPr>
              <a:t>STRATÉGIE COMMERCIALE</a:t>
            </a:r>
          </a:p>
        </p:txBody>
      </p:sp>
      <p:sp>
        <p:nvSpPr>
          <p:cNvPr id="2" name="">
            <a:extLst xmlns:a="http://schemas.openxmlformats.org/drawingml/2006/main">
              <a:ext uri="{FF2B5EF4-FFF2-40B4-BE49-F238E27FC236}">
                <a16:creationId xmlns:a16="http://schemas.microsoft.com/office/drawing/2014/main" id="{CD072D1F-BE45-4B22-8D5F-3DAA0DF483BE}"/>
              </a:ext>
            </a:extLst>
          </p:cNvPr>
          <p:cNvSpPr>
            <a:spLocks xmlns:a="http://schemas.openxmlformats.org/drawingml/2006/main" noGrp="1"/>
          </p:cNvSpPr>
          <p:nvPr/>
        </p:nvSpPr>
        <p:spPr>
          <a:xfrm xmlns:a="http://schemas.openxmlformats.org/drawingml/2006/main">
            <a:off x="11201400" y="2667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i="0">
                <a:solidFill>
                  <a:srgbClr val="686C69"/>
                </a:solidFill>
              </a:defRPr>
            </a:pPr>
            <a:r>
              <a:rPr sz="900" b="1" i="0">
                <a:solidFill>
                  <a:srgbClr val="686C69"/>
                </a:solidFill>
              </a:rPr>
              <a:t>10</a:t>
            </a:r>
          </a:p>
        </p:txBody>
      </p:sp>
      <p:sp>
        <p:nvSpPr>
          <p:cNvPr id="3" name="">
            <a:extLst xmlns:a="http://schemas.openxmlformats.org/drawingml/2006/main">
              <a:ext uri="{FF2B5EF4-FFF2-40B4-BE49-F238E27FC236}">
                <a16:creationId xmlns:a16="http://schemas.microsoft.com/office/drawing/2014/main" id="{7E80B672-C62E-44BA-8EAC-92940BEA1839}"/>
              </a:ext>
            </a:extLst>
          </p:cNvPr>
          <p:cNvSpPr>
            <a:spLocks xmlns:a="http://schemas.openxmlformats.org/drawingml/2006/main" noGrp="1"/>
          </p:cNvSpPr>
          <p:nvPr/>
        </p:nvSpPr>
        <p:spPr>
          <a:xfrm xmlns:a="http://schemas.openxmlformats.org/drawingml/2006/main">
            <a:off x="533400" y="552450"/>
            <a:ext cx="11125200" cy="9525"/>
          </a:xfrm>
          <a:prstGeom xmlns:a="http://schemas.openxmlformats.org/drawingml/2006/main" prst="rect">
            <a:avLst/>
          </a:prstGeom>
          <a:solidFill xmlns:a="http://schemas.openxmlformats.org/drawingml/2006/main">
            <a:srgbClr val="D8D0C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4B6549F-4850-4785-BD04-DCAAD2A98F17}"/>
              </a:ext>
            </a:extLst>
          </p:cNvPr>
          <p:cNvSpPr>
            <a:spLocks xmlns:a="http://schemas.openxmlformats.org/drawingml/2006/main" noGrp="1"/>
          </p:cNvSpPr>
          <p:nvPr/>
        </p:nvSpPr>
        <p:spPr>
          <a:xfrm xmlns:a="http://schemas.openxmlformats.org/drawingml/2006/main">
            <a:off x="609600" y="8001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C96F52"/>
                </a:solidFill>
              </a:defRPr>
            </a:pPr>
            <a:r>
              <a:rPr sz="900" b="1" i="0">
                <a:solidFill>
                  <a:srgbClr val="C96F52"/>
                </a:solidFill>
              </a:rPr>
              <a:t>Vente directe et cabinets pour accélérer l’acquisition.</a:t>
            </a:r>
          </a:p>
        </p:txBody>
      </p:sp>
      <p:sp>
        <p:nvSpPr>
          <p:cNvPr id="5" name="">
            <a:extLst xmlns:a="http://schemas.openxmlformats.org/drawingml/2006/main">
              <a:ext uri="{FF2B5EF4-FFF2-40B4-BE49-F238E27FC236}">
                <a16:creationId xmlns:a16="http://schemas.microsoft.com/office/drawing/2014/main" id="{01EE74B1-828D-408D-8187-307835B071B7}"/>
              </a:ext>
            </a:extLst>
          </p:cNvPr>
          <p:cNvSpPr>
            <a:spLocks xmlns:a="http://schemas.openxmlformats.org/drawingml/2006/main" noGrp="1"/>
          </p:cNvSpPr>
          <p:nvPr/>
        </p:nvSpPr>
        <p:spPr>
          <a:xfrm xmlns:a="http://schemas.openxmlformats.org/drawingml/2006/main">
            <a:off x="609600" y="114300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225" b="1" i="0">
                <a:solidFill>
                  <a:srgbClr val="172126"/>
                </a:solidFill>
              </a:defRPr>
            </a:pPr>
            <a:r>
              <a:rPr sz="3225" b="1" i="0">
                <a:solidFill>
                  <a:srgbClr val="172126"/>
                </a:solidFill>
              </a:rPr>
              <a:t>Acquérir des entreprises, puis faire des cabinets comptables des relais de confiance.</a:t>
            </a:r>
          </a:p>
        </p:txBody>
      </p:sp>
      <p:sp>
        <p:nvSpPr>
          <p:cNvPr id="6" name="">
            <a:extLst xmlns:a="http://schemas.openxmlformats.org/drawingml/2006/main">
              <a:ext uri="{FF2B5EF4-FFF2-40B4-BE49-F238E27FC236}">
                <a16:creationId xmlns:a16="http://schemas.microsoft.com/office/drawing/2014/main" id="{EAFADFDF-9470-417C-99FC-77B937D3962A}"/>
              </a:ext>
            </a:extLst>
          </p:cNvPr>
          <p:cNvSpPr>
            <a:spLocks xmlns:a="http://schemas.openxmlformats.org/drawingml/2006/main" noGrp="1"/>
          </p:cNvSpPr>
          <p:nvPr/>
        </p:nvSpPr>
        <p:spPr>
          <a:xfrm xmlns:a="http://schemas.openxmlformats.org/drawingml/2006/main">
            <a:off x="666750" y="2857500"/>
            <a:ext cx="3295650" cy="2143125"/>
          </a:xfrm>
          <a:prstGeom xmlns:a="http://schemas.openxmlformats.org/drawingml/2006/main" prst="roundRect">
            <a:avLst>
              <a:gd name="adj" fmla="val 889"/>
            </a:avLst>
          </a:prstGeom>
          <a:solidFill xmlns:a="http://schemas.openxmlformats.org/drawingml/2006/main">
            <a:srgbClr val="D9E8E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772BE14-73B1-4D2B-B752-3936FC0EE913}"/>
              </a:ext>
            </a:extLst>
          </p:cNvPr>
          <p:cNvSpPr>
            <a:spLocks xmlns:a="http://schemas.openxmlformats.org/drawingml/2006/main" noGrp="1"/>
          </p:cNvSpPr>
          <p:nvPr/>
        </p:nvSpPr>
        <p:spPr>
          <a:xfrm xmlns:a="http://schemas.openxmlformats.org/drawingml/2006/main">
            <a:off x="838200" y="30480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477A86"/>
                </a:solidFill>
              </a:defRPr>
            </a:pPr>
            <a:r>
              <a:rPr sz="900" b="1" i="0">
                <a:solidFill>
                  <a:srgbClr val="477A86"/>
                </a:solidFill>
              </a:rPr>
              <a:t>01</a:t>
            </a:r>
          </a:p>
        </p:txBody>
      </p:sp>
      <p:sp>
        <p:nvSpPr>
          <p:cNvPr id="8" name="">
            <a:extLst xmlns:a="http://schemas.openxmlformats.org/drawingml/2006/main">
              <a:ext uri="{FF2B5EF4-FFF2-40B4-BE49-F238E27FC236}">
                <a16:creationId xmlns:a16="http://schemas.microsoft.com/office/drawing/2014/main" id="{6C324C88-676F-452D-B833-970E179A10BC}"/>
              </a:ext>
            </a:extLst>
          </p:cNvPr>
          <p:cNvSpPr>
            <a:spLocks xmlns:a="http://schemas.openxmlformats.org/drawingml/2006/main" noGrp="1"/>
          </p:cNvSpPr>
          <p:nvPr/>
        </p:nvSpPr>
        <p:spPr>
          <a:xfrm xmlns:a="http://schemas.openxmlformats.org/drawingml/2006/main">
            <a:off x="838200" y="35052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172126"/>
                </a:solidFill>
              </a:defRPr>
            </a:pPr>
            <a:r>
              <a:rPr sz="1500" b="1" i="0">
                <a:solidFill>
                  <a:srgbClr val="172126"/>
                </a:solidFill>
              </a:rPr>
              <a:t>PRODUIT GRATUIT</a:t>
            </a:r>
          </a:p>
        </p:txBody>
      </p:sp>
      <p:sp>
        <p:nvSpPr>
          <p:cNvPr id="9" name="">
            <a:extLst xmlns:a="http://schemas.openxmlformats.org/drawingml/2006/main">
              <a:ext uri="{FF2B5EF4-FFF2-40B4-BE49-F238E27FC236}">
                <a16:creationId xmlns:a16="http://schemas.microsoft.com/office/drawing/2014/main" id="{38F8CFB2-617E-4CEF-96BE-02530B1F7E84}"/>
              </a:ext>
            </a:extLst>
          </p:cNvPr>
          <p:cNvSpPr>
            <a:spLocks xmlns:a="http://schemas.openxmlformats.org/drawingml/2006/main" noGrp="1"/>
          </p:cNvSpPr>
          <p:nvPr/>
        </p:nvSpPr>
        <p:spPr>
          <a:xfrm xmlns:a="http://schemas.openxmlformats.org/drawingml/2006/main">
            <a:off x="838200" y="4000500"/>
            <a:ext cx="28384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i="0">
                <a:solidFill>
                  <a:srgbClr val="686C69"/>
                </a:solidFill>
              </a:defRPr>
            </a:pPr>
            <a:r>
              <a:rPr sz="1200" b="0" i="0">
                <a:solidFill>
                  <a:srgbClr val="686C69"/>
                </a:solidFill>
              </a:rPr>
              <a:t>Référencement, modèles, simulateurs et recommandations</a:t>
            </a:r>
          </a:p>
        </p:txBody>
      </p:sp>
      <p:sp>
        <p:nvSpPr>
          <p:cNvPr id="10" name="">
            <a:extLst xmlns:a="http://schemas.openxmlformats.org/drawingml/2006/main">
              <a:ext uri="{FF2B5EF4-FFF2-40B4-BE49-F238E27FC236}">
                <a16:creationId xmlns:a16="http://schemas.microsoft.com/office/drawing/2014/main" id="{7C695B33-852F-4B88-852A-0A0917B8AA0A}"/>
              </a:ext>
            </a:extLst>
          </p:cNvPr>
          <p:cNvSpPr>
            <a:spLocks xmlns:a="http://schemas.openxmlformats.org/drawingml/2006/main" noGrp="1"/>
          </p:cNvSpPr>
          <p:nvPr/>
        </p:nvSpPr>
        <p:spPr>
          <a:xfrm xmlns:a="http://schemas.openxmlformats.org/drawingml/2006/main">
            <a:off x="3924300" y="3638550"/>
            <a:ext cx="47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i="0">
                <a:solidFill>
                  <a:srgbClr val="172126"/>
                </a:solidFill>
              </a:defRPr>
            </a:pPr>
            <a:r>
              <a:rPr sz="2100" b="1" i="0">
                <a:solidFill>
                  <a:srgbClr val="172126"/>
                </a:solidFill>
              </a:rPr>
              <a:t>→</a:t>
            </a:r>
          </a:p>
        </p:txBody>
      </p:sp>
      <p:sp>
        <p:nvSpPr>
          <p:cNvPr id="11" name="">
            <a:extLst xmlns:a="http://schemas.openxmlformats.org/drawingml/2006/main">
              <a:ext uri="{FF2B5EF4-FFF2-40B4-BE49-F238E27FC236}">
                <a16:creationId xmlns:a16="http://schemas.microsoft.com/office/drawing/2014/main" id="{9FBEA50E-67CC-4A6A-8015-DBB1C3A79928}"/>
              </a:ext>
            </a:extLst>
          </p:cNvPr>
          <p:cNvSpPr>
            <a:spLocks xmlns:a="http://schemas.openxmlformats.org/drawingml/2006/main" noGrp="1"/>
          </p:cNvSpPr>
          <p:nvPr/>
        </p:nvSpPr>
        <p:spPr>
          <a:xfrm xmlns:a="http://schemas.openxmlformats.org/drawingml/2006/main">
            <a:off x="4381500" y="2857500"/>
            <a:ext cx="3295650" cy="2143125"/>
          </a:xfrm>
          <a:prstGeom xmlns:a="http://schemas.openxmlformats.org/drawingml/2006/main" prst="roundRect">
            <a:avLst>
              <a:gd name="adj" fmla="val 889"/>
            </a:avLst>
          </a:prstGeom>
          <a:solidFill xmlns:a="http://schemas.openxmlformats.org/drawingml/2006/main">
            <a:srgbClr val="F4DED2"/>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6956B1E-8CE2-4ECF-8C26-717A486087D5}"/>
              </a:ext>
            </a:extLst>
          </p:cNvPr>
          <p:cNvSpPr>
            <a:spLocks xmlns:a="http://schemas.openxmlformats.org/drawingml/2006/main" noGrp="1"/>
          </p:cNvSpPr>
          <p:nvPr/>
        </p:nvSpPr>
        <p:spPr>
          <a:xfrm xmlns:a="http://schemas.openxmlformats.org/drawingml/2006/main">
            <a:off x="4552950" y="30480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C96F52"/>
                </a:solidFill>
              </a:defRPr>
            </a:pPr>
            <a:r>
              <a:rPr sz="900" b="1" i="0">
                <a:solidFill>
                  <a:srgbClr val="C96F52"/>
                </a:solidFill>
              </a:rPr>
              <a:t>02</a:t>
            </a:r>
          </a:p>
        </p:txBody>
      </p:sp>
      <p:sp>
        <p:nvSpPr>
          <p:cNvPr id="13" name="">
            <a:extLst xmlns:a="http://schemas.openxmlformats.org/drawingml/2006/main">
              <a:ext uri="{FF2B5EF4-FFF2-40B4-BE49-F238E27FC236}">
                <a16:creationId xmlns:a16="http://schemas.microsoft.com/office/drawing/2014/main" id="{54999637-88F6-4B0F-B759-0BC72DB9B928}"/>
              </a:ext>
            </a:extLst>
          </p:cNvPr>
          <p:cNvSpPr>
            <a:spLocks xmlns:a="http://schemas.openxmlformats.org/drawingml/2006/main" noGrp="1"/>
          </p:cNvSpPr>
          <p:nvPr/>
        </p:nvSpPr>
        <p:spPr>
          <a:xfrm xmlns:a="http://schemas.openxmlformats.org/drawingml/2006/main">
            <a:off x="4552950" y="35052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172126"/>
                </a:solidFill>
              </a:defRPr>
            </a:pPr>
            <a:r>
              <a:rPr sz="1500" b="1" i="0">
                <a:solidFill>
                  <a:srgbClr val="172126"/>
                </a:solidFill>
              </a:rPr>
              <a:t>ACTIVATION ACCOMPAGNÉE</a:t>
            </a:r>
          </a:p>
        </p:txBody>
      </p:sp>
      <p:sp>
        <p:nvSpPr>
          <p:cNvPr id="14" name="">
            <a:extLst xmlns:a="http://schemas.openxmlformats.org/drawingml/2006/main">
              <a:ext uri="{FF2B5EF4-FFF2-40B4-BE49-F238E27FC236}">
                <a16:creationId xmlns:a16="http://schemas.microsoft.com/office/drawing/2014/main" id="{2C1C8F6A-E893-4122-9E01-3BF2FF1EE826}"/>
              </a:ext>
            </a:extLst>
          </p:cNvPr>
          <p:cNvSpPr>
            <a:spLocks xmlns:a="http://schemas.openxmlformats.org/drawingml/2006/main" noGrp="1"/>
          </p:cNvSpPr>
          <p:nvPr/>
        </p:nvSpPr>
        <p:spPr>
          <a:xfrm xmlns:a="http://schemas.openxmlformats.org/drawingml/2006/main">
            <a:off x="4552950" y="4000500"/>
            <a:ext cx="28384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i="0">
                <a:solidFill>
                  <a:srgbClr val="686C69"/>
                </a:solidFill>
              </a:defRPr>
            </a:pPr>
            <a:r>
              <a:rPr sz="1200" b="0" i="0">
                <a:solidFill>
                  <a:srgbClr val="686C69"/>
                </a:solidFill>
              </a:rPr>
              <a:t>Importer les pièces et accomplir un premier cycle financier</a:t>
            </a:r>
          </a:p>
        </p:txBody>
      </p:sp>
      <p:sp>
        <p:nvSpPr>
          <p:cNvPr id="15" name="">
            <a:extLst xmlns:a="http://schemas.openxmlformats.org/drawingml/2006/main">
              <a:ext uri="{FF2B5EF4-FFF2-40B4-BE49-F238E27FC236}">
                <a16:creationId xmlns:a16="http://schemas.microsoft.com/office/drawing/2014/main" id="{6F6F86CB-13DE-44D3-8AEC-044A4384FBE6}"/>
              </a:ext>
            </a:extLst>
          </p:cNvPr>
          <p:cNvSpPr>
            <a:spLocks xmlns:a="http://schemas.openxmlformats.org/drawingml/2006/main" noGrp="1"/>
          </p:cNvSpPr>
          <p:nvPr/>
        </p:nvSpPr>
        <p:spPr>
          <a:xfrm xmlns:a="http://schemas.openxmlformats.org/drawingml/2006/main">
            <a:off x="7639050" y="3638550"/>
            <a:ext cx="47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2100" b="1" i="0">
                <a:solidFill>
                  <a:srgbClr val="172126"/>
                </a:solidFill>
              </a:defRPr>
            </a:pPr>
            <a:r>
              <a:rPr sz="2100" b="1" i="0">
                <a:solidFill>
                  <a:srgbClr val="172126"/>
                </a:solidFill>
              </a:rPr>
              <a:t>→</a:t>
            </a:r>
          </a:p>
        </p:txBody>
      </p:sp>
      <p:sp>
        <p:nvSpPr>
          <p:cNvPr id="16" name="">
            <a:extLst xmlns:a="http://schemas.openxmlformats.org/drawingml/2006/main">
              <a:ext uri="{FF2B5EF4-FFF2-40B4-BE49-F238E27FC236}">
                <a16:creationId xmlns:a16="http://schemas.microsoft.com/office/drawing/2014/main" id="{A06DA8A2-6ED9-4ADC-8373-1CE79E2A77BE}"/>
              </a:ext>
            </a:extLst>
          </p:cNvPr>
          <p:cNvSpPr>
            <a:spLocks xmlns:a="http://schemas.openxmlformats.org/drawingml/2006/main" noGrp="1"/>
          </p:cNvSpPr>
          <p:nvPr/>
        </p:nvSpPr>
        <p:spPr>
          <a:xfrm xmlns:a="http://schemas.openxmlformats.org/drawingml/2006/main">
            <a:off x="8096250" y="2857500"/>
            <a:ext cx="3295650" cy="2143125"/>
          </a:xfrm>
          <a:prstGeom xmlns:a="http://schemas.openxmlformats.org/drawingml/2006/main" prst="roundRect">
            <a:avLst>
              <a:gd name="adj" fmla="val 889"/>
            </a:avLst>
          </a:prstGeom>
          <a:solidFill xmlns:a="http://schemas.openxmlformats.org/drawingml/2006/main">
            <a:srgbClr val="DDE8D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E888D16-2332-4C29-8B89-74517F05185F}"/>
              </a:ext>
            </a:extLst>
          </p:cNvPr>
          <p:cNvSpPr>
            <a:spLocks xmlns:a="http://schemas.openxmlformats.org/drawingml/2006/main" noGrp="1"/>
          </p:cNvSpPr>
          <p:nvPr/>
        </p:nvSpPr>
        <p:spPr>
          <a:xfrm xmlns:a="http://schemas.openxmlformats.org/drawingml/2006/main">
            <a:off x="8267700" y="3048000"/>
            <a:ext cx="400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6F8E7D"/>
                </a:solidFill>
              </a:defRPr>
            </a:pPr>
            <a:r>
              <a:rPr sz="900" b="1" i="0">
                <a:solidFill>
                  <a:srgbClr val="6F8E7D"/>
                </a:solidFill>
              </a:rPr>
              <a:t>03</a:t>
            </a:r>
          </a:p>
        </p:txBody>
      </p:sp>
      <p:sp>
        <p:nvSpPr>
          <p:cNvPr id="18" name="">
            <a:extLst xmlns:a="http://schemas.openxmlformats.org/drawingml/2006/main">
              <a:ext uri="{FF2B5EF4-FFF2-40B4-BE49-F238E27FC236}">
                <a16:creationId xmlns:a16="http://schemas.microsoft.com/office/drawing/2014/main" id="{0FA1D54C-DC62-439D-ACEC-2C68D62D4EFD}"/>
              </a:ext>
            </a:extLst>
          </p:cNvPr>
          <p:cNvSpPr>
            <a:spLocks xmlns:a="http://schemas.openxmlformats.org/drawingml/2006/main" noGrp="1"/>
          </p:cNvSpPr>
          <p:nvPr/>
        </p:nvSpPr>
        <p:spPr>
          <a:xfrm xmlns:a="http://schemas.openxmlformats.org/drawingml/2006/main">
            <a:off x="8267700" y="35052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172126"/>
                </a:solidFill>
              </a:defRPr>
            </a:pPr>
            <a:r>
              <a:rPr sz="1500" b="1" i="0">
                <a:solidFill>
                  <a:srgbClr val="172126"/>
                </a:solidFill>
              </a:rPr>
              <a:t>CABINETS PARTENAIRES</a:t>
            </a:r>
          </a:p>
        </p:txBody>
      </p:sp>
      <p:sp>
        <p:nvSpPr>
          <p:cNvPr id="19" name="">
            <a:extLst xmlns:a="http://schemas.openxmlformats.org/drawingml/2006/main">
              <a:ext uri="{FF2B5EF4-FFF2-40B4-BE49-F238E27FC236}">
                <a16:creationId xmlns:a16="http://schemas.microsoft.com/office/drawing/2014/main" id="{7B7F0E54-50B9-43C3-A1A8-03CDC8B9D3CF}"/>
              </a:ext>
            </a:extLst>
          </p:cNvPr>
          <p:cNvSpPr>
            <a:spLocks xmlns:a="http://schemas.openxmlformats.org/drawingml/2006/main" noGrp="1"/>
          </p:cNvSpPr>
          <p:nvPr/>
        </p:nvSpPr>
        <p:spPr>
          <a:xfrm xmlns:a="http://schemas.openxmlformats.org/drawingml/2006/main">
            <a:off x="8267700" y="4000500"/>
            <a:ext cx="28384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i="0">
                <a:solidFill>
                  <a:srgbClr val="686C69"/>
                </a:solidFill>
              </a:defRPr>
            </a:pPr>
            <a:r>
              <a:rPr sz="1200" b="0" i="0">
                <a:solidFill>
                  <a:srgbClr val="686C69"/>
                </a:solidFill>
              </a:rPr>
              <a:t>Démarrer sur quelques dossiers, puis étendre aux autres clients</a:t>
            </a:r>
          </a:p>
        </p:txBody>
      </p:sp>
      <p:sp>
        <p:nvSpPr>
          <p:cNvPr id="20" name="">
            <a:extLst xmlns:a="http://schemas.openxmlformats.org/drawingml/2006/main">
              <a:ext uri="{FF2B5EF4-FFF2-40B4-BE49-F238E27FC236}">
                <a16:creationId xmlns:a16="http://schemas.microsoft.com/office/drawing/2014/main" id="{5BBF7563-34A6-4A54-BC07-F16BB3296DDA}"/>
              </a:ext>
            </a:extLst>
          </p:cNvPr>
          <p:cNvSpPr>
            <a:spLocks xmlns:a="http://schemas.openxmlformats.org/drawingml/2006/main" noGrp="1"/>
          </p:cNvSpPr>
          <p:nvPr/>
        </p:nvSpPr>
        <p:spPr>
          <a:xfrm xmlns:a="http://schemas.openxmlformats.org/drawingml/2006/main">
            <a:off x="685800" y="54292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C96F52"/>
                </a:solidFill>
              </a:defRPr>
            </a:pPr>
            <a:r>
              <a:rPr sz="1050" b="1" i="0">
                <a:solidFill>
                  <a:srgbClr val="C96F52"/>
                </a:solidFill>
              </a:rPr>
              <a:t>Boucle de croissance</a:t>
            </a:r>
          </a:p>
        </p:txBody>
      </p:sp>
      <p:sp>
        <p:nvSpPr>
          <p:cNvPr id="21" name="">
            <a:extLst xmlns:a="http://schemas.openxmlformats.org/drawingml/2006/main">
              <a:ext uri="{FF2B5EF4-FFF2-40B4-BE49-F238E27FC236}">
                <a16:creationId xmlns:a16="http://schemas.microsoft.com/office/drawing/2014/main" id="{59E5CAF8-A1CF-43D3-9619-7C87A3E52517}"/>
              </a:ext>
            </a:extLst>
          </p:cNvPr>
          <p:cNvSpPr>
            <a:spLocks xmlns:a="http://schemas.openxmlformats.org/drawingml/2006/main" noGrp="1"/>
          </p:cNvSpPr>
          <p:nvPr/>
        </p:nvSpPr>
        <p:spPr>
          <a:xfrm xmlns:a="http://schemas.openxmlformats.org/drawingml/2006/main">
            <a:off x="2495550" y="5362575"/>
            <a:ext cx="866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1" i="0">
                <a:solidFill>
                  <a:srgbClr val="172126"/>
                </a:solidFill>
              </a:defRPr>
            </a:pPr>
            <a:r>
              <a:rPr sz="1500" b="1" i="0">
                <a:solidFill>
                  <a:srgbClr val="172126"/>
                </a:solidFill>
              </a:rPr>
              <a:t>Facturation gratuite → usages connectés → collaboration comptable → recommandations</a:t>
            </a:r>
          </a:p>
        </p:txBody>
      </p:sp>
    </p:spTree>
    <p:extLst>
      <p:ext uri="{BB962C8B-B14F-4D97-AF65-F5344CB8AC3E}">
        <p14:creationId xmlns:p14="http://schemas.microsoft.com/office/powerpoint/2010/main" val="265551188"/>
      </p:ext>
    </p:extLst>
  </p:cSld>
</p:sld>
</file>

<file path=ppt/slides/slide11.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A9ED71A-5756-441C-ACA4-F7E6CC0BB6D3}"/>
              </a:ext>
            </a:extLst>
          </p:cNvPr>
          <p:cNvSpPr>
            <a:spLocks xmlns:a="http://schemas.openxmlformats.org/drawingml/2006/main" noGrp="1"/>
          </p:cNvSpPr>
          <p:nvPr/>
        </p:nvSpPr>
        <p:spPr>
          <a:xfrm xmlns:a="http://schemas.openxmlformats.org/drawingml/2006/main">
            <a:off x="533400" y="285750"/>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686C69"/>
                </a:solidFill>
              </a:defRPr>
            </a:pPr>
            <a:r>
              <a:rPr sz="825" b="1" i="0">
                <a:solidFill>
                  <a:srgbClr val="686C69"/>
                </a:solidFill>
              </a:rPr>
              <a:t>AVANTAGE CONCURRENTIEL</a:t>
            </a:r>
          </a:p>
        </p:txBody>
      </p:sp>
      <p:sp>
        <p:nvSpPr>
          <p:cNvPr id="2" name="">
            <a:extLst xmlns:a="http://schemas.openxmlformats.org/drawingml/2006/main">
              <a:ext uri="{FF2B5EF4-FFF2-40B4-BE49-F238E27FC236}">
                <a16:creationId xmlns:a16="http://schemas.microsoft.com/office/drawing/2014/main" id="{3D7E4E82-D4C5-4151-85F7-B7106C2502F1}"/>
              </a:ext>
            </a:extLst>
          </p:cNvPr>
          <p:cNvSpPr>
            <a:spLocks xmlns:a="http://schemas.openxmlformats.org/drawingml/2006/main" noGrp="1"/>
          </p:cNvSpPr>
          <p:nvPr/>
        </p:nvSpPr>
        <p:spPr>
          <a:xfrm xmlns:a="http://schemas.openxmlformats.org/drawingml/2006/main">
            <a:off x="11201400" y="2667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i="0">
                <a:solidFill>
                  <a:srgbClr val="686C69"/>
                </a:solidFill>
              </a:defRPr>
            </a:pPr>
            <a:r>
              <a:rPr sz="900" b="1" i="0">
                <a:solidFill>
                  <a:srgbClr val="686C69"/>
                </a:solidFill>
              </a:rPr>
              <a:t>11</a:t>
            </a:r>
          </a:p>
        </p:txBody>
      </p:sp>
      <p:sp>
        <p:nvSpPr>
          <p:cNvPr id="3" name="">
            <a:extLst xmlns:a="http://schemas.openxmlformats.org/drawingml/2006/main">
              <a:ext uri="{FF2B5EF4-FFF2-40B4-BE49-F238E27FC236}">
                <a16:creationId xmlns:a16="http://schemas.microsoft.com/office/drawing/2014/main" id="{56FE5F1F-F691-4891-B100-772E59EC40A5}"/>
              </a:ext>
            </a:extLst>
          </p:cNvPr>
          <p:cNvSpPr>
            <a:spLocks xmlns:a="http://schemas.openxmlformats.org/drawingml/2006/main" noGrp="1"/>
          </p:cNvSpPr>
          <p:nvPr/>
        </p:nvSpPr>
        <p:spPr>
          <a:xfrm xmlns:a="http://schemas.openxmlformats.org/drawingml/2006/main">
            <a:off x="533400" y="552450"/>
            <a:ext cx="11125200" cy="9525"/>
          </a:xfrm>
          <a:prstGeom xmlns:a="http://schemas.openxmlformats.org/drawingml/2006/main" prst="rect">
            <a:avLst/>
          </a:prstGeom>
          <a:solidFill xmlns:a="http://schemas.openxmlformats.org/drawingml/2006/main">
            <a:srgbClr val="D8D0C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140A0A4-C8CF-4196-A32A-25A13A9B3CAD}"/>
              </a:ext>
            </a:extLst>
          </p:cNvPr>
          <p:cNvSpPr>
            <a:spLocks xmlns:a="http://schemas.openxmlformats.org/drawingml/2006/main" noGrp="1"/>
          </p:cNvSpPr>
          <p:nvPr/>
        </p:nvSpPr>
        <p:spPr>
          <a:xfrm xmlns:a="http://schemas.openxmlformats.org/drawingml/2006/main">
            <a:off x="609600" y="8001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C96F52"/>
                </a:solidFill>
              </a:defRPr>
            </a:pPr>
            <a:r>
              <a:rPr sz="900" b="1" i="0">
                <a:solidFill>
                  <a:srgbClr val="C96F52"/>
                </a:solidFill>
              </a:rPr>
              <a:t>La connaissance locale ouvre la porte. Les flux connectés créent la différence.</a:t>
            </a:r>
          </a:p>
        </p:txBody>
      </p:sp>
      <p:sp>
        <p:nvSpPr>
          <p:cNvPr id="5" name="">
            <a:extLst xmlns:a="http://schemas.openxmlformats.org/drawingml/2006/main">
              <a:ext uri="{FF2B5EF4-FFF2-40B4-BE49-F238E27FC236}">
                <a16:creationId xmlns:a16="http://schemas.microsoft.com/office/drawing/2014/main" id="{7F838A3F-2EBB-4124-BC64-7E449042F1D9}"/>
              </a:ext>
            </a:extLst>
          </p:cNvPr>
          <p:cNvSpPr>
            <a:spLocks xmlns:a="http://schemas.openxmlformats.org/drawingml/2006/main" noGrp="1"/>
          </p:cNvSpPr>
          <p:nvPr/>
        </p:nvSpPr>
        <p:spPr>
          <a:xfrm xmlns:a="http://schemas.openxmlformats.org/drawingml/2006/main">
            <a:off x="609600" y="114300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225" b="1" i="0">
                <a:solidFill>
                  <a:srgbClr val="172126"/>
                </a:solidFill>
              </a:defRPr>
            </a:pPr>
            <a:r>
              <a:rPr sz="3225" b="1" i="0">
                <a:solidFill>
                  <a:srgbClr val="172126"/>
                </a:solidFill>
              </a:rPr>
              <a:t>Les règles marocaines et les usages de l’entreprise se retrouvent dans une même expérience.</a:t>
            </a:r>
          </a:p>
        </p:txBody>
      </p:sp>
      <p:sp>
        <p:nvSpPr>
          <p:cNvPr id="6" name="">
            <a:extLst xmlns:a="http://schemas.openxmlformats.org/drawingml/2006/main">
              <a:ext uri="{FF2B5EF4-FFF2-40B4-BE49-F238E27FC236}">
                <a16:creationId xmlns:a16="http://schemas.microsoft.com/office/drawing/2014/main" id="{E78C46DF-9B82-4C95-8D2F-99C6E49D6F5A}"/>
              </a:ext>
            </a:extLst>
          </p:cNvPr>
          <p:cNvSpPr>
            <a:spLocks xmlns:a="http://schemas.openxmlformats.org/drawingml/2006/main" noGrp="1"/>
          </p:cNvSpPr>
          <p:nvPr/>
        </p:nvSpPr>
        <p:spPr>
          <a:xfrm xmlns:a="http://schemas.openxmlformats.org/drawingml/2006/main">
            <a:off x="952500" y="2962275"/>
            <a:ext cx="10287000" cy="714375"/>
          </a:xfrm>
          <a:prstGeom xmlns:a="http://schemas.openxmlformats.org/drawingml/2006/main" prst="roundRect">
            <a:avLst>
              <a:gd name="adj" fmla="val 2667"/>
            </a:avLst>
          </a:prstGeom>
          <a:solidFill xmlns:a="http://schemas.openxmlformats.org/drawingml/2006/main">
            <a:srgbClr val="D9E8E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30FD4B4-BA3C-4F91-AF11-1B62B4BFA737}"/>
              </a:ext>
            </a:extLst>
          </p:cNvPr>
          <p:cNvSpPr>
            <a:spLocks xmlns:a="http://schemas.openxmlformats.org/drawingml/2006/main" noGrp="1"/>
          </p:cNvSpPr>
          <p:nvPr/>
        </p:nvSpPr>
        <p:spPr>
          <a:xfrm xmlns:a="http://schemas.openxmlformats.org/drawingml/2006/main">
            <a:off x="1143000" y="311467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i="0">
                <a:solidFill>
                  <a:srgbClr val="172126"/>
                </a:solidFill>
              </a:defRPr>
            </a:pPr>
            <a:r>
              <a:rPr sz="1275" b="1" i="0">
                <a:solidFill>
                  <a:srgbClr val="172126"/>
                </a:solidFill>
              </a:rPr>
              <a:t>RÈGLES ET USAGES LOCAUX</a:t>
            </a:r>
          </a:p>
        </p:txBody>
      </p:sp>
      <p:sp>
        <p:nvSpPr>
          <p:cNvPr id="8" name="">
            <a:extLst xmlns:a="http://schemas.openxmlformats.org/drawingml/2006/main">
              <a:ext uri="{FF2B5EF4-FFF2-40B4-BE49-F238E27FC236}">
                <a16:creationId xmlns:a16="http://schemas.microsoft.com/office/drawing/2014/main" id="{BD270386-7000-4533-BD4D-71B4D6E0FED0}"/>
              </a:ext>
            </a:extLst>
          </p:cNvPr>
          <p:cNvSpPr>
            <a:spLocks xmlns:a="http://schemas.openxmlformats.org/drawingml/2006/main" noGrp="1"/>
          </p:cNvSpPr>
          <p:nvPr/>
        </p:nvSpPr>
        <p:spPr>
          <a:xfrm xmlns:a="http://schemas.openxmlformats.org/drawingml/2006/main">
            <a:off x="4191000" y="3105150"/>
            <a:ext cx="676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686C69"/>
                </a:solidFill>
              </a:defRPr>
            </a:pPr>
            <a:r>
              <a:rPr sz="1125" b="0" i="0">
                <a:solidFill>
                  <a:srgbClr val="686C69"/>
                </a:solidFill>
              </a:rPr>
              <a:t>TVA · CGNC · paie · identifiants · documents marocains</a:t>
            </a:r>
          </a:p>
        </p:txBody>
      </p:sp>
      <p:sp>
        <p:nvSpPr>
          <p:cNvPr id="9" name="">
            <a:extLst xmlns:a="http://schemas.openxmlformats.org/drawingml/2006/main">
              <a:ext uri="{FF2B5EF4-FFF2-40B4-BE49-F238E27FC236}">
                <a16:creationId xmlns:a16="http://schemas.microsoft.com/office/drawing/2014/main" id="{ED7A3D73-84F0-424B-9654-0001E70A53B9}"/>
              </a:ext>
            </a:extLst>
          </p:cNvPr>
          <p:cNvSpPr>
            <a:spLocks xmlns:a="http://schemas.openxmlformats.org/drawingml/2006/main" noGrp="1"/>
          </p:cNvSpPr>
          <p:nvPr/>
        </p:nvSpPr>
        <p:spPr>
          <a:xfrm xmlns:a="http://schemas.openxmlformats.org/drawingml/2006/main">
            <a:off x="1619250" y="3876675"/>
            <a:ext cx="8953500" cy="714375"/>
          </a:xfrm>
          <a:prstGeom xmlns:a="http://schemas.openxmlformats.org/drawingml/2006/main" prst="roundRect">
            <a:avLst>
              <a:gd name="adj" fmla="val 2667"/>
            </a:avLst>
          </a:prstGeom>
          <a:solidFill xmlns:a="http://schemas.openxmlformats.org/drawingml/2006/main">
            <a:srgbClr val="F4DED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A39E62B-BC00-4EA6-AB66-72BDE7E7CF1C}"/>
              </a:ext>
            </a:extLst>
          </p:cNvPr>
          <p:cNvSpPr>
            <a:spLocks xmlns:a="http://schemas.openxmlformats.org/drawingml/2006/main" noGrp="1"/>
          </p:cNvSpPr>
          <p:nvPr/>
        </p:nvSpPr>
        <p:spPr>
          <a:xfrm xmlns:a="http://schemas.openxmlformats.org/drawingml/2006/main">
            <a:off x="1809750" y="402907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i="0">
                <a:solidFill>
                  <a:srgbClr val="172126"/>
                </a:solidFill>
              </a:defRPr>
            </a:pPr>
            <a:r>
              <a:rPr sz="1275" b="1" i="0">
                <a:solidFill>
                  <a:srgbClr val="172126"/>
                </a:solidFill>
              </a:rPr>
              <a:t>FLUX FINANCIERS LIÉS</a:t>
            </a:r>
          </a:p>
        </p:txBody>
      </p:sp>
      <p:sp>
        <p:nvSpPr>
          <p:cNvPr id="11" name="">
            <a:extLst xmlns:a="http://schemas.openxmlformats.org/drawingml/2006/main">
              <a:ext uri="{FF2B5EF4-FFF2-40B4-BE49-F238E27FC236}">
                <a16:creationId xmlns:a16="http://schemas.microsoft.com/office/drawing/2014/main" id="{3D10415B-97E0-4297-AB27-9B39BFA0B09B}"/>
              </a:ext>
            </a:extLst>
          </p:cNvPr>
          <p:cNvSpPr>
            <a:spLocks xmlns:a="http://schemas.openxmlformats.org/drawingml/2006/main" noGrp="1"/>
          </p:cNvSpPr>
          <p:nvPr/>
        </p:nvSpPr>
        <p:spPr>
          <a:xfrm xmlns:a="http://schemas.openxmlformats.org/drawingml/2006/main">
            <a:off x="4857750" y="4019550"/>
            <a:ext cx="5429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686C69"/>
                </a:solidFill>
              </a:defRPr>
            </a:pPr>
            <a:r>
              <a:rPr sz="1125" b="0" i="0">
                <a:solidFill>
                  <a:srgbClr val="686C69"/>
                </a:solidFill>
              </a:rPr>
              <a:t>Factures, paiements, opérations bancaires et écritures reliés</a:t>
            </a:r>
          </a:p>
        </p:txBody>
      </p:sp>
      <p:sp>
        <p:nvSpPr>
          <p:cNvPr id="12" name="">
            <a:extLst xmlns:a="http://schemas.openxmlformats.org/drawingml/2006/main">
              <a:ext uri="{FF2B5EF4-FFF2-40B4-BE49-F238E27FC236}">
                <a16:creationId xmlns:a16="http://schemas.microsoft.com/office/drawing/2014/main" id="{3E880B11-945F-4ABC-8639-EC328253A63F}"/>
              </a:ext>
            </a:extLst>
          </p:cNvPr>
          <p:cNvSpPr>
            <a:spLocks xmlns:a="http://schemas.openxmlformats.org/drawingml/2006/main" noGrp="1"/>
          </p:cNvSpPr>
          <p:nvPr/>
        </p:nvSpPr>
        <p:spPr>
          <a:xfrm xmlns:a="http://schemas.openxmlformats.org/drawingml/2006/main">
            <a:off x="2286000" y="4791075"/>
            <a:ext cx="7620000" cy="714375"/>
          </a:xfrm>
          <a:prstGeom xmlns:a="http://schemas.openxmlformats.org/drawingml/2006/main" prst="roundRect">
            <a:avLst>
              <a:gd name="adj" fmla="val 2667"/>
            </a:avLst>
          </a:prstGeom>
          <a:solidFill xmlns:a="http://schemas.openxmlformats.org/drawingml/2006/main">
            <a:srgbClr val="DDE8D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06EA9D5-1026-401A-B9B6-D4A0456477CF}"/>
              </a:ext>
            </a:extLst>
          </p:cNvPr>
          <p:cNvSpPr>
            <a:spLocks xmlns:a="http://schemas.openxmlformats.org/drawingml/2006/main" noGrp="1"/>
          </p:cNvSpPr>
          <p:nvPr/>
        </p:nvSpPr>
        <p:spPr>
          <a:xfrm xmlns:a="http://schemas.openxmlformats.org/drawingml/2006/main">
            <a:off x="2476500" y="494347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75" b="1" i="0">
                <a:solidFill>
                  <a:srgbClr val="172126"/>
                </a:solidFill>
              </a:defRPr>
            </a:pPr>
            <a:r>
              <a:rPr sz="1275" b="1" i="0">
                <a:solidFill>
                  <a:srgbClr val="172126"/>
                </a:solidFill>
              </a:rPr>
              <a:t>ENTREPRISE + CABINET</a:t>
            </a:r>
          </a:p>
        </p:txBody>
      </p:sp>
      <p:sp>
        <p:nvSpPr>
          <p:cNvPr id="14" name="">
            <a:extLst xmlns:a="http://schemas.openxmlformats.org/drawingml/2006/main">
              <a:ext uri="{FF2B5EF4-FFF2-40B4-BE49-F238E27FC236}">
                <a16:creationId xmlns:a16="http://schemas.microsoft.com/office/drawing/2014/main" id="{B9DAA3AB-E329-407F-A051-E30019F8190F}"/>
              </a:ext>
            </a:extLst>
          </p:cNvPr>
          <p:cNvSpPr>
            <a:spLocks xmlns:a="http://schemas.openxmlformats.org/drawingml/2006/main" noGrp="1"/>
          </p:cNvSpPr>
          <p:nvPr/>
        </p:nvSpPr>
        <p:spPr>
          <a:xfrm xmlns:a="http://schemas.openxmlformats.org/drawingml/2006/main">
            <a:off x="5524500" y="4933950"/>
            <a:ext cx="4095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686C69"/>
                </a:solidFill>
              </a:defRPr>
            </a:pPr>
            <a:r>
              <a:rPr sz="1125" b="0" i="0">
                <a:solidFill>
                  <a:srgbClr val="686C69"/>
                </a:solidFill>
              </a:rPr>
              <a:t>Deux espaces de travail autour des mêmes données financières</a:t>
            </a:r>
          </a:p>
        </p:txBody>
      </p:sp>
      <p:sp>
        <p:nvSpPr>
          <p:cNvPr id="15" name="">
            <a:extLst xmlns:a="http://schemas.openxmlformats.org/drawingml/2006/main">
              <a:ext uri="{FF2B5EF4-FFF2-40B4-BE49-F238E27FC236}">
                <a16:creationId xmlns:a16="http://schemas.microsoft.com/office/drawing/2014/main" id="{0243957C-A3F3-4B10-9602-8EF3B38DAB52}"/>
              </a:ext>
            </a:extLst>
          </p:cNvPr>
          <p:cNvSpPr>
            <a:spLocks xmlns:a="http://schemas.openxmlformats.org/drawingml/2006/main" noGrp="1"/>
          </p:cNvSpPr>
          <p:nvPr/>
        </p:nvSpPr>
        <p:spPr>
          <a:xfrm xmlns:a="http://schemas.openxmlformats.org/drawingml/2006/main">
            <a:off x="1866900" y="5924550"/>
            <a:ext cx="8477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350" b="1" i="0">
                <a:solidFill>
                  <a:srgbClr val="172126"/>
                </a:solidFill>
              </a:defRPr>
            </a:pPr>
            <a:r>
              <a:rPr sz="1350" b="1" i="0">
                <a:solidFill>
                  <a:srgbClr val="172126"/>
                </a:solidFill>
              </a:rPr>
              <a:t>À mesure que les flux sont reliés, Mohasib peut mieux automatiser les tâches et faciliter la collaboration.</a:t>
            </a:r>
          </a:p>
        </p:txBody>
      </p:sp>
    </p:spTree>
    <p:extLst>
      <p:ext uri="{BB962C8B-B14F-4D97-AF65-F5344CB8AC3E}">
        <p14:creationId xmlns:p14="http://schemas.microsoft.com/office/powerpoint/2010/main" val="1609454143"/>
      </p:ext>
    </p:extLst>
  </p:cSld>
</p:sld>
</file>

<file path=ppt/slides/slide12.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CCE83518-7FC3-46D1-A9A8-DD6B83E03863}"/>
              </a:ext>
            </a:extLst>
          </p:cNvPr>
          <p:cNvSpPr>
            <a:spLocks xmlns:a="http://schemas.openxmlformats.org/drawingml/2006/main" noGrp="1"/>
          </p:cNvSpPr>
          <p:nvPr/>
        </p:nvSpPr>
        <p:spPr>
          <a:xfrm xmlns:a="http://schemas.openxmlformats.org/drawingml/2006/main">
            <a:off x="533400" y="285750"/>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686C69"/>
                </a:solidFill>
              </a:defRPr>
            </a:pPr>
            <a:r>
              <a:rPr sz="825" b="1" i="0">
                <a:solidFill>
                  <a:srgbClr val="686C69"/>
                </a:solidFill>
              </a:rPr>
              <a:t>ÉTAT DU PRODUIT</a:t>
            </a:r>
          </a:p>
        </p:txBody>
      </p:sp>
      <p:sp>
        <p:nvSpPr>
          <p:cNvPr id="2" name="">
            <a:extLst xmlns:a="http://schemas.openxmlformats.org/drawingml/2006/main">
              <a:ext uri="{FF2B5EF4-FFF2-40B4-BE49-F238E27FC236}">
                <a16:creationId xmlns:a16="http://schemas.microsoft.com/office/drawing/2014/main" id="{719E3166-6DA5-456F-ACCC-0EEA719FE4E5}"/>
              </a:ext>
            </a:extLst>
          </p:cNvPr>
          <p:cNvSpPr>
            <a:spLocks xmlns:a="http://schemas.openxmlformats.org/drawingml/2006/main" noGrp="1"/>
          </p:cNvSpPr>
          <p:nvPr/>
        </p:nvSpPr>
        <p:spPr>
          <a:xfrm xmlns:a="http://schemas.openxmlformats.org/drawingml/2006/main">
            <a:off x="11201400" y="2667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i="0">
                <a:solidFill>
                  <a:srgbClr val="686C69"/>
                </a:solidFill>
              </a:defRPr>
            </a:pPr>
            <a:r>
              <a:rPr sz="900" b="1" i="0">
                <a:solidFill>
                  <a:srgbClr val="686C69"/>
                </a:solidFill>
              </a:rPr>
              <a:t>12</a:t>
            </a:r>
          </a:p>
        </p:txBody>
      </p:sp>
      <p:sp>
        <p:nvSpPr>
          <p:cNvPr id="3" name="">
            <a:extLst xmlns:a="http://schemas.openxmlformats.org/drawingml/2006/main">
              <a:ext uri="{FF2B5EF4-FFF2-40B4-BE49-F238E27FC236}">
                <a16:creationId xmlns:a16="http://schemas.microsoft.com/office/drawing/2014/main" id="{9B51A6FF-DCE2-4FE6-A65A-FCCEE5D95F14}"/>
              </a:ext>
            </a:extLst>
          </p:cNvPr>
          <p:cNvSpPr>
            <a:spLocks xmlns:a="http://schemas.openxmlformats.org/drawingml/2006/main" noGrp="1"/>
          </p:cNvSpPr>
          <p:nvPr/>
        </p:nvSpPr>
        <p:spPr>
          <a:xfrm xmlns:a="http://schemas.openxmlformats.org/drawingml/2006/main">
            <a:off x="533400" y="552450"/>
            <a:ext cx="11125200" cy="9525"/>
          </a:xfrm>
          <a:prstGeom xmlns:a="http://schemas.openxmlformats.org/drawingml/2006/main" prst="rect">
            <a:avLst/>
          </a:prstGeom>
          <a:solidFill xmlns:a="http://schemas.openxmlformats.org/drawingml/2006/main">
            <a:srgbClr val="D8D0C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72DEEC9-0750-4966-9DD2-F1B47383ADE4}"/>
              </a:ext>
            </a:extLst>
          </p:cNvPr>
          <p:cNvSpPr>
            <a:spLocks xmlns:a="http://schemas.openxmlformats.org/drawingml/2006/main" noGrp="1"/>
          </p:cNvSpPr>
          <p:nvPr/>
        </p:nvSpPr>
        <p:spPr>
          <a:xfrm xmlns:a="http://schemas.openxmlformats.org/drawingml/2006/main">
            <a:off x="609600" y="876300"/>
            <a:ext cx="10668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i="0">
                <a:solidFill>
                  <a:srgbClr val="172126"/>
                </a:solidFill>
              </a:defRPr>
            </a:pPr>
            <a:r>
              <a:rPr sz="3150" b="1" i="0">
                <a:solidFill>
                  <a:srgbClr val="172126"/>
                </a:solidFill>
              </a:rPr>
              <a:t>Le produit est construit. Place à l’acquisition.</a:t>
            </a:r>
          </a:p>
        </p:txBody>
      </p:sp>
      <p:sp>
        <p:nvSpPr>
          <p:cNvPr id="5" name="">
            <a:extLst xmlns:a="http://schemas.openxmlformats.org/drawingml/2006/main">
              <a:ext uri="{FF2B5EF4-FFF2-40B4-BE49-F238E27FC236}">
                <a16:creationId xmlns:a16="http://schemas.microsoft.com/office/drawing/2014/main" id="{9C5DCF19-AA76-48AC-877F-2F63A11D7225}"/>
              </a:ext>
            </a:extLst>
          </p:cNvPr>
          <p:cNvSpPr>
            <a:spLocks xmlns:a="http://schemas.openxmlformats.org/drawingml/2006/main" noGrp="1"/>
          </p:cNvSpPr>
          <p:nvPr/>
        </p:nvSpPr>
        <p:spPr>
          <a:xfrm xmlns:a="http://schemas.openxmlformats.org/drawingml/2006/main">
            <a:off x="628650" y="1609725"/>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350" b="0" i="0">
                <a:solidFill>
                  <a:srgbClr val="686C69"/>
                </a:solidFill>
              </a:defRPr>
            </a:pPr>
            <a:r>
              <a:rPr sz="1350" b="0" i="0">
                <a:solidFill>
                  <a:srgbClr val="686C69"/>
                </a:solidFill>
              </a:rPr>
              <a:t>Les briques couvrent plusieurs étapes du cycle financier de l’entreprise.</a:t>
            </a:r>
          </a:p>
        </p:txBody>
      </p:sp>
      <p:sp>
        <p:nvSpPr>
          <p:cNvPr id="6" name="">
            <a:extLst xmlns:a="http://schemas.openxmlformats.org/drawingml/2006/main">
              <a:ext uri="{FF2B5EF4-FFF2-40B4-BE49-F238E27FC236}">
                <a16:creationId xmlns:a16="http://schemas.microsoft.com/office/drawing/2014/main" id="{F648390B-36F2-461A-A0F2-94B775676282}"/>
              </a:ext>
            </a:extLst>
          </p:cNvPr>
          <p:cNvSpPr>
            <a:spLocks xmlns:a="http://schemas.openxmlformats.org/drawingml/2006/main" noGrp="1"/>
          </p:cNvSpPr>
          <p:nvPr/>
        </p:nvSpPr>
        <p:spPr>
          <a:xfrm xmlns:a="http://schemas.openxmlformats.org/drawingml/2006/main">
            <a:off x="666750" y="2438400"/>
            <a:ext cx="6477000" cy="3619500"/>
          </a:xfrm>
          <a:prstGeom xmlns:a="http://schemas.openxmlformats.org/drawingml/2006/main" prst="roundRect">
            <a:avLst>
              <a:gd name="adj" fmla="val 526"/>
            </a:avLst>
          </a:prstGeom>
          <a:solidFill xmlns:a="http://schemas.openxmlformats.org/drawingml/2006/main">
            <a:srgbClr val="000000">
              <a:alpha val="7059"/>
            </a:srgbClr>
          </a:solidFill>
          <a:ln xmlns:a="http://schemas.openxmlformats.org/drawingml/2006/main" w="0">
            <a:noFill/>
            <a:prstDash val="solid"/>
          </a:ln>
        </p:spPr>
      </p:sp>
      <p:sp>
        <p:nvSpPr>
          <p:cNvPr id="7" name="paper-card">
            <a:extLst xmlns:a="http://schemas.openxmlformats.org/drawingml/2006/main">
              <a:ext uri="{FF2B5EF4-FFF2-40B4-BE49-F238E27FC236}">
                <a16:creationId xmlns:a16="http://schemas.microsoft.com/office/drawing/2014/main" id="{13804487-0D47-4F33-92CB-DE7D9E357C41}"/>
              </a:ext>
            </a:extLst>
          </p:cNvPr>
          <p:cNvSpPr>
            <a:spLocks xmlns:a="http://schemas.openxmlformats.org/drawingml/2006/main" noGrp="1"/>
          </p:cNvSpPr>
          <p:nvPr/>
        </p:nvSpPr>
        <p:spPr>
          <a:xfrm xmlns:a="http://schemas.openxmlformats.org/drawingml/2006/main">
            <a:off x="590550" y="2343150"/>
            <a:ext cx="6477000" cy="3619500"/>
          </a:xfrm>
          <a:prstGeom xmlns:a="http://schemas.openxmlformats.org/drawingml/2006/main" prst="roundRect">
            <a:avLst>
              <a:gd name="adj" fmla="val 526"/>
            </a:avLst>
          </a:prstGeom>
          <a:solidFill xmlns:a="http://schemas.openxmlformats.org/drawingml/2006/main">
            <a:srgbClr val="FFFDF8"/>
          </a:solidFill>
          <a:ln xmlns:a="http://schemas.openxmlformats.org/drawingml/2006/main" w="9525">
            <a:solidFill>
              <a:srgbClr val="D8D0C3"/>
            </a:solidFill>
            <a:prstDash val="solid"/>
          </a:ln>
        </p:spPr>
      </p:sp>
      <p:pic>
        <p:nvPicPr>
          <p:cNvPr id="41" name="">
            <a:extLst xmlns:a="http://schemas.openxmlformats.org/drawingml/2006/main">
              <a:ext uri="{FF2B5EF4-FFF2-40B4-BE49-F238E27FC236}">
                <a16:creationId xmlns:a16="http://schemas.microsoft.com/office/drawing/2014/main" id="{9A708D2C-8692-4324-A287-23B1A5F66468}"/>
              </a:ext>
            </a:extLst>
          </p:cNvPr>
          <p:cNvPicPr>
            <a:picLocks xmlns:a="http://schemas.openxmlformats.org/drawingml/2006/main" noChangeAspect="1"/>
          </p:cNvPicPr>
          <p:nvPr/>
        </p:nvPicPr>
        <p:blipFill>
          <a:blip xmlns:r="http://schemas.openxmlformats.org/officeDocument/2006/relationships" xmlns:a="http://schemas.openxmlformats.org/drawingml/2006/main" r:embed="Rd6ef1df8e2224d72"/>
          <a:stretch xmlns:a="http://schemas.openxmlformats.org/drawingml/2006/main"/>
        </p:blipFill>
        <p:spPr>
          <a:xfrm xmlns:a="http://schemas.openxmlformats.org/drawingml/2006/main" rot="-72000">
            <a:off x="781050" y="2581275"/>
            <a:ext cx="6096000" cy="314325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CEE48D3C-39FF-456B-A589-3A06CBD805A3}"/>
              </a:ext>
            </a:extLst>
          </p:cNvPr>
          <p:cNvSpPr>
            <a:spLocks xmlns:a="http://schemas.openxmlformats.org/drawingml/2006/main" noGrp="1"/>
          </p:cNvSpPr>
          <p:nvPr/>
        </p:nvSpPr>
        <p:spPr>
          <a:xfrm xmlns:a="http://schemas.openxmlformats.org/drawingml/2006/main">
            <a:off x="7581900" y="2533650"/>
            <a:ext cx="171450" cy="28575"/>
          </a:xfrm>
          <a:prstGeom xmlns:a="http://schemas.openxmlformats.org/drawingml/2006/main" prst="rect">
            <a:avLst/>
          </a:prstGeom>
          <a:solidFill xmlns:a="http://schemas.openxmlformats.org/drawingml/2006/main">
            <a:srgbClr val="C96F52"/>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DA8C7BB-85FF-4AF1-88CE-6AB6492BA73D}"/>
              </a:ext>
            </a:extLst>
          </p:cNvPr>
          <p:cNvSpPr>
            <a:spLocks xmlns:a="http://schemas.openxmlformats.org/drawingml/2006/main" noGrp="1"/>
          </p:cNvSpPr>
          <p:nvPr/>
        </p:nvSpPr>
        <p:spPr>
          <a:xfrm xmlns:a="http://schemas.openxmlformats.org/drawingml/2006/main">
            <a:off x="7867650" y="24288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172126"/>
                </a:solidFill>
              </a:defRPr>
            </a:pPr>
            <a:r>
              <a:rPr sz="975" b="1" i="0">
                <a:solidFill>
                  <a:srgbClr val="172126"/>
                </a:solidFill>
              </a:rPr>
              <a:t>DOCUMENTS + OCR</a:t>
            </a:r>
          </a:p>
        </p:txBody>
      </p:sp>
      <p:sp>
        <p:nvSpPr>
          <p:cNvPr id="11" name="">
            <a:extLst xmlns:a="http://schemas.openxmlformats.org/drawingml/2006/main">
              <a:ext uri="{FF2B5EF4-FFF2-40B4-BE49-F238E27FC236}">
                <a16:creationId xmlns:a16="http://schemas.microsoft.com/office/drawing/2014/main" id="{64C6B311-C082-42FE-9B26-221ABFBF5C0A}"/>
              </a:ext>
            </a:extLst>
          </p:cNvPr>
          <p:cNvSpPr>
            <a:spLocks xmlns:a="http://schemas.openxmlformats.org/drawingml/2006/main" noGrp="1"/>
          </p:cNvSpPr>
          <p:nvPr/>
        </p:nvSpPr>
        <p:spPr>
          <a:xfrm xmlns:a="http://schemas.openxmlformats.org/drawingml/2006/main">
            <a:off x="9505950" y="2533650"/>
            <a:ext cx="171450" cy="28575"/>
          </a:xfrm>
          <a:prstGeom xmlns:a="http://schemas.openxmlformats.org/drawingml/2006/main" prst="rect">
            <a:avLst/>
          </a:prstGeom>
          <a:solidFill xmlns:a="http://schemas.openxmlformats.org/drawingml/2006/main">
            <a:srgbClr val="477A86"/>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1ACA0CD-0B45-4A27-A075-18449D38E020}"/>
              </a:ext>
            </a:extLst>
          </p:cNvPr>
          <p:cNvSpPr>
            <a:spLocks xmlns:a="http://schemas.openxmlformats.org/drawingml/2006/main" noGrp="1"/>
          </p:cNvSpPr>
          <p:nvPr/>
        </p:nvSpPr>
        <p:spPr>
          <a:xfrm xmlns:a="http://schemas.openxmlformats.org/drawingml/2006/main">
            <a:off x="9791700" y="24288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172126"/>
                </a:solidFill>
              </a:defRPr>
            </a:pPr>
            <a:r>
              <a:rPr sz="975" b="1" i="0">
                <a:solidFill>
                  <a:srgbClr val="172126"/>
                </a:solidFill>
              </a:rPr>
              <a:t>FACTURATION</a:t>
            </a:r>
          </a:p>
        </p:txBody>
      </p:sp>
      <p:sp>
        <p:nvSpPr>
          <p:cNvPr id="13" name="">
            <a:extLst xmlns:a="http://schemas.openxmlformats.org/drawingml/2006/main">
              <a:ext uri="{FF2B5EF4-FFF2-40B4-BE49-F238E27FC236}">
                <a16:creationId xmlns:a16="http://schemas.microsoft.com/office/drawing/2014/main" id="{AF3E5BC0-2EA5-46D0-B74B-EFB36E1EAFB5}"/>
              </a:ext>
            </a:extLst>
          </p:cNvPr>
          <p:cNvSpPr>
            <a:spLocks xmlns:a="http://schemas.openxmlformats.org/drawingml/2006/main" noGrp="1"/>
          </p:cNvSpPr>
          <p:nvPr/>
        </p:nvSpPr>
        <p:spPr>
          <a:xfrm xmlns:a="http://schemas.openxmlformats.org/drawingml/2006/main">
            <a:off x="7581900" y="3114675"/>
            <a:ext cx="171450" cy="28575"/>
          </a:xfrm>
          <a:prstGeom xmlns:a="http://schemas.openxmlformats.org/drawingml/2006/main" prst="rect">
            <a:avLst/>
          </a:prstGeom>
          <a:solidFill xmlns:a="http://schemas.openxmlformats.org/drawingml/2006/main">
            <a:srgbClr val="6F8E7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5476057-683E-4E4C-A0F6-BB3847159F70}"/>
              </a:ext>
            </a:extLst>
          </p:cNvPr>
          <p:cNvSpPr>
            <a:spLocks xmlns:a="http://schemas.openxmlformats.org/drawingml/2006/main" noGrp="1"/>
          </p:cNvSpPr>
          <p:nvPr/>
        </p:nvSpPr>
        <p:spPr>
          <a:xfrm xmlns:a="http://schemas.openxmlformats.org/drawingml/2006/main">
            <a:off x="7867650" y="30099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172126"/>
                </a:solidFill>
              </a:defRPr>
            </a:pPr>
            <a:r>
              <a:rPr sz="975" b="1" i="0">
                <a:solidFill>
                  <a:srgbClr val="172126"/>
                </a:solidFill>
              </a:rPr>
              <a:t>PAIEMENTS</a:t>
            </a:r>
          </a:p>
        </p:txBody>
      </p:sp>
      <p:sp>
        <p:nvSpPr>
          <p:cNvPr id="15" name="">
            <a:extLst xmlns:a="http://schemas.openxmlformats.org/drawingml/2006/main">
              <a:ext uri="{FF2B5EF4-FFF2-40B4-BE49-F238E27FC236}">
                <a16:creationId xmlns:a16="http://schemas.microsoft.com/office/drawing/2014/main" id="{4DC8C9B6-1808-466C-B864-ADF7FB66EE74}"/>
              </a:ext>
            </a:extLst>
          </p:cNvPr>
          <p:cNvSpPr>
            <a:spLocks xmlns:a="http://schemas.openxmlformats.org/drawingml/2006/main" noGrp="1"/>
          </p:cNvSpPr>
          <p:nvPr/>
        </p:nvSpPr>
        <p:spPr>
          <a:xfrm xmlns:a="http://schemas.openxmlformats.org/drawingml/2006/main">
            <a:off x="9505950" y="3114675"/>
            <a:ext cx="171450" cy="28575"/>
          </a:xfrm>
          <a:prstGeom xmlns:a="http://schemas.openxmlformats.org/drawingml/2006/main" prst="rect">
            <a:avLst/>
          </a:prstGeom>
          <a:solidFill xmlns:a="http://schemas.openxmlformats.org/drawingml/2006/main">
            <a:srgbClr val="C96F5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00B537C-BCD2-4294-AEA8-5E4073F15532}"/>
              </a:ext>
            </a:extLst>
          </p:cNvPr>
          <p:cNvSpPr>
            <a:spLocks xmlns:a="http://schemas.openxmlformats.org/drawingml/2006/main" noGrp="1"/>
          </p:cNvSpPr>
          <p:nvPr/>
        </p:nvSpPr>
        <p:spPr>
          <a:xfrm xmlns:a="http://schemas.openxmlformats.org/drawingml/2006/main">
            <a:off x="9791700" y="30099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172126"/>
                </a:solidFill>
              </a:defRPr>
            </a:pPr>
            <a:r>
              <a:rPr sz="975" b="1" i="0">
                <a:solidFill>
                  <a:srgbClr val="172126"/>
                </a:solidFill>
              </a:rPr>
              <a:t>RAPPROCHEMENT BANCAIRE</a:t>
            </a:r>
          </a:p>
        </p:txBody>
      </p:sp>
      <p:sp>
        <p:nvSpPr>
          <p:cNvPr id="17" name="">
            <a:extLst xmlns:a="http://schemas.openxmlformats.org/drawingml/2006/main">
              <a:ext uri="{FF2B5EF4-FFF2-40B4-BE49-F238E27FC236}">
                <a16:creationId xmlns:a16="http://schemas.microsoft.com/office/drawing/2014/main" id="{1DA0EEB4-7C96-4F99-988C-D170B093C7D4}"/>
              </a:ext>
            </a:extLst>
          </p:cNvPr>
          <p:cNvSpPr>
            <a:spLocks xmlns:a="http://schemas.openxmlformats.org/drawingml/2006/main" noGrp="1"/>
          </p:cNvSpPr>
          <p:nvPr/>
        </p:nvSpPr>
        <p:spPr>
          <a:xfrm xmlns:a="http://schemas.openxmlformats.org/drawingml/2006/main">
            <a:off x="7581900" y="3695700"/>
            <a:ext cx="171450" cy="28575"/>
          </a:xfrm>
          <a:prstGeom xmlns:a="http://schemas.openxmlformats.org/drawingml/2006/main" prst="rect">
            <a:avLst/>
          </a:prstGeom>
          <a:solidFill xmlns:a="http://schemas.openxmlformats.org/drawingml/2006/main">
            <a:srgbClr val="477A8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01ECDE7-4583-459A-A0B5-405E7560C45E}"/>
              </a:ext>
            </a:extLst>
          </p:cNvPr>
          <p:cNvSpPr>
            <a:spLocks xmlns:a="http://schemas.openxmlformats.org/drawingml/2006/main" noGrp="1"/>
          </p:cNvSpPr>
          <p:nvPr/>
        </p:nvSpPr>
        <p:spPr>
          <a:xfrm xmlns:a="http://schemas.openxmlformats.org/drawingml/2006/main">
            <a:off x="7867650" y="35909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172126"/>
                </a:solidFill>
              </a:defRPr>
            </a:pPr>
            <a:r>
              <a:rPr sz="975" b="1" i="0">
                <a:solidFill>
                  <a:srgbClr val="172126"/>
                </a:solidFill>
              </a:rPr>
              <a:t>TVA</a:t>
            </a:r>
          </a:p>
        </p:txBody>
      </p:sp>
      <p:sp>
        <p:nvSpPr>
          <p:cNvPr id="19" name="">
            <a:extLst xmlns:a="http://schemas.openxmlformats.org/drawingml/2006/main">
              <a:ext uri="{FF2B5EF4-FFF2-40B4-BE49-F238E27FC236}">
                <a16:creationId xmlns:a16="http://schemas.microsoft.com/office/drawing/2014/main" id="{AD9E2E50-BF22-49C2-A521-EAC79E793B9F}"/>
              </a:ext>
            </a:extLst>
          </p:cNvPr>
          <p:cNvSpPr>
            <a:spLocks xmlns:a="http://schemas.openxmlformats.org/drawingml/2006/main" noGrp="1"/>
          </p:cNvSpPr>
          <p:nvPr/>
        </p:nvSpPr>
        <p:spPr>
          <a:xfrm xmlns:a="http://schemas.openxmlformats.org/drawingml/2006/main">
            <a:off x="9505950" y="3695700"/>
            <a:ext cx="171450" cy="28575"/>
          </a:xfrm>
          <a:prstGeom xmlns:a="http://schemas.openxmlformats.org/drawingml/2006/main" prst="rect">
            <a:avLst/>
          </a:prstGeom>
          <a:solidFill xmlns:a="http://schemas.openxmlformats.org/drawingml/2006/main">
            <a:srgbClr val="6F8E7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0C2B6FC-F2C7-44E8-AA88-94A8794EC032}"/>
              </a:ext>
            </a:extLst>
          </p:cNvPr>
          <p:cNvSpPr>
            <a:spLocks xmlns:a="http://schemas.openxmlformats.org/drawingml/2006/main" noGrp="1"/>
          </p:cNvSpPr>
          <p:nvPr/>
        </p:nvSpPr>
        <p:spPr>
          <a:xfrm xmlns:a="http://schemas.openxmlformats.org/drawingml/2006/main">
            <a:off x="9791700" y="359092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172126"/>
                </a:solidFill>
              </a:defRPr>
            </a:pPr>
            <a:r>
              <a:rPr sz="975" b="1" i="0">
                <a:solidFill>
                  <a:srgbClr val="172126"/>
                </a:solidFill>
              </a:rPr>
              <a:t>PAIE</a:t>
            </a:r>
          </a:p>
        </p:txBody>
      </p:sp>
      <p:sp>
        <p:nvSpPr>
          <p:cNvPr id="21" name="">
            <a:extLst xmlns:a="http://schemas.openxmlformats.org/drawingml/2006/main">
              <a:ext uri="{FF2B5EF4-FFF2-40B4-BE49-F238E27FC236}">
                <a16:creationId xmlns:a16="http://schemas.microsoft.com/office/drawing/2014/main" id="{8E6469A0-1DCF-42A0-BF1F-16B593150C8C}"/>
              </a:ext>
            </a:extLst>
          </p:cNvPr>
          <p:cNvSpPr>
            <a:spLocks xmlns:a="http://schemas.openxmlformats.org/drawingml/2006/main" noGrp="1"/>
          </p:cNvSpPr>
          <p:nvPr/>
        </p:nvSpPr>
        <p:spPr>
          <a:xfrm xmlns:a="http://schemas.openxmlformats.org/drawingml/2006/main">
            <a:off x="7581900" y="4276725"/>
            <a:ext cx="171450" cy="28575"/>
          </a:xfrm>
          <a:prstGeom xmlns:a="http://schemas.openxmlformats.org/drawingml/2006/main" prst="rect">
            <a:avLst/>
          </a:prstGeom>
          <a:solidFill xmlns:a="http://schemas.openxmlformats.org/drawingml/2006/main">
            <a:srgbClr val="C96F52"/>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90F7098-A3F6-4A90-9034-ED4992F4ECD0}"/>
              </a:ext>
            </a:extLst>
          </p:cNvPr>
          <p:cNvSpPr>
            <a:spLocks xmlns:a="http://schemas.openxmlformats.org/drawingml/2006/main" noGrp="1"/>
          </p:cNvSpPr>
          <p:nvPr/>
        </p:nvSpPr>
        <p:spPr>
          <a:xfrm xmlns:a="http://schemas.openxmlformats.org/drawingml/2006/main">
            <a:off x="7867650" y="41719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172126"/>
                </a:solidFill>
              </a:defRPr>
            </a:pPr>
            <a:r>
              <a:rPr sz="975" b="1" i="0">
                <a:solidFill>
                  <a:srgbClr val="172126"/>
                </a:solidFill>
              </a:rPr>
              <a:t>COMPTABILITÉ</a:t>
            </a:r>
          </a:p>
        </p:txBody>
      </p:sp>
      <p:sp>
        <p:nvSpPr>
          <p:cNvPr id="23" name="">
            <a:extLst xmlns:a="http://schemas.openxmlformats.org/drawingml/2006/main">
              <a:ext uri="{FF2B5EF4-FFF2-40B4-BE49-F238E27FC236}">
                <a16:creationId xmlns:a16="http://schemas.microsoft.com/office/drawing/2014/main" id="{112642C5-11F1-4EAF-8355-1CD5E6920806}"/>
              </a:ext>
            </a:extLst>
          </p:cNvPr>
          <p:cNvSpPr>
            <a:spLocks xmlns:a="http://schemas.openxmlformats.org/drawingml/2006/main" noGrp="1"/>
          </p:cNvSpPr>
          <p:nvPr/>
        </p:nvSpPr>
        <p:spPr>
          <a:xfrm xmlns:a="http://schemas.openxmlformats.org/drawingml/2006/main">
            <a:off x="9505950" y="4276725"/>
            <a:ext cx="171450" cy="28575"/>
          </a:xfrm>
          <a:prstGeom xmlns:a="http://schemas.openxmlformats.org/drawingml/2006/main" prst="rect">
            <a:avLst/>
          </a:prstGeom>
          <a:solidFill xmlns:a="http://schemas.openxmlformats.org/drawingml/2006/main">
            <a:srgbClr val="477A86"/>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26CAC1F-850E-4123-9311-B14CC6512A3F}"/>
              </a:ext>
            </a:extLst>
          </p:cNvPr>
          <p:cNvSpPr>
            <a:spLocks xmlns:a="http://schemas.openxmlformats.org/drawingml/2006/main" noGrp="1"/>
          </p:cNvSpPr>
          <p:nvPr/>
        </p:nvSpPr>
        <p:spPr>
          <a:xfrm xmlns:a="http://schemas.openxmlformats.org/drawingml/2006/main">
            <a:off x="9791700" y="41719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172126"/>
                </a:solidFill>
              </a:defRPr>
            </a:pPr>
            <a:r>
              <a:rPr sz="975" b="1" i="0">
                <a:solidFill>
                  <a:srgbClr val="172126"/>
                </a:solidFill>
              </a:rPr>
              <a:t>EXPORTS CGNC</a:t>
            </a:r>
          </a:p>
        </p:txBody>
      </p:sp>
      <p:sp>
        <p:nvSpPr>
          <p:cNvPr id="25" name="">
            <a:extLst xmlns:a="http://schemas.openxmlformats.org/drawingml/2006/main">
              <a:ext uri="{FF2B5EF4-FFF2-40B4-BE49-F238E27FC236}">
                <a16:creationId xmlns:a16="http://schemas.microsoft.com/office/drawing/2014/main" id="{289825C9-3E75-4340-B472-8A15F7972EE6}"/>
              </a:ext>
            </a:extLst>
          </p:cNvPr>
          <p:cNvSpPr>
            <a:spLocks xmlns:a="http://schemas.openxmlformats.org/drawingml/2006/main" noGrp="1"/>
          </p:cNvSpPr>
          <p:nvPr/>
        </p:nvSpPr>
        <p:spPr>
          <a:xfrm xmlns:a="http://schemas.openxmlformats.org/drawingml/2006/main">
            <a:off x="7581900" y="4857750"/>
            <a:ext cx="171450" cy="28575"/>
          </a:xfrm>
          <a:prstGeom xmlns:a="http://schemas.openxmlformats.org/drawingml/2006/main" prst="rect">
            <a:avLst/>
          </a:prstGeom>
          <a:solidFill xmlns:a="http://schemas.openxmlformats.org/drawingml/2006/main">
            <a:srgbClr val="6F8E7D"/>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CDB9287-62CF-413F-8C01-2FE27899BFD8}"/>
              </a:ext>
            </a:extLst>
          </p:cNvPr>
          <p:cNvSpPr>
            <a:spLocks xmlns:a="http://schemas.openxmlformats.org/drawingml/2006/main" noGrp="1"/>
          </p:cNvSpPr>
          <p:nvPr/>
        </p:nvSpPr>
        <p:spPr>
          <a:xfrm xmlns:a="http://schemas.openxmlformats.org/drawingml/2006/main">
            <a:off x="7867650" y="47529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172126"/>
                </a:solidFill>
              </a:defRPr>
            </a:pPr>
            <a:r>
              <a:rPr sz="975" b="1" i="0">
                <a:solidFill>
                  <a:srgbClr val="172126"/>
                </a:solidFill>
              </a:rPr>
              <a:t>ARCHIVE</a:t>
            </a:r>
          </a:p>
        </p:txBody>
      </p:sp>
      <p:sp>
        <p:nvSpPr>
          <p:cNvPr id="27" name="">
            <a:extLst xmlns:a="http://schemas.openxmlformats.org/drawingml/2006/main">
              <a:ext uri="{FF2B5EF4-FFF2-40B4-BE49-F238E27FC236}">
                <a16:creationId xmlns:a16="http://schemas.microsoft.com/office/drawing/2014/main" id="{FC3DA888-F92A-407A-A61E-C405B3522C6D}"/>
              </a:ext>
            </a:extLst>
          </p:cNvPr>
          <p:cNvSpPr>
            <a:spLocks xmlns:a="http://schemas.openxmlformats.org/drawingml/2006/main" noGrp="1"/>
          </p:cNvSpPr>
          <p:nvPr/>
        </p:nvSpPr>
        <p:spPr>
          <a:xfrm xmlns:a="http://schemas.openxmlformats.org/drawingml/2006/main">
            <a:off x="9505950" y="4857750"/>
            <a:ext cx="171450" cy="28575"/>
          </a:xfrm>
          <a:prstGeom xmlns:a="http://schemas.openxmlformats.org/drawingml/2006/main" prst="rect">
            <a:avLst/>
          </a:prstGeom>
          <a:solidFill xmlns:a="http://schemas.openxmlformats.org/drawingml/2006/main">
            <a:srgbClr val="C96F52"/>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7BF43A5-25BF-4C3A-890F-7D5A3C4755E3}"/>
              </a:ext>
            </a:extLst>
          </p:cNvPr>
          <p:cNvSpPr>
            <a:spLocks xmlns:a="http://schemas.openxmlformats.org/drawingml/2006/main" noGrp="1"/>
          </p:cNvSpPr>
          <p:nvPr/>
        </p:nvSpPr>
        <p:spPr>
          <a:xfrm xmlns:a="http://schemas.openxmlformats.org/drawingml/2006/main">
            <a:off x="9791700" y="4752975"/>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172126"/>
                </a:solidFill>
              </a:defRPr>
            </a:pPr>
            <a:r>
              <a:rPr sz="975" b="1" i="0">
                <a:solidFill>
                  <a:srgbClr val="172126"/>
                </a:solidFill>
              </a:rPr>
              <a:t>ASSISTANT IA</a:t>
            </a:r>
          </a:p>
        </p:txBody>
      </p:sp>
      <p:sp>
        <p:nvSpPr>
          <p:cNvPr id="29" name="">
            <a:extLst xmlns:a="http://schemas.openxmlformats.org/drawingml/2006/main">
              <a:ext uri="{FF2B5EF4-FFF2-40B4-BE49-F238E27FC236}">
                <a16:creationId xmlns:a16="http://schemas.microsoft.com/office/drawing/2014/main" id="{E69A8F79-0AFB-4734-89F3-9439914CAF29}"/>
              </a:ext>
            </a:extLst>
          </p:cNvPr>
          <p:cNvSpPr>
            <a:spLocks xmlns:a="http://schemas.openxmlformats.org/drawingml/2006/main" noGrp="1"/>
          </p:cNvSpPr>
          <p:nvPr/>
        </p:nvSpPr>
        <p:spPr>
          <a:xfrm xmlns:a="http://schemas.openxmlformats.org/drawingml/2006/main">
            <a:off x="7581900" y="5438775"/>
            <a:ext cx="171450" cy="28575"/>
          </a:xfrm>
          <a:prstGeom xmlns:a="http://schemas.openxmlformats.org/drawingml/2006/main" prst="rect">
            <a:avLst/>
          </a:prstGeom>
          <a:solidFill xmlns:a="http://schemas.openxmlformats.org/drawingml/2006/main">
            <a:srgbClr val="477A86"/>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FC3755A9-6710-4271-A165-0672A2C619FC}"/>
              </a:ext>
            </a:extLst>
          </p:cNvPr>
          <p:cNvSpPr>
            <a:spLocks xmlns:a="http://schemas.openxmlformats.org/drawingml/2006/main" noGrp="1"/>
          </p:cNvSpPr>
          <p:nvPr/>
        </p:nvSpPr>
        <p:spPr>
          <a:xfrm xmlns:a="http://schemas.openxmlformats.org/drawingml/2006/main">
            <a:off x="7867650" y="5334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172126"/>
                </a:solidFill>
              </a:defRPr>
            </a:pPr>
            <a:r>
              <a:rPr sz="975" b="1" i="0">
                <a:solidFill>
                  <a:srgbClr val="172126"/>
                </a:solidFill>
              </a:rPr>
              <a:t>MULTI-DOSSIERS</a:t>
            </a:r>
          </a:p>
        </p:txBody>
      </p:sp>
      <p:sp>
        <p:nvSpPr>
          <p:cNvPr id="31" name="">
            <a:extLst xmlns:a="http://schemas.openxmlformats.org/drawingml/2006/main">
              <a:ext uri="{FF2B5EF4-FFF2-40B4-BE49-F238E27FC236}">
                <a16:creationId xmlns:a16="http://schemas.microsoft.com/office/drawing/2014/main" id="{3C05D900-D35E-450A-AB7F-B4E0E72A6F00}"/>
              </a:ext>
            </a:extLst>
          </p:cNvPr>
          <p:cNvSpPr>
            <a:spLocks xmlns:a="http://schemas.openxmlformats.org/drawingml/2006/main" noGrp="1"/>
          </p:cNvSpPr>
          <p:nvPr/>
        </p:nvSpPr>
        <p:spPr>
          <a:xfrm xmlns:a="http://schemas.openxmlformats.org/drawingml/2006/main">
            <a:off x="9505950" y="5438775"/>
            <a:ext cx="171450" cy="28575"/>
          </a:xfrm>
          <a:prstGeom xmlns:a="http://schemas.openxmlformats.org/drawingml/2006/main" prst="rect">
            <a:avLst/>
          </a:prstGeom>
          <a:solidFill xmlns:a="http://schemas.openxmlformats.org/drawingml/2006/main">
            <a:srgbClr val="6F8E7D"/>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1543E173-AADA-477A-B18B-BCAC6662F6BE}"/>
              </a:ext>
            </a:extLst>
          </p:cNvPr>
          <p:cNvSpPr>
            <a:spLocks xmlns:a="http://schemas.openxmlformats.org/drawingml/2006/main" noGrp="1"/>
          </p:cNvSpPr>
          <p:nvPr/>
        </p:nvSpPr>
        <p:spPr>
          <a:xfrm xmlns:a="http://schemas.openxmlformats.org/drawingml/2006/main">
            <a:off x="9791700" y="5334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75" b="1" i="0">
                <a:solidFill>
                  <a:srgbClr val="172126"/>
                </a:solidFill>
              </a:defRPr>
            </a:pPr>
            <a:r>
              <a:rPr sz="975" b="1" i="0">
                <a:solidFill>
                  <a:srgbClr val="172126"/>
                </a:solidFill>
              </a:rPr>
              <a:t>ÉQUIPE</a:t>
            </a:r>
          </a:p>
        </p:txBody>
      </p:sp>
      <p:sp>
        <p:nvSpPr>
          <p:cNvPr id="33" name="">
            <a:extLst xmlns:a="http://schemas.openxmlformats.org/drawingml/2006/main">
              <a:ext uri="{FF2B5EF4-FFF2-40B4-BE49-F238E27FC236}">
                <a16:creationId xmlns:a16="http://schemas.microsoft.com/office/drawing/2014/main" id="{DD33DC74-0985-4F4C-AFAE-A0907DE8EF64}"/>
              </a:ext>
            </a:extLst>
          </p:cNvPr>
          <p:cNvSpPr>
            <a:spLocks xmlns:a="http://schemas.openxmlformats.org/drawingml/2006/main" noGrp="1"/>
          </p:cNvSpPr>
          <p:nvPr/>
        </p:nvSpPr>
        <p:spPr>
          <a:xfrm xmlns:a="http://schemas.openxmlformats.org/drawingml/2006/main">
            <a:off x="7581900" y="6000750"/>
            <a:ext cx="3733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686C69"/>
                </a:solidFill>
              </a:defRPr>
            </a:pPr>
            <a:r>
              <a:rPr sz="1125" b="0" i="0">
                <a:solidFill>
                  <a:srgbClr val="686C69"/>
                </a:solidFill>
              </a:rPr>
              <a:t>Traction à documenter : clients payants · MRR · rétention · volume de documents.</a:t>
            </a:r>
          </a:p>
        </p:txBody>
      </p:sp>
    </p:spTree>
    <p:extLst>
      <p:ext uri="{BB962C8B-B14F-4D97-AF65-F5344CB8AC3E}">
        <p14:creationId xmlns:p14="http://schemas.microsoft.com/office/powerpoint/2010/main" val="1035304666"/>
      </p:ext>
    </p:extLst>
  </p:cSld>
</p:sld>
</file>

<file path=ppt/slides/slide13.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86597B90-811E-4DFC-A529-296927F7CB38}"/>
              </a:ext>
            </a:extLst>
          </p:cNvPr>
          <p:cNvSpPr>
            <a:spLocks xmlns:a="http://schemas.openxmlformats.org/drawingml/2006/main" noGrp="1"/>
          </p:cNvSpPr>
          <p:nvPr/>
        </p:nvSpPr>
        <p:spPr>
          <a:xfrm xmlns:a="http://schemas.openxmlformats.org/drawingml/2006/main">
            <a:off x="533400" y="285750"/>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686C69"/>
                </a:solidFill>
              </a:defRPr>
            </a:pPr>
            <a:r>
              <a:rPr sz="825" b="1" i="0">
                <a:solidFill>
                  <a:srgbClr val="686C69"/>
                </a:solidFill>
              </a:rPr>
              <a:t>PLAN SUR 12 MOIS</a:t>
            </a:r>
          </a:p>
        </p:txBody>
      </p:sp>
      <p:sp>
        <p:nvSpPr>
          <p:cNvPr id="2" name="">
            <a:extLst xmlns:a="http://schemas.openxmlformats.org/drawingml/2006/main">
              <a:ext uri="{FF2B5EF4-FFF2-40B4-BE49-F238E27FC236}">
                <a16:creationId xmlns:a16="http://schemas.microsoft.com/office/drawing/2014/main" id="{FFB4B5FA-94D6-430D-BE2E-4EBD0D49C157}"/>
              </a:ext>
            </a:extLst>
          </p:cNvPr>
          <p:cNvSpPr>
            <a:spLocks xmlns:a="http://schemas.openxmlformats.org/drawingml/2006/main" noGrp="1"/>
          </p:cNvSpPr>
          <p:nvPr/>
        </p:nvSpPr>
        <p:spPr>
          <a:xfrm xmlns:a="http://schemas.openxmlformats.org/drawingml/2006/main">
            <a:off x="11201400" y="2667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i="0">
                <a:solidFill>
                  <a:srgbClr val="686C69"/>
                </a:solidFill>
              </a:defRPr>
            </a:pPr>
            <a:r>
              <a:rPr sz="900" b="1" i="0">
                <a:solidFill>
                  <a:srgbClr val="686C69"/>
                </a:solidFill>
              </a:rPr>
              <a:t>13</a:t>
            </a:r>
          </a:p>
        </p:txBody>
      </p:sp>
      <p:sp>
        <p:nvSpPr>
          <p:cNvPr id="3" name="">
            <a:extLst xmlns:a="http://schemas.openxmlformats.org/drawingml/2006/main">
              <a:ext uri="{FF2B5EF4-FFF2-40B4-BE49-F238E27FC236}">
                <a16:creationId xmlns:a16="http://schemas.microsoft.com/office/drawing/2014/main" id="{C152D1B0-EC53-4EF5-A97D-5DB153ADC781}"/>
              </a:ext>
            </a:extLst>
          </p:cNvPr>
          <p:cNvSpPr>
            <a:spLocks xmlns:a="http://schemas.openxmlformats.org/drawingml/2006/main" noGrp="1"/>
          </p:cNvSpPr>
          <p:nvPr/>
        </p:nvSpPr>
        <p:spPr>
          <a:xfrm xmlns:a="http://schemas.openxmlformats.org/drawingml/2006/main">
            <a:off x="533400" y="552450"/>
            <a:ext cx="11125200" cy="9525"/>
          </a:xfrm>
          <a:prstGeom xmlns:a="http://schemas.openxmlformats.org/drawingml/2006/main" prst="rect">
            <a:avLst/>
          </a:prstGeom>
          <a:solidFill xmlns:a="http://schemas.openxmlformats.org/drawingml/2006/main">
            <a:srgbClr val="D8D0C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72558BC-AD17-4A31-9863-4EB66AE5D3CE}"/>
              </a:ext>
            </a:extLst>
          </p:cNvPr>
          <p:cNvSpPr>
            <a:spLocks xmlns:a="http://schemas.openxmlformats.org/drawingml/2006/main" noGrp="1"/>
          </p:cNvSpPr>
          <p:nvPr/>
        </p:nvSpPr>
        <p:spPr>
          <a:xfrm xmlns:a="http://schemas.openxmlformats.org/drawingml/2006/main">
            <a:off x="609600" y="8001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C96F52"/>
                </a:solidFill>
              </a:defRPr>
            </a:pPr>
            <a:r>
              <a:rPr sz="900" b="1" i="0">
                <a:solidFill>
                  <a:srgbClr val="C96F52"/>
                </a:solidFill>
              </a:rPr>
              <a:t>Valider le canal d’acquisition avant d’accélérer.</a:t>
            </a:r>
          </a:p>
        </p:txBody>
      </p:sp>
      <p:sp>
        <p:nvSpPr>
          <p:cNvPr id="5" name="">
            <a:extLst xmlns:a="http://schemas.openxmlformats.org/drawingml/2006/main">
              <a:ext uri="{FF2B5EF4-FFF2-40B4-BE49-F238E27FC236}">
                <a16:creationId xmlns:a16="http://schemas.microsoft.com/office/drawing/2014/main" id="{E54C44B8-5A7E-44FE-BE6D-7E25203AD307}"/>
              </a:ext>
            </a:extLst>
          </p:cNvPr>
          <p:cNvSpPr>
            <a:spLocks xmlns:a="http://schemas.openxmlformats.org/drawingml/2006/main" noGrp="1"/>
          </p:cNvSpPr>
          <p:nvPr/>
        </p:nvSpPr>
        <p:spPr>
          <a:xfrm xmlns:a="http://schemas.openxmlformats.org/drawingml/2006/main">
            <a:off x="609600" y="114300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225" b="1" i="0">
                <a:solidFill>
                  <a:srgbClr val="172126"/>
                </a:solidFill>
              </a:defRPr>
            </a:pPr>
            <a:r>
              <a:rPr sz="3225" b="1" i="0">
                <a:solidFill>
                  <a:srgbClr val="172126"/>
                </a:solidFill>
              </a:rPr>
              <a:t>Valider le canal, puis répéter la vente.</a:t>
            </a:r>
          </a:p>
        </p:txBody>
      </p:sp>
      <p:sp>
        <p:nvSpPr>
          <p:cNvPr id="6" name="">
            <a:extLst xmlns:a="http://schemas.openxmlformats.org/drawingml/2006/main">
              <a:ext uri="{FF2B5EF4-FFF2-40B4-BE49-F238E27FC236}">
                <a16:creationId xmlns:a16="http://schemas.microsoft.com/office/drawing/2014/main" id="{7DCFC204-79BC-494E-B332-8712E1A52D12}"/>
              </a:ext>
            </a:extLst>
          </p:cNvPr>
          <p:cNvSpPr>
            <a:spLocks xmlns:a="http://schemas.openxmlformats.org/drawingml/2006/main" noGrp="1"/>
          </p:cNvSpPr>
          <p:nvPr/>
        </p:nvSpPr>
        <p:spPr>
          <a:xfrm xmlns:a="http://schemas.openxmlformats.org/drawingml/2006/main">
            <a:off x="647700" y="2781300"/>
            <a:ext cx="3333750" cy="2914650"/>
          </a:xfrm>
          <a:prstGeom xmlns:a="http://schemas.openxmlformats.org/drawingml/2006/main" prst="roundRect">
            <a:avLst>
              <a:gd name="adj" fmla="val 654"/>
            </a:avLst>
          </a:prstGeom>
          <a:solidFill xmlns:a="http://schemas.openxmlformats.org/drawingml/2006/main">
            <a:srgbClr val="D9E8EA"/>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1A0D5DB-4ADF-49AA-8E93-8F51A97F5E9C}"/>
              </a:ext>
            </a:extLst>
          </p:cNvPr>
          <p:cNvSpPr>
            <a:spLocks xmlns:a="http://schemas.openxmlformats.org/drawingml/2006/main" noGrp="1"/>
          </p:cNvSpPr>
          <p:nvPr/>
        </p:nvSpPr>
        <p:spPr>
          <a:xfrm xmlns:a="http://schemas.openxmlformats.org/drawingml/2006/main">
            <a:off x="819150" y="2971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477A86"/>
                </a:solidFill>
              </a:defRPr>
            </a:pPr>
            <a:r>
              <a:rPr sz="900" b="1" i="0">
                <a:solidFill>
                  <a:srgbClr val="477A86"/>
                </a:solidFill>
              </a:rPr>
              <a:t>0—4 MOIS</a:t>
            </a:r>
          </a:p>
        </p:txBody>
      </p:sp>
      <p:sp>
        <p:nvSpPr>
          <p:cNvPr id="8" name="">
            <a:extLst xmlns:a="http://schemas.openxmlformats.org/drawingml/2006/main">
              <a:ext uri="{FF2B5EF4-FFF2-40B4-BE49-F238E27FC236}">
                <a16:creationId xmlns:a16="http://schemas.microsoft.com/office/drawing/2014/main" id="{C8EABE55-0195-4308-BEE5-57C2EC177FB3}"/>
              </a:ext>
            </a:extLst>
          </p:cNvPr>
          <p:cNvSpPr>
            <a:spLocks xmlns:a="http://schemas.openxmlformats.org/drawingml/2006/main" noGrp="1"/>
          </p:cNvSpPr>
          <p:nvPr/>
        </p:nvSpPr>
        <p:spPr>
          <a:xfrm xmlns:a="http://schemas.openxmlformats.org/drawingml/2006/main">
            <a:off x="819150" y="337185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i="0">
                <a:solidFill>
                  <a:srgbClr val="172126"/>
                </a:solidFill>
              </a:defRPr>
            </a:pPr>
            <a:r>
              <a:rPr sz="1875" b="1" i="0">
                <a:solidFill>
                  <a:srgbClr val="172126"/>
                </a:solidFill>
              </a:rPr>
              <a:t>PROUVER</a:t>
            </a:r>
          </a:p>
        </p:txBody>
      </p:sp>
      <p:sp>
        <p:nvSpPr>
          <p:cNvPr id="9" name="">
            <a:extLst xmlns:a="http://schemas.openxmlformats.org/drawingml/2006/main">
              <a:ext uri="{FF2B5EF4-FFF2-40B4-BE49-F238E27FC236}">
                <a16:creationId xmlns:a16="http://schemas.microsoft.com/office/drawing/2014/main" id="{12802C75-6C68-4C7B-B350-A608C3266040}"/>
              </a:ext>
            </a:extLst>
          </p:cNvPr>
          <p:cNvSpPr>
            <a:spLocks xmlns:a="http://schemas.openxmlformats.org/drawingml/2006/main" noGrp="1"/>
          </p:cNvSpPr>
          <p:nvPr/>
        </p:nvSpPr>
        <p:spPr>
          <a:xfrm xmlns:a="http://schemas.openxmlformats.org/drawingml/2006/main">
            <a:off x="819150" y="3895725"/>
            <a:ext cx="2914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i="0">
                <a:solidFill>
                  <a:srgbClr val="172126"/>
                </a:solidFill>
              </a:defRPr>
            </a:pPr>
            <a:r>
              <a:rPr sz="1200" b="0" i="0">
                <a:solidFill>
                  <a:srgbClr val="172126"/>
                </a:solidFill>
              </a:rPr>
              <a:t>Mesurer le passage de l’essai à l’abonnement</a:t>
            </a:r>
          </a:p>
        </p:txBody>
      </p:sp>
      <p:sp>
        <p:nvSpPr>
          <p:cNvPr id="10" name="">
            <a:extLst xmlns:a="http://schemas.openxmlformats.org/drawingml/2006/main">
              <a:ext uri="{FF2B5EF4-FFF2-40B4-BE49-F238E27FC236}">
                <a16:creationId xmlns:a16="http://schemas.microsoft.com/office/drawing/2014/main" id="{F31230E5-85FA-4CEE-97A5-BDB9EEF39DCA}"/>
              </a:ext>
            </a:extLst>
          </p:cNvPr>
          <p:cNvSpPr>
            <a:spLocks xmlns:a="http://schemas.openxmlformats.org/drawingml/2006/main" noGrp="1"/>
          </p:cNvSpPr>
          <p:nvPr/>
        </p:nvSpPr>
        <p:spPr>
          <a:xfrm xmlns:a="http://schemas.openxmlformats.org/drawingml/2006/main">
            <a:off x="819150" y="4762500"/>
            <a:ext cx="152400" cy="19050"/>
          </a:xfrm>
          <a:prstGeom xmlns:a="http://schemas.openxmlformats.org/drawingml/2006/main" prst="rect">
            <a:avLst/>
          </a:prstGeom>
          <a:solidFill xmlns:a="http://schemas.openxmlformats.org/drawingml/2006/main">
            <a:srgbClr val="477A86"/>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DC3AFF14-8C94-4B89-B71E-61C7C01D130B}"/>
              </a:ext>
            </a:extLst>
          </p:cNvPr>
          <p:cNvSpPr>
            <a:spLocks xmlns:a="http://schemas.openxmlformats.org/drawingml/2006/main" noGrp="1"/>
          </p:cNvSpPr>
          <p:nvPr/>
        </p:nvSpPr>
        <p:spPr>
          <a:xfrm xmlns:a="http://schemas.openxmlformats.org/drawingml/2006/main">
            <a:off x="1085850" y="46767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686C69"/>
                </a:solidFill>
              </a:defRPr>
            </a:pPr>
            <a:r>
              <a:rPr sz="1050" b="1" i="0">
                <a:solidFill>
                  <a:srgbClr val="686C69"/>
                </a:solidFill>
              </a:rPr>
              <a:t>Suivre activation et MRR</a:t>
            </a:r>
          </a:p>
        </p:txBody>
      </p:sp>
      <p:sp>
        <p:nvSpPr>
          <p:cNvPr id="12" name="">
            <a:extLst xmlns:a="http://schemas.openxmlformats.org/drawingml/2006/main">
              <a:ext uri="{FF2B5EF4-FFF2-40B4-BE49-F238E27FC236}">
                <a16:creationId xmlns:a16="http://schemas.microsoft.com/office/drawing/2014/main" id="{6A1678DA-E149-4C05-AC10-FCB3CC51BEA0}"/>
              </a:ext>
            </a:extLst>
          </p:cNvPr>
          <p:cNvSpPr>
            <a:spLocks xmlns:a="http://schemas.openxmlformats.org/drawingml/2006/main" noGrp="1"/>
          </p:cNvSpPr>
          <p:nvPr/>
        </p:nvSpPr>
        <p:spPr>
          <a:xfrm xmlns:a="http://schemas.openxmlformats.org/drawingml/2006/main">
            <a:off x="819150" y="5038725"/>
            <a:ext cx="152400" cy="19050"/>
          </a:xfrm>
          <a:prstGeom xmlns:a="http://schemas.openxmlformats.org/drawingml/2006/main" prst="rect">
            <a:avLst/>
          </a:prstGeom>
          <a:solidFill xmlns:a="http://schemas.openxmlformats.org/drawingml/2006/main">
            <a:srgbClr val="477A8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9A38781-EE31-423A-9A04-241F8F4B7571}"/>
              </a:ext>
            </a:extLst>
          </p:cNvPr>
          <p:cNvSpPr>
            <a:spLocks xmlns:a="http://schemas.openxmlformats.org/drawingml/2006/main" noGrp="1"/>
          </p:cNvSpPr>
          <p:nvPr/>
        </p:nvSpPr>
        <p:spPr>
          <a:xfrm xmlns:a="http://schemas.openxmlformats.org/drawingml/2006/main">
            <a:off x="1085850" y="49530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686C69"/>
                </a:solidFill>
              </a:defRPr>
            </a:pPr>
            <a:r>
              <a:rPr sz="1050" b="1" i="0">
                <a:solidFill>
                  <a:srgbClr val="686C69"/>
                </a:solidFill>
              </a:rPr>
              <a:t>Accompagner les premiers clients</a:t>
            </a:r>
          </a:p>
        </p:txBody>
      </p:sp>
      <p:sp>
        <p:nvSpPr>
          <p:cNvPr id="14" name="">
            <a:extLst xmlns:a="http://schemas.openxmlformats.org/drawingml/2006/main">
              <a:ext uri="{FF2B5EF4-FFF2-40B4-BE49-F238E27FC236}">
                <a16:creationId xmlns:a16="http://schemas.microsoft.com/office/drawing/2014/main" id="{67B2FE39-499A-42AC-A8D2-26E462D3C353}"/>
              </a:ext>
            </a:extLst>
          </p:cNvPr>
          <p:cNvSpPr>
            <a:spLocks xmlns:a="http://schemas.openxmlformats.org/drawingml/2006/main" noGrp="1"/>
          </p:cNvSpPr>
          <p:nvPr/>
        </p:nvSpPr>
        <p:spPr>
          <a:xfrm xmlns:a="http://schemas.openxmlformats.org/drawingml/2006/main">
            <a:off x="819150" y="5314950"/>
            <a:ext cx="152400" cy="19050"/>
          </a:xfrm>
          <a:prstGeom xmlns:a="http://schemas.openxmlformats.org/drawingml/2006/main" prst="rect">
            <a:avLst/>
          </a:prstGeom>
          <a:solidFill xmlns:a="http://schemas.openxmlformats.org/drawingml/2006/main">
            <a:srgbClr val="477A86"/>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8E16E64-28B0-4210-BB55-5C126F4FD168}"/>
              </a:ext>
            </a:extLst>
          </p:cNvPr>
          <p:cNvSpPr>
            <a:spLocks xmlns:a="http://schemas.openxmlformats.org/drawingml/2006/main" noGrp="1"/>
          </p:cNvSpPr>
          <p:nvPr/>
        </p:nvSpPr>
        <p:spPr>
          <a:xfrm xmlns:a="http://schemas.openxmlformats.org/drawingml/2006/main">
            <a:off x="1085850" y="522922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686C69"/>
                </a:solidFill>
              </a:defRPr>
            </a:pPr>
            <a:r>
              <a:rPr sz="1050" b="1" i="0">
                <a:solidFill>
                  <a:srgbClr val="686C69"/>
                </a:solidFill>
              </a:rPr>
              <a:t>10 cabinets pilotes (objectif)</a:t>
            </a:r>
          </a:p>
        </p:txBody>
      </p:sp>
      <p:sp>
        <p:nvSpPr>
          <p:cNvPr id="16" name="">
            <a:extLst xmlns:a="http://schemas.openxmlformats.org/drawingml/2006/main">
              <a:ext uri="{FF2B5EF4-FFF2-40B4-BE49-F238E27FC236}">
                <a16:creationId xmlns:a16="http://schemas.microsoft.com/office/drawing/2014/main" id="{12714125-2A06-44E2-9A4A-FE538A4D5E06}"/>
              </a:ext>
            </a:extLst>
          </p:cNvPr>
          <p:cNvSpPr>
            <a:spLocks xmlns:a="http://schemas.openxmlformats.org/drawingml/2006/main" noGrp="1"/>
          </p:cNvSpPr>
          <p:nvPr/>
        </p:nvSpPr>
        <p:spPr>
          <a:xfrm xmlns:a="http://schemas.openxmlformats.org/drawingml/2006/main">
            <a:off x="4362450" y="2781300"/>
            <a:ext cx="3333750" cy="2914650"/>
          </a:xfrm>
          <a:prstGeom xmlns:a="http://schemas.openxmlformats.org/drawingml/2006/main" prst="roundRect">
            <a:avLst>
              <a:gd name="adj" fmla="val 654"/>
            </a:avLst>
          </a:prstGeom>
          <a:solidFill xmlns:a="http://schemas.openxmlformats.org/drawingml/2006/main">
            <a:srgbClr val="F4DED2"/>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0E1F8451-8484-4876-A993-4BF14CCD625F}"/>
              </a:ext>
            </a:extLst>
          </p:cNvPr>
          <p:cNvSpPr>
            <a:spLocks xmlns:a="http://schemas.openxmlformats.org/drawingml/2006/main" noGrp="1"/>
          </p:cNvSpPr>
          <p:nvPr/>
        </p:nvSpPr>
        <p:spPr>
          <a:xfrm xmlns:a="http://schemas.openxmlformats.org/drawingml/2006/main">
            <a:off x="4533900" y="2971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C96F52"/>
                </a:solidFill>
              </a:defRPr>
            </a:pPr>
            <a:r>
              <a:rPr sz="900" b="1" i="0">
                <a:solidFill>
                  <a:srgbClr val="C96F52"/>
                </a:solidFill>
              </a:rPr>
              <a:t>4—8 MOIS</a:t>
            </a:r>
          </a:p>
        </p:txBody>
      </p:sp>
      <p:sp>
        <p:nvSpPr>
          <p:cNvPr id="18" name="">
            <a:extLst xmlns:a="http://schemas.openxmlformats.org/drawingml/2006/main">
              <a:ext uri="{FF2B5EF4-FFF2-40B4-BE49-F238E27FC236}">
                <a16:creationId xmlns:a16="http://schemas.microsoft.com/office/drawing/2014/main" id="{BE1CF1F2-FF19-4E8F-AFEB-79E1A80E779C}"/>
              </a:ext>
            </a:extLst>
          </p:cNvPr>
          <p:cNvSpPr>
            <a:spLocks xmlns:a="http://schemas.openxmlformats.org/drawingml/2006/main" noGrp="1"/>
          </p:cNvSpPr>
          <p:nvPr/>
        </p:nvSpPr>
        <p:spPr>
          <a:xfrm xmlns:a="http://schemas.openxmlformats.org/drawingml/2006/main">
            <a:off x="4533900" y="337185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i="0">
                <a:solidFill>
                  <a:srgbClr val="172126"/>
                </a:solidFill>
              </a:defRPr>
            </a:pPr>
            <a:r>
              <a:rPr sz="1875" b="1" i="0">
                <a:solidFill>
                  <a:srgbClr val="172126"/>
                </a:solidFill>
              </a:rPr>
              <a:t>RÉPÉTER</a:t>
            </a:r>
          </a:p>
        </p:txBody>
      </p:sp>
      <p:sp>
        <p:nvSpPr>
          <p:cNvPr id="19" name="">
            <a:extLst xmlns:a="http://schemas.openxmlformats.org/drawingml/2006/main">
              <a:ext uri="{FF2B5EF4-FFF2-40B4-BE49-F238E27FC236}">
                <a16:creationId xmlns:a16="http://schemas.microsoft.com/office/drawing/2014/main" id="{BE1777B4-D507-4DC8-86F1-7D42D92CC9E6}"/>
              </a:ext>
            </a:extLst>
          </p:cNvPr>
          <p:cNvSpPr>
            <a:spLocks xmlns:a="http://schemas.openxmlformats.org/drawingml/2006/main" noGrp="1"/>
          </p:cNvSpPr>
          <p:nvPr/>
        </p:nvSpPr>
        <p:spPr>
          <a:xfrm xmlns:a="http://schemas.openxmlformats.org/drawingml/2006/main">
            <a:off x="4533900" y="3895725"/>
            <a:ext cx="2914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i="0">
                <a:solidFill>
                  <a:srgbClr val="172126"/>
                </a:solidFill>
              </a:defRPr>
            </a:pPr>
            <a:r>
              <a:rPr sz="1200" b="0" i="0">
                <a:solidFill>
                  <a:srgbClr val="172126"/>
                </a:solidFill>
              </a:rPr>
              <a:t>Rendre l’intégration client reproductible</a:t>
            </a:r>
          </a:p>
        </p:txBody>
      </p:sp>
      <p:sp>
        <p:nvSpPr>
          <p:cNvPr id="20" name="">
            <a:extLst xmlns:a="http://schemas.openxmlformats.org/drawingml/2006/main">
              <a:ext uri="{FF2B5EF4-FFF2-40B4-BE49-F238E27FC236}">
                <a16:creationId xmlns:a16="http://schemas.microsoft.com/office/drawing/2014/main" id="{E9B01D49-7C30-451C-B0A8-E67A7C92EDE4}"/>
              </a:ext>
            </a:extLst>
          </p:cNvPr>
          <p:cNvSpPr>
            <a:spLocks xmlns:a="http://schemas.openxmlformats.org/drawingml/2006/main" noGrp="1"/>
          </p:cNvSpPr>
          <p:nvPr/>
        </p:nvSpPr>
        <p:spPr>
          <a:xfrm xmlns:a="http://schemas.openxmlformats.org/drawingml/2006/main">
            <a:off x="4533900" y="4762500"/>
            <a:ext cx="152400" cy="19050"/>
          </a:xfrm>
          <a:prstGeom xmlns:a="http://schemas.openxmlformats.org/drawingml/2006/main" prst="rect">
            <a:avLst/>
          </a:prstGeom>
          <a:solidFill xmlns:a="http://schemas.openxmlformats.org/drawingml/2006/main">
            <a:srgbClr val="C96F52"/>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F01B8B3F-FDEF-4480-9F06-A0828B9D02E2}"/>
              </a:ext>
            </a:extLst>
          </p:cNvPr>
          <p:cNvSpPr>
            <a:spLocks xmlns:a="http://schemas.openxmlformats.org/drawingml/2006/main" noGrp="1"/>
          </p:cNvSpPr>
          <p:nvPr/>
        </p:nvSpPr>
        <p:spPr>
          <a:xfrm xmlns:a="http://schemas.openxmlformats.org/drawingml/2006/main">
            <a:off x="4800600" y="46767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686C69"/>
                </a:solidFill>
              </a:defRPr>
            </a:pPr>
            <a:r>
              <a:rPr sz="1050" b="1" i="0">
                <a:solidFill>
                  <a:srgbClr val="686C69"/>
                </a:solidFill>
              </a:rPr>
              <a:t>Guides d’import</a:t>
            </a:r>
          </a:p>
        </p:txBody>
      </p:sp>
      <p:sp>
        <p:nvSpPr>
          <p:cNvPr id="22" name="">
            <a:extLst xmlns:a="http://schemas.openxmlformats.org/drawingml/2006/main">
              <a:ext uri="{FF2B5EF4-FFF2-40B4-BE49-F238E27FC236}">
                <a16:creationId xmlns:a16="http://schemas.microsoft.com/office/drawing/2014/main" id="{3724C011-6A22-4B69-80F5-C193421CF85C}"/>
              </a:ext>
            </a:extLst>
          </p:cNvPr>
          <p:cNvSpPr>
            <a:spLocks xmlns:a="http://schemas.openxmlformats.org/drawingml/2006/main" noGrp="1"/>
          </p:cNvSpPr>
          <p:nvPr/>
        </p:nvSpPr>
        <p:spPr>
          <a:xfrm xmlns:a="http://schemas.openxmlformats.org/drawingml/2006/main">
            <a:off x="4533900" y="5038725"/>
            <a:ext cx="152400" cy="19050"/>
          </a:xfrm>
          <a:prstGeom xmlns:a="http://schemas.openxmlformats.org/drawingml/2006/main" prst="rect">
            <a:avLst/>
          </a:prstGeom>
          <a:solidFill xmlns:a="http://schemas.openxmlformats.org/drawingml/2006/main">
            <a:srgbClr val="C96F52"/>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5A1ED42-546A-402A-9768-90E239C0FDA3}"/>
              </a:ext>
            </a:extLst>
          </p:cNvPr>
          <p:cNvSpPr>
            <a:spLocks xmlns:a="http://schemas.openxmlformats.org/drawingml/2006/main" noGrp="1"/>
          </p:cNvSpPr>
          <p:nvPr/>
        </p:nvSpPr>
        <p:spPr>
          <a:xfrm xmlns:a="http://schemas.openxmlformats.org/drawingml/2006/main">
            <a:off x="4800600" y="49530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686C69"/>
                </a:solidFill>
              </a:defRPr>
            </a:pPr>
            <a:r>
              <a:rPr sz="1050" b="1" i="0">
                <a:solidFill>
                  <a:srgbClr val="686C69"/>
                </a:solidFill>
              </a:rPr>
              <a:t>Accompagnement des cabinets</a:t>
            </a:r>
          </a:p>
        </p:txBody>
      </p:sp>
      <p:sp>
        <p:nvSpPr>
          <p:cNvPr id="24" name="">
            <a:extLst xmlns:a="http://schemas.openxmlformats.org/drawingml/2006/main">
              <a:ext uri="{FF2B5EF4-FFF2-40B4-BE49-F238E27FC236}">
                <a16:creationId xmlns:a16="http://schemas.microsoft.com/office/drawing/2014/main" id="{4DA896D1-ECDA-458B-A1C0-ABEF1B92370A}"/>
              </a:ext>
            </a:extLst>
          </p:cNvPr>
          <p:cNvSpPr>
            <a:spLocks xmlns:a="http://schemas.openxmlformats.org/drawingml/2006/main" noGrp="1"/>
          </p:cNvSpPr>
          <p:nvPr/>
        </p:nvSpPr>
        <p:spPr>
          <a:xfrm xmlns:a="http://schemas.openxmlformats.org/drawingml/2006/main">
            <a:off x="4533900" y="5314950"/>
            <a:ext cx="152400" cy="19050"/>
          </a:xfrm>
          <a:prstGeom xmlns:a="http://schemas.openxmlformats.org/drawingml/2006/main" prst="rect">
            <a:avLst/>
          </a:prstGeom>
          <a:solidFill xmlns:a="http://schemas.openxmlformats.org/drawingml/2006/main">
            <a:srgbClr val="C96F52"/>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4841EFA-723F-4625-8E70-63E73934A081}"/>
              </a:ext>
            </a:extLst>
          </p:cNvPr>
          <p:cNvSpPr>
            <a:spLocks xmlns:a="http://schemas.openxmlformats.org/drawingml/2006/main" noGrp="1"/>
          </p:cNvSpPr>
          <p:nvPr/>
        </p:nvSpPr>
        <p:spPr>
          <a:xfrm xmlns:a="http://schemas.openxmlformats.org/drawingml/2006/main">
            <a:off x="4800600" y="522922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686C69"/>
                </a:solidFill>
              </a:defRPr>
            </a:pPr>
            <a:r>
              <a:rPr sz="1050" b="1" i="0">
                <a:solidFill>
                  <a:srgbClr val="686C69"/>
                </a:solidFill>
              </a:rPr>
              <a:t>Suivre rétention et extensions</a:t>
            </a:r>
          </a:p>
        </p:txBody>
      </p:sp>
      <p:sp>
        <p:nvSpPr>
          <p:cNvPr id="26" name="">
            <a:extLst xmlns:a="http://schemas.openxmlformats.org/drawingml/2006/main">
              <a:ext uri="{FF2B5EF4-FFF2-40B4-BE49-F238E27FC236}">
                <a16:creationId xmlns:a16="http://schemas.microsoft.com/office/drawing/2014/main" id="{7E4D429B-12AC-4DD7-812F-2C2921B360A1}"/>
              </a:ext>
            </a:extLst>
          </p:cNvPr>
          <p:cNvSpPr>
            <a:spLocks xmlns:a="http://schemas.openxmlformats.org/drawingml/2006/main" noGrp="1"/>
          </p:cNvSpPr>
          <p:nvPr/>
        </p:nvSpPr>
        <p:spPr>
          <a:xfrm xmlns:a="http://schemas.openxmlformats.org/drawingml/2006/main">
            <a:off x="8077200" y="2781300"/>
            <a:ext cx="3333750" cy="2914650"/>
          </a:xfrm>
          <a:prstGeom xmlns:a="http://schemas.openxmlformats.org/drawingml/2006/main" prst="roundRect">
            <a:avLst>
              <a:gd name="adj" fmla="val 654"/>
            </a:avLst>
          </a:prstGeom>
          <a:solidFill xmlns:a="http://schemas.openxmlformats.org/drawingml/2006/main">
            <a:srgbClr val="DDE8D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7BA3B9B1-0E72-4654-9F9F-17A6E2813994}"/>
              </a:ext>
            </a:extLst>
          </p:cNvPr>
          <p:cNvSpPr>
            <a:spLocks xmlns:a="http://schemas.openxmlformats.org/drawingml/2006/main" noGrp="1"/>
          </p:cNvSpPr>
          <p:nvPr/>
        </p:nvSpPr>
        <p:spPr>
          <a:xfrm xmlns:a="http://schemas.openxmlformats.org/drawingml/2006/main">
            <a:off x="8248650" y="297180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6F8E7D"/>
                </a:solidFill>
              </a:defRPr>
            </a:pPr>
            <a:r>
              <a:rPr sz="900" b="1" i="0">
                <a:solidFill>
                  <a:srgbClr val="6F8E7D"/>
                </a:solidFill>
              </a:rPr>
              <a:t>8—12 MOIS</a:t>
            </a:r>
          </a:p>
        </p:txBody>
      </p:sp>
      <p:sp>
        <p:nvSpPr>
          <p:cNvPr id="28" name="">
            <a:extLst xmlns:a="http://schemas.openxmlformats.org/drawingml/2006/main">
              <a:ext uri="{FF2B5EF4-FFF2-40B4-BE49-F238E27FC236}">
                <a16:creationId xmlns:a16="http://schemas.microsoft.com/office/drawing/2014/main" id="{EC1F5512-1DF0-47A9-814B-F7FCF5BE0A3C}"/>
              </a:ext>
            </a:extLst>
          </p:cNvPr>
          <p:cNvSpPr>
            <a:spLocks xmlns:a="http://schemas.openxmlformats.org/drawingml/2006/main" noGrp="1"/>
          </p:cNvSpPr>
          <p:nvPr/>
        </p:nvSpPr>
        <p:spPr>
          <a:xfrm xmlns:a="http://schemas.openxmlformats.org/drawingml/2006/main">
            <a:off x="8248650" y="337185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875" b="1" i="0">
                <a:solidFill>
                  <a:srgbClr val="172126"/>
                </a:solidFill>
              </a:defRPr>
            </a:pPr>
            <a:r>
              <a:rPr sz="1875" b="1" i="0">
                <a:solidFill>
                  <a:srgbClr val="172126"/>
                </a:solidFill>
              </a:rPr>
              <a:t>ACCÉLÉRER</a:t>
            </a:r>
          </a:p>
        </p:txBody>
      </p:sp>
      <p:sp>
        <p:nvSpPr>
          <p:cNvPr id="29" name="">
            <a:extLst xmlns:a="http://schemas.openxmlformats.org/drawingml/2006/main">
              <a:ext uri="{FF2B5EF4-FFF2-40B4-BE49-F238E27FC236}">
                <a16:creationId xmlns:a16="http://schemas.microsoft.com/office/drawing/2014/main" id="{3B4EC365-298B-41D6-B599-C0676873F599}"/>
              </a:ext>
            </a:extLst>
          </p:cNvPr>
          <p:cNvSpPr>
            <a:spLocks xmlns:a="http://schemas.openxmlformats.org/drawingml/2006/main" noGrp="1"/>
          </p:cNvSpPr>
          <p:nvPr/>
        </p:nvSpPr>
        <p:spPr>
          <a:xfrm xmlns:a="http://schemas.openxmlformats.org/drawingml/2006/main">
            <a:off x="8248650" y="3895725"/>
            <a:ext cx="29146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0" i="0">
                <a:solidFill>
                  <a:srgbClr val="172126"/>
                </a:solidFill>
              </a:defRPr>
            </a:pPr>
            <a:r>
              <a:rPr sz="1200" b="0" i="0">
                <a:solidFill>
                  <a:srgbClr val="172126"/>
                </a:solidFill>
              </a:rPr>
              <a:t>Renforcer les canaux qui convertissent</a:t>
            </a:r>
          </a:p>
        </p:txBody>
      </p:sp>
      <p:sp>
        <p:nvSpPr>
          <p:cNvPr id="30" name="">
            <a:extLst xmlns:a="http://schemas.openxmlformats.org/drawingml/2006/main">
              <a:ext uri="{FF2B5EF4-FFF2-40B4-BE49-F238E27FC236}">
                <a16:creationId xmlns:a16="http://schemas.microsoft.com/office/drawing/2014/main" id="{BB9CCA2E-063F-4CAD-8D8A-7FE321A37164}"/>
              </a:ext>
            </a:extLst>
          </p:cNvPr>
          <p:cNvSpPr>
            <a:spLocks xmlns:a="http://schemas.openxmlformats.org/drawingml/2006/main" noGrp="1"/>
          </p:cNvSpPr>
          <p:nvPr/>
        </p:nvSpPr>
        <p:spPr>
          <a:xfrm xmlns:a="http://schemas.openxmlformats.org/drawingml/2006/main">
            <a:off x="8248650" y="4762500"/>
            <a:ext cx="152400" cy="19050"/>
          </a:xfrm>
          <a:prstGeom xmlns:a="http://schemas.openxmlformats.org/drawingml/2006/main" prst="rect">
            <a:avLst/>
          </a:prstGeom>
          <a:solidFill xmlns:a="http://schemas.openxmlformats.org/drawingml/2006/main">
            <a:srgbClr val="6F8E7D"/>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DBE3C7B5-0A28-49B7-96C6-925CB4149E4B}"/>
              </a:ext>
            </a:extLst>
          </p:cNvPr>
          <p:cNvSpPr>
            <a:spLocks xmlns:a="http://schemas.openxmlformats.org/drawingml/2006/main" noGrp="1"/>
          </p:cNvSpPr>
          <p:nvPr/>
        </p:nvSpPr>
        <p:spPr>
          <a:xfrm xmlns:a="http://schemas.openxmlformats.org/drawingml/2006/main">
            <a:off x="8515350" y="467677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686C69"/>
                </a:solidFill>
              </a:defRPr>
            </a:pPr>
            <a:r>
              <a:rPr sz="1050" b="1" i="0">
                <a:solidFill>
                  <a:srgbClr val="686C69"/>
                </a:solidFill>
              </a:rPr>
              <a:t>Vente et support client</a:t>
            </a:r>
          </a:p>
        </p:txBody>
      </p:sp>
      <p:sp>
        <p:nvSpPr>
          <p:cNvPr id="32" name="">
            <a:extLst xmlns:a="http://schemas.openxmlformats.org/drawingml/2006/main">
              <a:ext uri="{FF2B5EF4-FFF2-40B4-BE49-F238E27FC236}">
                <a16:creationId xmlns:a16="http://schemas.microsoft.com/office/drawing/2014/main" id="{0BE8BD50-EC31-4C9D-A2A1-A70B90A0C987}"/>
              </a:ext>
            </a:extLst>
          </p:cNvPr>
          <p:cNvSpPr>
            <a:spLocks xmlns:a="http://schemas.openxmlformats.org/drawingml/2006/main" noGrp="1"/>
          </p:cNvSpPr>
          <p:nvPr/>
        </p:nvSpPr>
        <p:spPr>
          <a:xfrm xmlns:a="http://schemas.openxmlformats.org/drawingml/2006/main">
            <a:off x="8248650" y="5038725"/>
            <a:ext cx="152400" cy="19050"/>
          </a:xfrm>
          <a:prstGeom xmlns:a="http://schemas.openxmlformats.org/drawingml/2006/main" prst="rect">
            <a:avLst/>
          </a:prstGeom>
          <a:solidFill xmlns:a="http://schemas.openxmlformats.org/drawingml/2006/main">
            <a:srgbClr val="6F8E7D"/>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50CD2B58-96A8-477C-83C9-10EDEC068836}"/>
              </a:ext>
            </a:extLst>
          </p:cNvPr>
          <p:cNvSpPr>
            <a:spLocks xmlns:a="http://schemas.openxmlformats.org/drawingml/2006/main" noGrp="1"/>
          </p:cNvSpPr>
          <p:nvPr/>
        </p:nvSpPr>
        <p:spPr>
          <a:xfrm xmlns:a="http://schemas.openxmlformats.org/drawingml/2006/main">
            <a:off x="8515350" y="49530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686C69"/>
                </a:solidFill>
              </a:defRPr>
            </a:pPr>
            <a:r>
              <a:rPr sz="1050" b="1" i="0">
                <a:solidFill>
                  <a:srgbClr val="686C69"/>
                </a:solidFill>
              </a:rPr>
              <a:t>Fiabilité et conformité</a:t>
            </a:r>
          </a:p>
        </p:txBody>
      </p:sp>
      <p:sp>
        <p:nvSpPr>
          <p:cNvPr id="34" name="">
            <a:extLst xmlns:a="http://schemas.openxmlformats.org/drawingml/2006/main">
              <a:ext uri="{FF2B5EF4-FFF2-40B4-BE49-F238E27FC236}">
                <a16:creationId xmlns:a16="http://schemas.microsoft.com/office/drawing/2014/main" id="{C1DFB16F-6228-49DC-BCDE-AAFBC2FEA5B8}"/>
              </a:ext>
            </a:extLst>
          </p:cNvPr>
          <p:cNvSpPr>
            <a:spLocks xmlns:a="http://schemas.openxmlformats.org/drawingml/2006/main" noGrp="1"/>
          </p:cNvSpPr>
          <p:nvPr/>
        </p:nvSpPr>
        <p:spPr>
          <a:xfrm xmlns:a="http://schemas.openxmlformats.org/drawingml/2006/main">
            <a:off x="8248650" y="5314950"/>
            <a:ext cx="152400" cy="19050"/>
          </a:xfrm>
          <a:prstGeom xmlns:a="http://schemas.openxmlformats.org/drawingml/2006/main" prst="rect">
            <a:avLst/>
          </a:prstGeom>
          <a:solidFill xmlns:a="http://schemas.openxmlformats.org/drawingml/2006/main">
            <a:srgbClr val="6F8E7D"/>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109E15F1-1FB1-48E1-BC80-A0EC3E69F987}"/>
              </a:ext>
            </a:extLst>
          </p:cNvPr>
          <p:cNvSpPr>
            <a:spLocks xmlns:a="http://schemas.openxmlformats.org/drawingml/2006/main" noGrp="1"/>
          </p:cNvSpPr>
          <p:nvPr/>
        </p:nvSpPr>
        <p:spPr>
          <a:xfrm xmlns:a="http://schemas.openxmlformats.org/drawingml/2006/main">
            <a:off x="8515350" y="5229225"/>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686C69"/>
                </a:solidFill>
              </a:defRPr>
            </a:pPr>
            <a:r>
              <a:rPr sz="1050" b="1" i="0">
                <a:solidFill>
                  <a:srgbClr val="686C69"/>
                </a:solidFill>
              </a:rPr>
              <a:t>Préparer l’extension régionale</a:t>
            </a:r>
          </a:p>
        </p:txBody>
      </p:sp>
    </p:spTree>
    <p:extLst>
      <p:ext uri="{BB962C8B-B14F-4D97-AF65-F5344CB8AC3E}">
        <p14:creationId xmlns:p14="http://schemas.microsoft.com/office/powerpoint/2010/main" val="1345438820"/>
      </p:ext>
    </p:extLst>
  </p:cSld>
</p:sld>
</file>

<file path=ppt/slides/slide14.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1E16824-0C80-496B-A755-9CC937A22EAC}"/>
              </a:ext>
            </a:extLst>
          </p:cNvPr>
          <p:cNvSpPr>
            <a:spLocks xmlns:a="http://schemas.openxmlformats.org/drawingml/2006/main" noGrp="1"/>
          </p:cNvSpPr>
          <p:nvPr/>
        </p:nvSpPr>
        <p:spPr>
          <a:xfrm xmlns:a="http://schemas.openxmlformats.org/drawingml/2006/main">
            <a:off x="533400" y="285750"/>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686C69"/>
                </a:solidFill>
              </a:defRPr>
            </a:pPr>
            <a:r>
              <a:rPr sz="825" b="1" i="0">
                <a:solidFill>
                  <a:srgbClr val="686C69"/>
                </a:solidFill>
              </a:rPr>
              <a:t>ÉQUIPE ET LEVÉE</a:t>
            </a:r>
          </a:p>
        </p:txBody>
      </p:sp>
      <p:sp>
        <p:nvSpPr>
          <p:cNvPr id="2" name="">
            <a:extLst xmlns:a="http://schemas.openxmlformats.org/drawingml/2006/main">
              <a:ext uri="{FF2B5EF4-FFF2-40B4-BE49-F238E27FC236}">
                <a16:creationId xmlns:a16="http://schemas.microsoft.com/office/drawing/2014/main" id="{276FCB6E-6690-4B23-831A-B0D3B9BA8F09}"/>
              </a:ext>
            </a:extLst>
          </p:cNvPr>
          <p:cNvSpPr>
            <a:spLocks xmlns:a="http://schemas.openxmlformats.org/drawingml/2006/main" noGrp="1"/>
          </p:cNvSpPr>
          <p:nvPr/>
        </p:nvSpPr>
        <p:spPr>
          <a:xfrm xmlns:a="http://schemas.openxmlformats.org/drawingml/2006/main">
            <a:off x="11201400" y="2667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i="0">
                <a:solidFill>
                  <a:srgbClr val="686C69"/>
                </a:solidFill>
              </a:defRPr>
            </a:pPr>
            <a:r>
              <a:rPr sz="900" b="1" i="0">
                <a:solidFill>
                  <a:srgbClr val="686C69"/>
                </a:solidFill>
              </a:rPr>
              <a:t>14</a:t>
            </a:r>
          </a:p>
        </p:txBody>
      </p:sp>
      <p:sp>
        <p:nvSpPr>
          <p:cNvPr id="3" name="">
            <a:extLst xmlns:a="http://schemas.openxmlformats.org/drawingml/2006/main">
              <a:ext uri="{FF2B5EF4-FFF2-40B4-BE49-F238E27FC236}">
                <a16:creationId xmlns:a16="http://schemas.microsoft.com/office/drawing/2014/main" id="{EC3DF693-5D00-49AC-9F98-302B8316F6D1}"/>
              </a:ext>
            </a:extLst>
          </p:cNvPr>
          <p:cNvSpPr>
            <a:spLocks xmlns:a="http://schemas.openxmlformats.org/drawingml/2006/main" noGrp="1"/>
          </p:cNvSpPr>
          <p:nvPr/>
        </p:nvSpPr>
        <p:spPr>
          <a:xfrm xmlns:a="http://schemas.openxmlformats.org/drawingml/2006/main">
            <a:off x="533400" y="552450"/>
            <a:ext cx="11125200" cy="9525"/>
          </a:xfrm>
          <a:prstGeom xmlns:a="http://schemas.openxmlformats.org/drawingml/2006/main" prst="rect">
            <a:avLst/>
          </a:prstGeom>
          <a:solidFill xmlns:a="http://schemas.openxmlformats.org/drawingml/2006/main">
            <a:srgbClr val="D8D0C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4F97165-2CCC-4BCA-821E-E6A2056A6B59}"/>
              </a:ext>
            </a:extLst>
          </p:cNvPr>
          <p:cNvSpPr>
            <a:spLocks xmlns:a="http://schemas.openxmlformats.org/drawingml/2006/main" noGrp="1"/>
          </p:cNvSpPr>
          <p:nvPr/>
        </p:nvSpPr>
        <p:spPr>
          <a:xfrm xmlns:a="http://schemas.openxmlformats.org/drawingml/2006/main">
            <a:off x="609600" y="876300"/>
            <a:ext cx="10668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150" b="1" i="0">
                <a:solidFill>
                  <a:srgbClr val="172126"/>
                </a:solidFill>
              </a:defRPr>
            </a:pPr>
            <a:r>
              <a:rPr sz="3150" b="1" i="0">
                <a:solidFill>
                  <a:srgbClr val="172126"/>
                </a:solidFill>
              </a:rPr>
              <a:t>Un produit porté par un fondateur proche des réalités du terrain.</a:t>
            </a:r>
          </a:p>
        </p:txBody>
      </p:sp>
      <p:sp>
        <p:nvSpPr>
          <p:cNvPr id="5" name="">
            <a:extLst xmlns:a="http://schemas.openxmlformats.org/drawingml/2006/main">
              <a:ext uri="{FF2B5EF4-FFF2-40B4-BE49-F238E27FC236}">
                <a16:creationId xmlns:a16="http://schemas.microsoft.com/office/drawing/2014/main" id="{F2273FB0-02BB-49F8-9BCB-FFD9F6E505BA}"/>
              </a:ext>
            </a:extLst>
          </p:cNvPr>
          <p:cNvSpPr>
            <a:spLocks xmlns:a="http://schemas.openxmlformats.org/drawingml/2006/main" noGrp="1"/>
          </p:cNvSpPr>
          <p:nvPr/>
        </p:nvSpPr>
        <p:spPr>
          <a:xfrm xmlns:a="http://schemas.openxmlformats.org/drawingml/2006/main">
            <a:off x="742950" y="2438400"/>
            <a:ext cx="4343400" cy="3143250"/>
          </a:xfrm>
          <a:prstGeom xmlns:a="http://schemas.openxmlformats.org/drawingml/2006/main" prst="roundRect">
            <a:avLst>
              <a:gd name="adj" fmla="val 606"/>
            </a:avLst>
          </a:prstGeom>
          <a:solidFill xmlns:a="http://schemas.openxmlformats.org/drawingml/2006/main">
            <a:srgbClr val="000000">
              <a:alpha val="7059"/>
            </a:srgbClr>
          </a:solidFill>
          <a:ln xmlns:a="http://schemas.openxmlformats.org/drawingml/2006/main" w="0">
            <a:noFill/>
            <a:prstDash val="solid"/>
          </a:ln>
        </p:spPr>
      </p:sp>
      <p:sp>
        <p:nvSpPr>
          <p:cNvPr id="6" name="paper-card">
            <a:extLst xmlns:a="http://schemas.openxmlformats.org/drawingml/2006/main">
              <a:ext uri="{FF2B5EF4-FFF2-40B4-BE49-F238E27FC236}">
                <a16:creationId xmlns:a16="http://schemas.microsoft.com/office/drawing/2014/main" id="{B4685A07-C195-410C-94D7-F91818198F1B}"/>
              </a:ext>
            </a:extLst>
          </p:cNvPr>
          <p:cNvSpPr>
            <a:spLocks xmlns:a="http://schemas.openxmlformats.org/drawingml/2006/main" noGrp="1"/>
          </p:cNvSpPr>
          <p:nvPr/>
        </p:nvSpPr>
        <p:spPr>
          <a:xfrm xmlns:a="http://schemas.openxmlformats.org/drawingml/2006/main">
            <a:off x="666750" y="2343150"/>
            <a:ext cx="4343400" cy="3143250"/>
          </a:xfrm>
          <a:prstGeom xmlns:a="http://schemas.openxmlformats.org/drawingml/2006/main" prst="roundRect">
            <a:avLst>
              <a:gd name="adj" fmla="val 606"/>
            </a:avLst>
          </a:prstGeom>
          <a:solidFill xmlns:a="http://schemas.openxmlformats.org/drawingml/2006/main">
            <a:srgbClr val="FFFDF8"/>
          </a:solidFill>
          <a:ln xmlns:a="http://schemas.openxmlformats.org/drawingml/2006/main" w="9525">
            <a:solidFill>
              <a:srgbClr val="D8D0C3"/>
            </a:solidFill>
            <a:prstDash val="solid"/>
          </a:ln>
        </p:spPr>
      </p:sp>
      <p:pic>
        <p:nvPicPr>
          <p:cNvPr id="26" name="">
            <a:extLst xmlns:a="http://schemas.openxmlformats.org/drawingml/2006/main">
              <a:ext uri="{FF2B5EF4-FFF2-40B4-BE49-F238E27FC236}">
                <a16:creationId xmlns:a16="http://schemas.microsoft.com/office/drawing/2014/main" id="{2F5FFB29-60FF-46C5-A1FB-B692AD451AA4}"/>
              </a:ext>
            </a:extLst>
          </p:cNvPr>
          <p:cNvPicPr>
            <a:picLocks xmlns:a="http://schemas.openxmlformats.org/drawingml/2006/main" noChangeAspect="1"/>
          </p:cNvPicPr>
          <p:nvPr/>
        </p:nvPicPr>
        <p:blipFill>
          <a:blip xmlns:r="http://schemas.openxmlformats.org/officeDocument/2006/relationships" xmlns:a="http://schemas.openxmlformats.org/drawingml/2006/main" r:embed="R60c1bd8881ab4057"/>
          <a:stretch xmlns:a="http://schemas.openxmlformats.org/drawingml/2006/main"/>
        </p:blipFill>
        <p:spPr>
          <a:xfrm xmlns:a="http://schemas.openxmlformats.org/drawingml/2006/main" rot="-72000">
            <a:off x="914400" y="2628900"/>
            <a:ext cx="1028700" cy="10287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55607A8-2EE9-4B08-AF1B-A82235EEC9FE}"/>
              </a:ext>
            </a:extLst>
          </p:cNvPr>
          <p:cNvSpPr>
            <a:spLocks xmlns:a="http://schemas.openxmlformats.org/drawingml/2006/main" noGrp="1"/>
          </p:cNvSpPr>
          <p:nvPr/>
        </p:nvSpPr>
        <p:spPr>
          <a:xfrm xmlns:a="http://schemas.openxmlformats.org/drawingml/2006/main">
            <a:off x="914400" y="391477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75" b="1" i="0">
                <a:solidFill>
                  <a:srgbClr val="172126"/>
                </a:solidFill>
              </a:defRPr>
            </a:pPr>
            <a:r>
              <a:rPr sz="1575" b="1" i="0">
                <a:solidFill>
                  <a:srgbClr val="172126"/>
                </a:solidFill>
              </a:rPr>
              <a:t>ABDELHAMID AHJAME</a:t>
            </a:r>
          </a:p>
        </p:txBody>
      </p:sp>
      <p:sp>
        <p:nvSpPr>
          <p:cNvPr id="9" name="">
            <a:extLst xmlns:a="http://schemas.openxmlformats.org/drawingml/2006/main">
              <a:ext uri="{FF2B5EF4-FFF2-40B4-BE49-F238E27FC236}">
                <a16:creationId xmlns:a16="http://schemas.microsoft.com/office/drawing/2014/main" id="{8BBEE1FA-3C99-4093-BAAD-59BC0A52E566}"/>
              </a:ext>
            </a:extLst>
          </p:cNvPr>
          <p:cNvSpPr>
            <a:spLocks xmlns:a="http://schemas.openxmlformats.org/drawingml/2006/main" noGrp="1"/>
          </p:cNvSpPr>
          <p:nvPr/>
        </p:nvSpPr>
        <p:spPr>
          <a:xfrm xmlns:a="http://schemas.openxmlformats.org/drawingml/2006/main">
            <a:off x="914400" y="4314825"/>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200" b="1" i="0">
                <a:solidFill>
                  <a:srgbClr val="C96F52"/>
                </a:solidFill>
              </a:defRPr>
            </a:pPr>
            <a:r>
              <a:rPr sz="1200" b="1" i="0">
                <a:solidFill>
                  <a:srgbClr val="C96F52"/>
                </a:solidFill>
              </a:rPr>
              <a:t>Fondateur · produit et comptabilité</a:t>
            </a:r>
          </a:p>
        </p:txBody>
      </p:sp>
      <p:sp>
        <p:nvSpPr>
          <p:cNvPr id="10" name="">
            <a:extLst xmlns:a="http://schemas.openxmlformats.org/drawingml/2006/main">
              <a:ext uri="{FF2B5EF4-FFF2-40B4-BE49-F238E27FC236}">
                <a16:creationId xmlns:a16="http://schemas.microsoft.com/office/drawing/2014/main" id="{95FD4C5F-4388-487F-98BB-7B422919E4DB}"/>
              </a:ext>
            </a:extLst>
          </p:cNvPr>
          <p:cNvSpPr>
            <a:spLocks xmlns:a="http://schemas.openxmlformats.org/drawingml/2006/main" noGrp="1"/>
          </p:cNvSpPr>
          <p:nvPr/>
        </p:nvSpPr>
        <p:spPr>
          <a:xfrm xmlns:a="http://schemas.openxmlformats.org/drawingml/2006/main">
            <a:off x="914400" y="4743450"/>
            <a:ext cx="3429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0" i="0">
                <a:solidFill>
                  <a:srgbClr val="686C69"/>
                </a:solidFill>
              </a:defRPr>
            </a:pPr>
            <a:r>
              <a:rPr sz="1125" b="0" i="0">
                <a:solidFill>
                  <a:srgbClr val="686C69"/>
                </a:solidFill>
              </a:rPr>
              <a:t>A construit Mohasib autour des processus comptables marocains, du produit et de sa mise sur le marché.</a:t>
            </a:r>
          </a:p>
        </p:txBody>
      </p:sp>
      <p:sp>
        <p:nvSpPr>
          <p:cNvPr id="11" name="">
            <a:extLst xmlns:a="http://schemas.openxmlformats.org/drawingml/2006/main">
              <a:ext uri="{FF2B5EF4-FFF2-40B4-BE49-F238E27FC236}">
                <a16:creationId xmlns:a16="http://schemas.microsoft.com/office/drawing/2014/main" id="{44ADE2AE-8FDD-46A1-BD2E-01C62FEA46C1}"/>
              </a:ext>
            </a:extLst>
          </p:cNvPr>
          <p:cNvSpPr>
            <a:spLocks xmlns:a="http://schemas.openxmlformats.org/drawingml/2006/main" noGrp="1"/>
          </p:cNvSpPr>
          <p:nvPr/>
        </p:nvSpPr>
        <p:spPr>
          <a:xfrm xmlns:a="http://schemas.openxmlformats.org/drawingml/2006/main">
            <a:off x="5962650" y="23812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C96F52"/>
                </a:solidFill>
              </a:defRPr>
            </a:pPr>
            <a:r>
              <a:rPr sz="1050" b="1" i="0">
                <a:solidFill>
                  <a:srgbClr val="C96F52"/>
                </a:solidFill>
              </a:rPr>
              <a:t>LEVÉE PRÉ-SEED · 500 000 MAD</a:t>
            </a:r>
          </a:p>
        </p:txBody>
      </p:sp>
      <p:sp>
        <p:nvSpPr>
          <p:cNvPr id="12" name="">
            <a:extLst xmlns:a="http://schemas.openxmlformats.org/drawingml/2006/main">
              <a:ext uri="{FF2B5EF4-FFF2-40B4-BE49-F238E27FC236}">
                <a16:creationId xmlns:a16="http://schemas.microsoft.com/office/drawing/2014/main" id="{51130D60-B1C7-43EE-B1C7-E2D47FF62317}"/>
              </a:ext>
            </a:extLst>
          </p:cNvPr>
          <p:cNvSpPr>
            <a:spLocks xmlns:a="http://schemas.openxmlformats.org/drawingml/2006/main" noGrp="1"/>
          </p:cNvSpPr>
          <p:nvPr/>
        </p:nvSpPr>
        <p:spPr>
          <a:xfrm xmlns:a="http://schemas.openxmlformats.org/drawingml/2006/main">
            <a:off x="5962650" y="2857500"/>
            <a:ext cx="495300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2325" b="1" i="0">
                <a:solidFill>
                  <a:srgbClr val="172126"/>
                </a:solidFill>
              </a:defRPr>
            </a:pPr>
            <a:r>
              <a:rPr sz="2325" b="1" i="0">
                <a:solidFill>
                  <a:srgbClr val="172126"/>
                </a:solidFill>
              </a:rPr>
              <a:t>4 000 000 MAD pré-money</a:t>
            </a:r>
          </a:p>
          <a:p xmlns:a="http://schemas.openxmlformats.org/drawingml/2006/main">
            <a:pPr algn="l">
              <a:buNone/>
              <a:defRPr sz="2325" b="1" i="0">
                <a:solidFill>
                  <a:srgbClr val="172126"/>
                </a:solidFill>
              </a:defRPr>
            </a:pPr>
            <a:r>
              <a:rPr sz="2325" b="1" i="0">
                <a:solidFill>
                  <a:srgbClr val="172126"/>
                </a:solidFill>
              </a:rPr>
              <a:t>≈ 11,1 % de dilution après la levée</a:t>
            </a:r>
          </a:p>
        </p:txBody>
      </p:sp>
      <p:sp>
        <p:nvSpPr>
          <p:cNvPr id="13" name="">
            <a:extLst xmlns:a="http://schemas.openxmlformats.org/drawingml/2006/main">
              <a:ext uri="{FF2B5EF4-FFF2-40B4-BE49-F238E27FC236}">
                <a16:creationId xmlns:a16="http://schemas.microsoft.com/office/drawing/2014/main" id="{FBC6D9CB-9225-43AF-998B-372C7F3B2451}"/>
              </a:ext>
            </a:extLst>
          </p:cNvPr>
          <p:cNvSpPr>
            <a:spLocks xmlns:a="http://schemas.openxmlformats.org/drawingml/2006/main" noGrp="1"/>
          </p:cNvSpPr>
          <p:nvPr/>
        </p:nvSpPr>
        <p:spPr>
          <a:xfrm xmlns:a="http://schemas.openxmlformats.org/drawingml/2006/main">
            <a:off x="5962650" y="4533900"/>
            <a:ext cx="209550" cy="28575"/>
          </a:xfrm>
          <a:prstGeom xmlns:a="http://schemas.openxmlformats.org/drawingml/2006/main" prst="rect">
            <a:avLst/>
          </a:prstGeom>
          <a:solidFill xmlns:a="http://schemas.openxmlformats.org/drawingml/2006/main">
            <a:srgbClr val="477A86"/>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3775AA7-E0DE-480C-980C-3B349B65D557}"/>
              </a:ext>
            </a:extLst>
          </p:cNvPr>
          <p:cNvSpPr>
            <a:spLocks xmlns:a="http://schemas.openxmlformats.org/drawingml/2006/main" noGrp="1"/>
          </p:cNvSpPr>
          <p:nvPr/>
        </p:nvSpPr>
        <p:spPr>
          <a:xfrm xmlns:a="http://schemas.openxmlformats.org/drawingml/2006/main">
            <a:off x="6324600" y="4429125"/>
            <a:ext cx="4572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172126"/>
                </a:solidFill>
              </a:defRPr>
            </a:pPr>
            <a:r>
              <a:rPr sz="1050" b="1" i="0">
                <a:solidFill>
                  <a:srgbClr val="172126"/>
                </a:solidFill>
              </a:rPr>
              <a:t>PRODUIT · 200 000 MAD</a:t>
            </a:r>
          </a:p>
        </p:txBody>
      </p:sp>
      <p:sp>
        <p:nvSpPr>
          <p:cNvPr id="15" name="">
            <a:extLst xmlns:a="http://schemas.openxmlformats.org/drawingml/2006/main">
              <a:ext uri="{FF2B5EF4-FFF2-40B4-BE49-F238E27FC236}">
                <a16:creationId xmlns:a16="http://schemas.microsoft.com/office/drawing/2014/main" id="{B769889A-D78E-4996-8E23-15458C8DBE14}"/>
              </a:ext>
            </a:extLst>
          </p:cNvPr>
          <p:cNvSpPr>
            <a:spLocks xmlns:a="http://schemas.openxmlformats.org/drawingml/2006/main" noGrp="1"/>
          </p:cNvSpPr>
          <p:nvPr/>
        </p:nvSpPr>
        <p:spPr>
          <a:xfrm xmlns:a="http://schemas.openxmlformats.org/drawingml/2006/main">
            <a:off x="5962650" y="4981575"/>
            <a:ext cx="209550" cy="28575"/>
          </a:xfrm>
          <a:prstGeom xmlns:a="http://schemas.openxmlformats.org/drawingml/2006/main" prst="rect">
            <a:avLst/>
          </a:prstGeom>
          <a:solidFill xmlns:a="http://schemas.openxmlformats.org/drawingml/2006/main">
            <a:srgbClr val="C96F52"/>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DAE8F74-123A-4A09-A820-B92CECF210FD}"/>
              </a:ext>
            </a:extLst>
          </p:cNvPr>
          <p:cNvSpPr>
            <a:spLocks xmlns:a="http://schemas.openxmlformats.org/drawingml/2006/main" noGrp="1"/>
          </p:cNvSpPr>
          <p:nvPr/>
        </p:nvSpPr>
        <p:spPr>
          <a:xfrm xmlns:a="http://schemas.openxmlformats.org/drawingml/2006/main">
            <a:off x="6324600" y="4876800"/>
            <a:ext cx="4572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172126"/>
                </a:solidFill>
              </a:defRPr>
            </a:pPr>
            <a:r>
              <a:rPr sz="1050" b="1" i="0">
                <a:solidFill>
                  <a:srgbClr val="172126"/>
                </a:solidFill>
              </a:rPr>
              <a:t>ACQUISITION · 125 000 MAD</a:t>
            </a:r>
          </a:p>
        </p:txBody>
      </p:sp>
      <p:sp>
        <p:nvSpPr>
          <p:cNvPr id="17" name="">
            <a:extLst xmlns:a="http://schemas.openxmlformats.org/drawingml/2006/main">
              <a:ext uri="{FF2B5EF4-FFF2-40B4-BE49-F238E27FC236}">
                <a16:creationId xmlns:a16="http://schemas.microsoft.com/office/drawing/2014/main" id="{E7C6BDF0-B2DE-4824-836B-B8D341D2FC74}"/>
              </a:ext>
            </a:extLst>
          </p:cNvPr>
          <p:cNvSpPr>
            <a:spLocks xmlns:a="http://schemas.openxmlformats.org/drawingml/2006/main" noGrp="1"/>
          </p:cNvSpPr>
          <p:nvPr/>
        </p:nvSpPr>
        <p:spPr>
          <a:xfrm xmlns:a="http://schemas.openxmlformats.org/drawingml/2006/main">
            <a:off x="5962650" y="5429250"/>
            <a:ext cx="209550" cy="28575"/>
          </a:xfrm>
          <a:prstGeom xmlns:a="http://schemas.openxmlformats.org/drawingml/2006/main" prst="rect">
            <a:avLst/>
          </a:prstGeom>
          <a:solidFill xmlns:a="http://schemas.openxmlformats.org/drawingml/2006/main">
            <a:srgbClr val="6F8E7D"/>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F9E791C-921B-48A7-ABAE-B1177B6526EA}"/>
              </a:ext>
            </a:extLst>
          </p:cNvPr>
          <p:cNvSpPr>
            <a:spLocks xmlns:a="http://schemas.openxmlformats.org/drawingml/2006/main" noGrp="1"/>
          </p:cNvSpPr>
          <p:nvPr/>
        </p:nvSpPr>
        <p:spPr>
          <a:xfrm xmlns:a="http://schemas.openxmlformats.org/drawingml/2006/main">
            <a:off x="6324600" y="5324475"/>
            <a:ext cx="45720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050" b="1" i="0">
                <a:solidFill>
                  <a:srgbClr val="172126"/>
                </a:solidFill>
              </a:defRPr>
            </a:pPr>
            <a:r>
              <a:rPr sz="1050" b="1" i="0">
                <a:solidFill>
                  <a:srgbClr val="172126"/>
                </a:solidFill>
              </a:rPr>
              <a:t>CLIENTS 75K · INFRA 50K · RÉSERVE 50K</a:t>
            </a:r>
          </a:p>
        </p:txBody>
      </p:sp>
      <p:sp>
        <p:nvSpPr>
          <p:cNvPr id="19" name="">
            <a:extLst xmlns:a="http://schemas.openxmlformats.org/drawingml/2006/main">
              <a:ext uri="{FF2B5EF4-FFF2-40B4-BE49-F238E27FC236}">
                <a16:creationId xmlns:a16="http://schemas.microsoft.com/office/drawing/2014/main" id="{C84D4495-62E9-4E74-A0D9-5784AB517007}"/>
              </a:ext>
            </a:extLst>
          </p:cNvPr>
          <p:cNvSpPr>
            <a:spLocks xmlns:a="http://schemas.openxmlformats.org/drawingml/2006/main" noGrp="1"/>
          </p:cNvSpPr>
          <p:nvPr/>
        </p:nvSpPr>
        <p:spPr>
          <a:xfrm xmlns:a="http://schemas.openxmlformats.org/drawingml/2006/main">
            <a:off x="5962650" y="6076950"/>
            <a:ext cx="495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125" b="1" i="0">
                <a:solidFill>
                  <a:srgbClr val="172126"/>
                </a:solidFill>
              </a:defRPr>
            </a:pPr>
            <a:r>
              <a:rPr sz="1125" b="1" i="0">
                <a:solidFill>
                  <a:srgbClr val="172126"/>
                </a:solidFill>
              </a:rPr>
              <a:t>contact@mohasibai.com  ·  mohasibai.com</a:t>
            </a:r>
          </a:p>
        </p:txBody>
      </p:sp>
    </p:spTree>
    <p:extLst>
      <p:ext uri="{BB962C8B-B14F-4D97-AF65-F5344CB8AC3E}">
        <p14:creationId xmlns:p14="http://schemas.microsoft.com/office/powerpoint/2010/main" val="587230876"/>
      </p:ext>
    </p:extLst>
  </p:cSld>
</p:sld>
</file>

<file path=ppt/slides/slide15.xml><?xml version="1.0" encoding="utf-8"?>
<p:sld xmlns:p="http://schemas.openxmlformats.org/presentationml/2006/main">
  <p:cSld>
    <p:bg>
      <p:bgPr>
        <a:solidFill xmlns:a="http://schemas.openxmlformats.org/drawingml/2006/main">
          <a:srgbClr val="F6F1E7"/>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59D2071-E068-47E8-96B5-9B9C4A4FAE66}"/>
              </a:ext>
            </a:extLst>
          </p:cNvPr>
          <p:cNvSpPr>
            <a:spLocks xmlns:a="http://schemas.openxmlformats.org/drawingml/2006/main" noGrp="1"/>
          </p:cNvSpPr>
          <p:nvPr/>
        </p:nvSpPr>
        <p:spPr>
          <a:xfrm xmlns:a="http://schemas.openxmlformats.org/drawingml/2006/main">
            <a:off x="533400" y="285750"/>
            <a:ext cx="4381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686C69"/>
                </a:solidFill>
              </a:defRPr>
            </a:pPr>
            <a:r>
              <a:rPr sz="825" b="1" i="0">
                <a:solidFill>
                  <a:srgbClr val="686C69"/>
                </a:solidFill>
              </a:rPr>
              <a:t>ANNEXE · POSITIONNEMENT</a:t>
            </a:r>
          </a:p>
        </p:txBody>
      </p:sp>
      <p:sp>
        <p:nvSpPr>
          <p:cNvPr id="2" name="">
            <a:extLst xmlns:a="http://schemas.openxmlformats.org/drawingml/2006/main">
              <a:ext uri="{FF2B5EF4-FFF2-40B4-BE49-F238E27FC236}">
                <a16:creationId xmlns:a16="http://schemas.microsoft.com/office/drawing/2014/main" id="{5AF04615-0376-450B-9068-F7F765D86C8A}"/>
              </a:ext>
            </a:extLst>
          </p:cNvPr>
          <p:cNvSpPr>
            <a:spLocks xmlns:a="http://schemas.openxmlformats.org/drawingml/2006/main" noGrp="1"/>
          </p:cNvSpPr>
          <p:nvPr/>
        </p:nvSpPr>
        <p:spPr>
          <a:xfrm xmlns:a="http://schemas.openxmlformats.org/drawingml/2006/main">
            <a:off x="11201400" y="266700"/>
            <a:ext cx="457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900" b="1" i="0">
                <a:solidFill>
                  <a:srgbClr val="686C69"/>
                </a:solidFill>
              </a:defRPr>
            </a:pPr>
            <a:r>
              <a:rPr sz="900" b="1" i="0">
                <a:solidFill>
                  <a:srgbClr val="686C69"/>
                </a:solidFill>
              </a:rPr>
              <a:t>15</a:t>
            </a:r>
          </a:p>
        </p:txBody>
      </p:sp>
      <p:sp>
        <p:nvSpPr>
          <p:cNvPr id="3" name="">
            <a:extLst xmlns:a="http://schemas.openxmlformats.org/drawingml/2006/main">
              <a:ext uri="{FF2B5EF4-FFF2-40B4-BE49-F238E27FC236}">
                <a16:creationId xmlns:a16="http://schemas.microsoft.com/office/drawing/2014/main" id="{6DA74232-39E3-4AC7-9CBF-A51B9C9D59CC}"/>
              </a:ext>
            </a:extLst>
          </p:cNvPr>
          <p:cNvSpPr>
            <a:spLocks xmlns:a="http://schemas.openxmlformats.org/drawingml/2006/main" noGrp="1"/>
          </p:cNvSpPr>
          <p:nvPr/>
        </p:nvSpPr>
        <p:spPr>
          <a:xfrm xmlns:a="http://schemas.openxmlformats.org/drawingml/2006/main">
            <a:off x="533400" y="552450"/>
            <a:ext cx="11125200" cy="9525"/>
          </a:xfrm>
          <a:prstGeom xmlns:a="http://schemas.openxmlformats.org/drawingml/2006/main" prst="rect">
            <a:avLst/>
          </a:prstGeom>
          <a:solidFill xmlns:a="http://schemas.openxmlformats.org/drawingml/2006/main">
            <a:srgbClr val="D8D0C3"/>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CE9BA6E-696C-4FBA-BD48-C1EC9BC4FF24}"/>
              </a:ext>
            </a:extLst>
          </p:cNvPr>
          <p:cNvSpPr>
            <a:spLocks xmlns:a="http://schemas.openxmlformats.org/drawingml/2006/main" noGrp="1"/>
          </p:cNvSpPr>
          <p:nvPr/>
        </p:nvSpPr>
        <p:spPr>
          <a:xfrm xmlns:a="http://schemas.openxmlformats.org/drawingml/2006/main">
            <a:off x="609600" y="8001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900" b="1" i="0">
                <a:solidFill>
                  <a:srgbClr val="C96F52"/>
                </a:solidFill>
              </a:defRPr>
            </a:pPr>
            <a:r>
              <a:rPr sz="900" b="1" i="0">
                <a:solidFill>
                  <a:srgbClr val="C96F52"/>
                </a:solidFill>
              </a:rPr>
              <a:t>Mohasib se place entre les outils globaux et les suites locales historiques.</a:t>
            </a:r>
          </a:p>
        </p:txBody>
      </p:sp>
      <p:sp>
        <p:nvSpPr>
          <p:cNvPr id="5" name="">
            <a:extLst xmlns:a="http://schemas.openxmlformats.org/drawingml/2006/main">
              <a:ext uri="{FF2B5EF4-FFF2-40B4-BE49-F238E27FC236}">
                <a16:creationId xmlns:a16="http://schemas.microsoft.com/office/drawing/2014/main" id="{27AE0F88-1FC2-405D-9748-A8070707D857}"/>
              </a:ext>
            </a:extLst>
          </p:cNvPr>
          <p:cNvSpPr>
            <a:spLocks xmlns:a="http://schemas.openxmlformats.org/drawingml/2006/main" noGrp="1"/>
          </p:cNvSpPr>
          <p:nvPr/>
        </p:nvSpPr>
        <p:spPr>
          <a:xfrm xmlns:a="http://schemas.openxmlformats.org/drawingml/2006/main">
            <a:off x="609600" y="1143000"/>
            <a:ext cx="10668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3225" b="1" i="0">
                <a:solidFill>
                  <a:srgbClr val="172126"/>
                </a:solidFill>
              </a:defRPr>
            </a:pPr>
            <a:r>
              <a:rPr sz="3225" b="1" i="0">
                <a:solidFill>
                  <a:srgbClr val="172126"/>
                </a:solidFill>
              </a:rPr>
              <a:t>Une expérience moderne, reliée aux règles et aux usages des entreprises marocaines.</a:t>
            </a:r>
          </a:p>
        </p:txBody>
      </p:sp>
      <p:sp>
        <p:nvSpPr>
          <p:cNvPr id="6" name="">
            <a:extLst xmlns:a="http://schemas.openxmlformats.org/drawingml/2006/main">
              <a:ext uri="{FF2B5EF4-FFF2-40B4-BE49-F238E27FC236}">
                <a16:creationId xmlns:a16="http://schemas.microsoft.com/office/drawing/2014/main" id="{28D376B9-CF40-4175-82AB-180D830699D6}"/>
              </a:ext>
            </a:extLst>
          </p:cNvPr>
          <p:cNvSpPr>
            <a:spLocks xmlns:a="http://schemas.openxmlformats.org/drawingml/2006/main" noGrp="1"/>
          </p:cNvSpPr>
          <p:nvPr/>
        </p:nvSpPr>
        <p:spPr>
          <a:xfrm xmlns:a="http://schemas.openxmlformats.org/drawingml/2006/main">
            <a:off x="6572250" y="268605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i="0">
                <a:solidFill>
                  <a:srgbClr val="686C69"/>
                </a:solidFill>
              </a:defRPr>
            </a:pPr>
            <a:r>
              <a:rPr sz="900" b="1" i="0">
                <a:solidFill>
                  <a:srgbClr val="686C69"/>
                </a:solidFill>
              </a:rPr>
              <a:t>SPÉCIFICITÉ DES USAGES LOCAUX ↑</a:t>
            </a:r>
          </a:p>
        </p:txBody>
      </p:sp>
      <p:sp>
        <p:nvSpPr>
          <p:cNvPr id="7" name="">
            <a:extLst xmlns:a="http://schemas.openxmlformats.org/drawingml/2006/main">
              <a:ext uri="{FF2B5EF4-FFF2-40B4-BE49-F238E27FC236}">
                <a16:creationId xmlns:a16="http://schemas.microsoft.com/office/drawing/2014/main" id="{2A2C7B0D-976B-45B9-9704-9E1C12839F85}"/>
              </a:ext>
            </a:extLst>
          </p:cNvPr>
          <p:cNvSpPr>
            <a:spLocks xmlns:a="http://schemas.openxmlformats.org/drawingml/2006/main" noGrp="1"/>
          </p:cNvSpPr>
          <p:nvPr/>
        </p:nvSpPr>
        <p:spPr>
          <a:xfrm xmlns:a="http://schemas.openxmlformats.org/drawingml/2006/main">
            <a:off x="4286250" y="6029325"/>
            <a:ext cx="3714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00" b="1" i="0">
                <a:solidFill>
                  <a:srgbClr val="686C69"/>
                </a:solidFill>
              </a:defRPr>
            </a:pPr>
            <a:r>
              <a:rPr sz="900" b="1" i="0">
                <a:solidFill>
                  <a:srgbClr val="686C69"/>
                </a:solidFill>
              </a:rPr>
              <a:t>EXPÉRIENCE UTILISATEUR →</a:t>
            </a:r>
          </a:p>
        </p:txBody>
      </p:sp>
      <p:sp>
        <p:nvSpPr>
          <p:cNvPr id="8" name="">
            <a:extLst xmlns:a="http://schemas.openxmlformats.org/drawingml/2006/main">
              <a:ext uri="{FF2B5EF4-FFF2-40B4-BE49-F238E27FC236}">
                <a16:creationId xmlns:a16="http://schemas.microsoft.com/office/drawing/2014/main" id="{BDB09784-D532-4FCD-87FC-1C4F93D97FA3}"/>
              </a:ext>
            </a:extLst>
          </p:cNvPr>
          <p:cNvSpPr>
            <a:spLocks xmlns:a="http://schemas.openxmlformats.org/drawingml/2006/main" noGrp="1"/>
          </p:cNvSpPr>
          <p:nvPr/>
        </p:nvSpPr>
        <p:spPr>
          <a:xfrm xmlns:a="http://schemas.openxmlformats.org/drawingml/2006/main">
            <a:off x="2647950" y="3028950"/>
            <a:ext cx="7429500" cy="19050"/>
          </a:xfrm>
          <a:prstGeom xmlns:a="http://schemas.openxmlformats.org/drawingml/2006/main" prst="rect">
            <a:avLst/>
          </a:prstGeom>
          <a:solidFill xmlns:a="http://schemas.openxmlformats.org/drawingml/2006/main">
            <a:srgbClr val="D8D0C3"/>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11E586B-71BC-42C2-B67F-22255A6BB5E5}"/>
              </a:ext>
            </a:extLst>
          </p:cNvPr>
          <p:cNvSpPr>
            <a:spLocks xmlns:a="http://schemas.openxmlformats.org/drawingml/2006/main" noGrp="1"/>
          </p:cNvSpPr>
          <p:nvPr/>
        </p:nvSpPr>
        <p:spPr>
          <a:xfrm xmlns:a="http://schemas.openxmlformats.org/drawingml/2006/main">
            <a:off x="6362700" y="2619375"/>
            <a:ext cx="19050" cy="3190875"/>
          </a:xfrm>
          <a:prstGeom xmlns:a="http://schemas.openxmlformats.org/drawingml/2006/main" prst="rect">
            <a:avLst/>
          </a:prstGeom>
          <a:solidFill xmlns:a="http://schemas.openxmlformats.org/drawingml/2006/main">
            <a:srgbClr val="D8D0C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3FBF2B4-698A-475E-9AF5-A001B07E8078}"/>
              </a:ext>
            </a:extLst>
          </p:cNvPr>
          <p:cNvSpPr>
            <a:spLocks xmlns:a="http://schemas.openxmlformats.org/drawingml/2006/main" noGrp="1"/>
          </p:cNvSpPr>
          <p:nvPr/>
        </p:nvSpPr>
        <p:spPr>
          <a:xfrm xmlns:a="http://schemas.openxmlformats.org/drawingml/2006/main">
            <a:off x="3124200" y="4762500"/>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i="0">
                <a:solidFill>
                  <a:srgbClr val="686C69"/>
                </a:solidFill>
              </a:defRPr>
            </a:pPr>
            <a:r>
              <a:rPr sz="1500" b="1" i="0">
                <a:solidFill>
                  <a:srgbClr val="686C69"/>
                </a:solidFill>
              </a:rPr>
              <a:t>Facturation globale</a:t>
            </a:r>
          </a:p>
          <a:p xmlns:a="http://schemas.openxmlformats.org/drawingml/2006/main">
            <a:pPr algn="ctr">
              <a:buNone/>
              <a:defRPr sz="1500" b="1" i="0">
                <a:solidFill>
                  <a:srgbClr val="686C69"/>
                </a:solidFill>
              </a:defRPr>
            </a:pPr>
            <a:r>
              <a:rPr sz="1500" b="1" i="0">
                <a:solidFill>
                  <a:srgbClr val="686C69"/>
                </a:solidFill>
              </a:rPr>
              <a:t>&amp; outils spécialisés</a:t>
            </a:r>
          </a:p>
        </p:txBody>
      </p:sp>
      <p:sp>
        <p:nvSpPr>
          <p:cNvPr id="11" name="">
            <a:extLst xmlns:a="http://schemas.openxmlformats.org/drawingml/2006/main">
              <a:ext uri="{FF2B5EF4-FFF2-40B4-BE49-F238E27FC236}">
                <a16:creationId xmlns:a16="http://schemas.microsoft.com/office/drawing/2014/main" id="{F2D78DD0-DC69-4BC0-82C6-6A85998B5A41}"/>
              </a:ext>
            </a:extLst>
          </p:cNvPr>
          <p:cNvSpPr>
            <a:spLocks xmlns:a="http://schemas.openxmlformats.org/drawingml/2006/main" noGrp="1"/>
          </p:cNvSpPr>
          <p:nvPr/>
        </p:nvSpPr>
        <p:spPr>
          <a:xfrm xmlns:a="http://schemas.openxmlformats.org/drawingml/2006/main">
            <a:off x="7334250" y="4762500"/>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i="0">
                <a:solidFill>
                  <a:srgbClr val="686C69"/>
                </a:solidFill>
              </a:defRPr>
            </a:pPr>
            <a:r>
              <a:rPr sz="1500" b="1" i="0">
                <a:solidFill>
                  <a:srgbClr val="686C69"/>
                </a:solidFill>
              </a:rPr>
              <a:t>Suites comptables locales</a:t>
            </a:r>
          </a:p>
          <a:p xmlns:a="http://schemas.openxmlformats.org/drawingml/2006/main">
            <a:pPr algn="ctr">
              <a:buNone/>
              <a:defRPr sz="1500" b="1" i="0">
                <a:solidFill>
                  <a:srgbClr val="686C69"/>
                </a:solidFill>
              </a:defRPr>
            </a:pPr>
            <a:r>
              <a:rPr sz="1500" b="1" i="0">
                <a:solidFill>
                  <a:srgbClr val="686C69"/>
                </a:solidFill>
              </a:rPr>
              <a:t>historiques</a:t>
            </a:r>
          </a:p>
        </p:txBody>
      </p:sp>
      <p:sp>
        <p:nvSpPr>
          <p:cNvPr id="12" name="">
            <a:extLst xmlns:a="http://schemas.openxmlformats.org/drawingml/2006/main">
              <a:ext uri="{FF2B5EF4-FFF2-40B4-BE49-F238E27FC236}">
                <a16:creationId xmlns:a16="http://schemas.microsoft.com/office/drawing/2014/main" id="{B304F323-9F0D-49D0-9270-7E0D4F25608D}"/>
              </a:ext>
            </a:extLst>
          </p:cNvPr>
          <p:cNvSpPr>
            <a:spLocks xmlns:a="http://schemas.openxmlformats.org/drawingml/2006/main" noGrp="1"/>
          </p:cNvSpPr>
          <p:nvPr/>
        </p:nvSpPr>
        <p:spPr>
          <a:xfrm xmlns:a="http://schemas.openxmlformats.org/drawingml/2006/main">
            <a:off x="3124200" y="3333750"/>
            <a:ext cx="2190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500" b="1" i="0">
                <a:solidFill>
                  <a:srgbClr val="686C69"/>
                </a:solidFill>
              </a:defRPr>
            </a:pPr>
            <a:r>
              <a:rPr sz="1500" b="1" i="0">
                <a:solidFill>
                  <a:srgbClr val="686C69"/>
                </a:solidFill>
              </a:rPr>
              <a:t>Assistants IA</a:t>
            </a:r>
          </a:p>
          <a:p xmlns:a="http://schemas.openxmlformats.org/drawingml/2006/main">
            <a:pPr algn="ctr">
              <a:buNone/>
              <a:defRPr sz="1500" b="1" i="0">
                <a:solidFill>
                  <a:srgbClr val="686C69"/>
                </a:solidFill>
              </a:defRPr>
            </a:pPr>
            <a:r>
              <a:rPr sz="1500" b="1" i="0">
                <a:solidFill>
                  <a:srgbClr val="686C69"/>
                </a:solidFill>
              </a:rPr>
              <a:t>généralistes</a:t>
            </a:r>
          </a:p>
        </p:txBody>
      </p:sp>
      <p:sp>
        <p:nvSpPr>
          <p:cNvPr id="13" name="">
            <a:extLst xmlns:a="http://schemas.openxmlformats.org/drawingml/2006/main">
              <a:ext uri="{FF2B5EF4-FFF2-40B4-BE49-F238E27FC236}">
                <a16:creationId xmlns:a16="http://schemas.microsoft.com/office/drawing/2014/main" id="{B902B3BA-C55E-4181-8137-96A7A8DC139D}"/>
              </a:ext>
            </a:extLst>
          </p:cNvPr>
          <p:cNvSpPr>
            <a:spLocks xmlns:a="http://schemas.openxmlformats.org/drawingml/2006/main" noGrp="1"/>
          </p:cNvSpPr>
          <p:nvPr/>
        </p:nvSpPr>
        <p:spPr>
          <a:xfrm xmlns:a="http://schemas.openxmlformats.org/drawingml/2006/main">
            <a:off x="7239000" y="3238500"/>
            <a:ext cx="2381250" cy="904875"/>
          </a:xfrm>
          <a:prstGeom xmlns:a="http://schemas.openxmlformats.org/drawingml/2006/main" prst="roundRect">
            <a:avLst>
              <a:gd name="adj" fmla="val 3158"/>
            </a:avLst>
          </a:prstGeom>
          <a:solidFill xmlns:a="http://schemas.openxmlformats.org/drawingml/2006/main">
            <a:srgbClr val="C96F5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19229CE-47FD-4012-AEF3-A3437E679CEB}"/>
              </a:ext>
            </a:extLst>
          </p:cNvPr>
          <p:cNvSpPr>
            <a:spLocks xmlns:a="http://schemas.openxmlformats.org/drawingml/2006/main" noGrp="1"/>
          </p:cNvSpPr>
          <p:nvPr/>
        </p:nvSpPr>
        <p:spPr>
          <a:xfrm xmlns:a="http://schemas.openxmlformats.org/drawingml/2006/main">
            <a:off x="7524750" y="3429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1800" b="1" i="0">
                <a:solidFill>
                  <a:srgbClr val="FFFDF8"/>
                </a:solidFill>
              </a:defRPr>
            </a:pPr>
            <a:r>
              <a:rPr sz="1800" b="1" i="0">
                <a:solidFill>
                  <a:srgbClr val="FFFDF8"/>
                </a:solidFill>
              </a:rPr>
              <a:t>MOHASIB</a:t>
            </a:r>
          </a:p>
        </p:txBody>
      </p:sp>
      <p:sp>
        <p:nvSpPr>
          <p:cNvPr id="15" name="">
            <a:extLst xmlns:a="http://schemas.openxmlformats.org/drawingml/2006/main">
              <a:ext uri="{FF2B5EF4-FFF2-40B4-BE49-F238E27FC236}">
                <a16:creationId xmlns:a16="http://schemas.microsoft.com/office/drawing/2014/main" id="{070682D4-88D3-4F83-95B4-F6F39F13173A}"/>
              </a:ext>
            </a:extLst>
          </p:cNvPr>
          <p:cNvSpPr>
            <a:spLocks xmlns:a="http://schemas.openxmlformats.org/drawingml/2006/main" noGrp="1"/>
          </p:cNvSpPr>
          <p:nvPr/>
        </p:nvSpPr>
        <p:spPr>
          <a:xfrm xmlns:a="http://schemas.openxmlformats.org/drawingml/2006/main">
            <a:off x="7448550" y="3781425"/>
            <a:ext cx="1962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buNone/>
              <a:defRPr sz="975" b="1" i="0">
                <a:solidFill>
                  <a:srgbClr val="FFFDF8"/>
                </a:solidFill>
              </a:defRPr>
            </a:pPr>
            <a:r>
              <a:rPr sz="975" b="1" i="0">
                <a:solidFill>
                  <a:srgbClr val="FFFDF8"/>
                </a:solidFill>
              </a:rPr>
              <a:t>local · simple · connecté</a:t>
            </a:r>
          </a:p>
        </p:txBody>
      </p:sp>
      <p:sp>
        <p:nvSpPr>
          <p:cNvPr id="16" name="">
            <a:extLst xmlns:a="http://schemas.openxmlformats.org/drawingml/2006/main">
              <a:ext uri="{FF2B5EF4-FFF2-40B4-BE49-F238E27FC236}">
                <a16:creationId xmlns:a16="http://schemas.microsoft.com/office/drawing/2014/main" id="{230878F8-9308-4FCD-AA20-20A7D5E16CA5}"/>
              </a:ext>
            </a:extLst>
          </p:cNvPr>
          <p:cNvSpPr>
            <a:spLocks xmlns:a="http://schemas.openxmlformats.org/drawingml/2006/main" noGrp="1"/>
          </p:cNvSpPr>
          <p:nvPr/>
        </p:nvSpPr>
        <p:spPr>
          <a:xfrm xmlns:a="http://schemas.openxmlformats.org/drawingml/2006/main">
            <a:off x="2476500" y="56197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825" b="1" i="0">
                <a:solidFill>
                  <a:srgbClr val="686C69"/>
                </a:solidFill>
              </a:defRPr>
            </a:pPr>
            <a:r>
              <a:rPr sz="825" b="1" i="0">
                <a:solidFill>
                  <a:srgbClr val="686C69"/>
                </a:solidFill>
              </a:rPr>
              <a:t>LOW</a:t>
            </a:r>
          </a:p>
        </p:txBody>
      </p:sp>
      <p:sp>
        <p:nvSpPr>
          <p:cNvPr id="17" name="">
            <a:extLst xmlns:a="http://schemas.openxmlformats.org/drawingml/2006/main">
              <a:ext uri="{FF2B5EF4-FFF2-40B4-BE49-F238E27FC236}">
                <a16:creationId xmlns:a16="http://schemas.microsoft.com/office/drawing/2014/main" id="{157D98F6-11BB-4ABA-8ED0-CF3453764196}"/>
              </a:ext>
            </a:extLst>
          </p:cNvPr>
          <p:cNvSpPr>
            <a:spLocks xmlns:a="http://schemas.openxmlformats.org/drawingml/2006/main" noGrp="1"/>
          </p:cNvSpPr>
          <p:nvPr/>
        </p:nvSpPr>
        <p:spPr>
          <a:xfrm xmlns:a="http://schemas.openxmlformats.org/drawingml/2006/main">
            <a:off x="9810750" y="5619750"/>
            <a:ext cx="57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buNone/>
              <a:defRPr sz="825" b="1" i="0">
                <a:solidFill>
                  <a:srgbClr val="686C69"/>
                </a:solidFill>
              </a:defRPr>
            </a:pPr>
            <a:r>
              <a:rPr sz="825" b="1" i="0">
                <a:solidFill>
                  <a:srgbClr val="686C69"/>
                </a:solidFill>
              </a:rPr>
              <a:t>HIGH</a:t>
            </a:r>
          </a:p>
        </p:txBody>
      </p:sp>
    </p:spTree>
    <p:extLst>
      <p:ext uri="{BB962C8B-B14F-4D97-AF65-F5344CB8AC3E}">
        <p14:creationId xmlns:p14="http://schemas.microsoft.com/office/powerpoint/2010/main" val="23019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2026-10-04T14:15:41.0970000Z</dcterms:created>
  <dcterms:modified xsi:type="dcterms:W3CDTF">2026-10-04T14:15:41.0970000Z</dcterms:modified>
</coreProperties>
</file>